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2900" b="1" dirty="0">
                <a:solidFill>
                  <a:srgbClr val="F7FAFC"/>
                </a:solidFill>
                <a:latin typeface="Arial"/>
              </a:rPr>
              <a:t>Evaluating an Agentic Fraud-Block System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1097280" y="141732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300" b="0" dirty="0">
                <a:solidFill>
                  <a:srgbClr val="A8B4C7"/>
                </a:solidFill>
                <a:latin typeface="Arial"/>
              </a:rPr>
              <a:t>Educational demonstration: outcome correctness, process validity, operational cost, and reusable validation</a:t>
            </a:r>
            <a:endParaRPr lang="en-US" sz="1300"/>
          </a:p>
        </p:txBody>
      </p:sp>
      <p:sp>
        <p:nvSpPr>
          <p:cNvPr id="4" name="Shape 4"/>
          <p:cNvSpPr/>
          <p:nvPr/>
        </p:nvSpPr>
        <p:spPr>
          <a:xfrm>
            <a:off x="685800" y="2148840"/>
            <a:ext cx="26060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5" name="Shape 5"/>
          <p:cNvSpPr/>
          <p:nvPr/>
        </p:nvSpPr>
        <p:spPr>
          <a:xfrm>
            <a:off x="685800" y="2148840"/>
            <a:ext cx="73152" cy="19659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914400" y="22860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5B8CFF"/>
                </a:solidFill>
                <a:latin typeface="Arial"/>
              </a:rPr>
              <a:t>1  DETERMINISTIC CODE CHECKS</a:t>
            </a:r>
            <a:endParaRPr lang="en-US" sz="1300"/>
          </a:p>
        </p:txBody>
      </p:sp>
      <p:sp>
        <p:nvSpPr>
          <p:cNvPr id="7" name="Text 7"/>
          <p:cNvSpPr txBox="1"/>
          <p:nvPr/>
        </p:nvSpPr>
        <p:spPr>
          <a:xfrm>
            <a:off x="914400" y="2660904"/>
            <a:ext cx="21671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400" b="0" dirty="0">
                <a:solidFill>
                  <a:srgbClr val="F7FAFC"/>
                </a:solidFill>
                <a:latin typeface="Arial"/>
              </a:rPr>
              <a:t>Did the system reach the objectively correct route, action, transfer, and final state?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3429000" y="2148840"/>
            <a:ext cx="26060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9" name="Shape 9"/>
          <p:cNvSpPr/>
          <p:nvPr/>
        </p:nvSpPr>
        <p:spPr>
          <a:xfrm>
            <a:off x="3429000" y="2148840"/>
            <a:ext cx="73152" cy="19659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657600" y="22860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2  TRACE-BASED CHECKS</a:t>
            </a:r>
            <a:endParaRPr lang="en-US" sz="1300"/>
          </a:p>
        </p:txBody>
      </p:sp>
      <p:sp>
        <p:nvSpPr>
          <p:cNvPr id="11" name="Text 11"/>
          <p:cNvSpPr txBox="1"/>
          <p:nvPr/>
        </p:nvSpPr>
        <p:spPr>
          <a:xfrm>
            <a:off x="3657600" y="2660904"/>
            <a:ext cx="21671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400" b="0" dirty="0">
                <a:solidFill>
                  <a:srgbClr val="F7FAFC"/>
                </a:solidFill>
                <a:latin typeface="Arial"/>
              </a:rPr>
              <a:t>Did required steps occur in the correct order, without prohibited behavior?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6172200" y="2148840"/>
            <a:ext cx="26060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3" name="Shape 13"/>
          <p:cNvSpPr/>
          <p:nvPr/>
        </p:nvSpPr>
        <p:spPr>
          <a:xfrm>
            <a:off x="6172200" y="2148840"/>
            <a:ext cx="73152" cy="196596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400800" y="22860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3  OPERATIONAL METRICS</a:t>
            </a:r>
            <a:endParaRPr lang="en-US" sz="1300"/>
          </a:p>
        </p:txBody>
      </p:sp>
      <p:sp>
        <p:nvSpPr>
          <p:cNvPr id="15" name="Text 15"/>
          <p:cNvSpPr txBox="1"/>
          <p:nvPr/>
        </p:nvSpPr>
        <p:spPr>
          <a:xfrm>
            <a:off x="6400800" y="2660904"/>
            <a:ext cx="21671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400" b="0" dirty="0">
                <a:solidFill>
                  <a:srgbClr val="F7FAFC"/>
                </a:solidFill>
                <a:latin typeface="Arial"/>
              </a:rPr>
              <a:t>How many API/tool calls, tokens, dollars, clarification turns, retries, and milliseconds?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8915400" y="2148840"/>
            <a:ext cx="26060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915400" y="2148840"/>
            <a:ext cx="73152" cy="1965960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9144000" y="22860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4  VALIDATION SET</a:t>
            </a:r>
            <a:endParaRPr lang="en-US" sz="1300"/>
          </a:p>
        </p:txBody>
      </p:sp>
      <p:sp>
        <p:nvSpPr>
          <p:cNvPr id="19" name="Text 19"/>
          <p:cNvSpPr txBox="1"/>
          <p:nvPr/>
        </p:nvSpPr>
        <p:spPr>
          <a:xfrm>
            <a:off x="9144000" y="2660904"/>
            <a:ext cx="21671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400" b="0" dirty="0">
                <a:solidFill>
                  <a:srgbClr val="F7FAFC"/>
                </a:solidFill>
                <a:latin typeface="Arial"/>
              </a:rPr>
              <a:t>Does the same evaluator work reproducibly across ten representative scenarios?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1051560" y="4617720"/>
            <a:ext cx="1010412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1234440" y="4754880"/>
            <a:ext cx="9738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100" b="1" dirty="0">
                <a:solidFill>
                  <a:srgbClr val="35C2E3"/>
                </a:solidFill>
                <a:latin typeface="Arial"/>
              </a:rPr>
              <a:t>IMPLEMENTED SCOPE</a:t>
            </a:r>
            <a:endParaRPr lang="en-US" sz="1100"/>
          </a:p>
        </p:txBody>
      </p:sp>
      <p:sp>
        <p:nvSpPr>
          <p:cNvPr id="22" name="Text 22"/>
          <p:cNvSpPr txBox="1"/>
          <p:nvPr/>
        </p:nvSpPr>
        <p:spPr>
          <a:xfrm>
            <a:off x="1234440" y="5084064"/>
            <a:ext cx="9738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300" b="1" dirty="0">
                <a:solidFill>
                  <a:srgbClr val="F7FAFC"/>
                </a:solidFill>
                <a:latin typeface="Arial"/>
              </a:rPr>
              <a:t>10 deterministic scenarios  •  12 evaluator tests  •  1 bounded live API session  •  No LLM-as-judge  •  No human-review workflow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1005840" y="5989320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500" b="1" dirty="0">
                <a:solidFill>
                  <a:srgbClr val="FFB454"/>
                </a:solidFill>
                <a:latin typeface="Arial"/>
              </a:rPr>
              <a:t>Core lesson: a correct final state is necessary—but it is not sufficient evidence that an agent followed a valid process.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1" dirty="0">
                <a:solidFill>
                  <a:srgbClr val="F7FAFC"/>
                </a:solidFill>
                <a:latin typeface="Arial"/>
              </a:rPr>
              <a:t>Method 1 — Deterministic Code Checks</a:t>
            </a:r>
            <a:endParaRPr lang="en-US" sz="2400"/>
          </a:p>
        </p:txBody>
      </p:sp>
      <p:sp>
        <p:nvSpPr>
          <p:cNvPr id="3" name="Text 3"/>
          <p:cNvSpPr txBox="1"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Objective checks compare observable state and actions with scenario expectations.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11109960" y="310896"/>
            <a:ext cx="594360" cy="402336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1109960" y="32004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400" b="1" dirty="0">
                <a:solidFill>
                  <a:srgbClr val="09111F"/>
                </a:solidFill>
                <a:latin typeface="Arial"/>
              </a:rPr>
              <a:t>01</a:t>
            </a:r>
            <a:endParaRPr lang="en-US" sz="1400"/>
          </a:p>
        </p:txBody>
      </p:sp>
      <p:cxnSp>
        <p:nvCxnSpPr>
          <p:cNvPr id="6" name="Connector 6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502920" y="1325880"/>
            <a:ext cx="35204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325880"/>
            <a:ext cx="73152" cy="19659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31520" y="1463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5B8CFF"/>
                </a:solidFill>
                <a:latin typeface="Arial"/>
              </a:rPr>
              <a:t>OBJECTIVE</a:t>
            </a:r>
            <a:endParaRPr lang="en-US" sz="1300"/>
          </a:p>
        </p:txBody>
      </p:sp>
      <p:sp>
        <p:nvSpPr>
          <p:cNvPr id="10" name="Text 10"/>
          <p:cNvSpPr txBox="1"/>
          <p:nvPr/>
        </p:nvSpPr>
        <p:spPr>
          <a:xfrm>
            <a:off x="731520" y="1837944"/>
            <a:ext cx="30815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Verify facts that do not require subjective judgment: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selected route and card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authentication and ownership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expected transaction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eligibility and removal result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transfer destination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final card status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4160520" y="1325880"/>
            <a:ext cx="352044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160520" y="1325880"/>
            <a:ext cx="73152" cy="19659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389120" y="1463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5B8CFF"/>
                </a:solidFill>
                <a:latin typeface="Arial"/>
              </a:rPr>
              <a:t>PROCEDURE</a:t>
            </a:r>
            <a:endParaRPr lang="en-US" sz="1300"/>
          </a:p>
        </p:txBody>
      </p:sp>
      <p:sp>
        <p:nvSpPr>
          <p:cNvPr id="14" name="Text 14"/>
          <p:cNvSpPr txBox="1"/>
          <p:nvPr/>
        </p:nvSpPr>
        <p:spPr>
          <a:xfrm>
            <a:off x="4389120" y="1837944"/>
            <a:ext cx="308152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1. Reset the in-memory database.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2. Execute one agent session.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3. Read tool outputs and final state.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4. Compare expected versus actual.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5. Return one structured PASS/FAIL result per assertion.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7818120" y="1325880"/>
            <a:ext cx="3886200" cy="19659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818120" y="1325880"/>
            <a:ext cx="73152" cy="19659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046720" y="146304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5B8CFF"/>
                </a:solidFill>
                <a:latin typeface="Arial"/>
              </a:rPr>
              <a:t>STRUCTURED EVIDENCE</a:t>
            </a:r>
            <a:endParaRPr lang="en-US" sz="1300"/>
          </a:p>
        </p:txBody>
      </p:sp>
      <p:sp>
        <p:nvSpPr>
          <p:cNvPr id="18" name="Text 18"/>
          <p:cNvSpPr txBox="1"/>
          <p:nvPr/>
        </p:nvSpPr>
        <p:spPr>
          <a:xfrm>
            <a:off x="8046720" y="1837944"/>
            <a:ext cx="344728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{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  name: final_card_status,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  status: PASS,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  expected: active,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  actual: active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}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/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No model is used to grade these facts.</a:t>
            </a:r>
            <a:endParaRPr lang="en-US" sz="1150"/>
          </a:p>
        </p:txBody>
      </p:sp>
      <p:sp>
        <p:nvSpPr>
          <p:cNvPr id="19" name="Shape 19"/>
          <p:cNvSpPr/>
          <p:nvPr/>
        </p:nvSpPr>
        <p:spPr>
          <a:xfrm>
            <a:off x="502920" y="3566160"/>
            <a:ext cx="5440680" cy="14173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02920" y="3566160"/>
            <a:ext cx="73152" cy="14173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31520" y="37033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OBSERVED — LIVE SUCCESS</a:t>
            </a:r>
            <a:endParaRPr lang="en-US" sz="1300"/>
          </a:p>
        </p:txBody>
      </p:sp>
      <p:sp>
        <p:nvSpPr>
          <p:cNvPr id="22" name="Text 22"/>
          <p:cNvSpPr txBox="1"/>
          <p:nvPr/>
        </p:nvSpPr>
        <p:spPr>
          <a:xfrm>
            <a:off x="731520" y="4078224"/>
            <a:ext cx="5001768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13/13 required checks passed.</a:t>
            </a:r>
            <a:endParaRPr lang="en-US" sz="1300"/>
          </a:p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Route = BLOCK_REMOVAL; card = CARD-001; removal = true; final status = active; final state explicitly verified.</a:t>
            </a:r>
            <a:endParaRPr lang="en-US" sz="1300"/>
          </a:p>
        </p:txBody>
      </p:sp>
      <p:sp>
        <p:nvSpPr>
          <p:cNvPr id="23" name="Shape 23"/>
          <p:cNvSpPr/>
          <p:nvPr/>
        </p:nvSpPr>
        <p:spPr>
          <a:xfrm>
            <a:off x="6126480" y="3566160"/>
            <a:ext cx="5577840" cy="14173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6126480" y="3566160"/>
            <a:ext cx="73152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355080" y="3703320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OBSERVED — HIDDEN FAILURE</a:t>
            </a:r>
            <a:endParaRPr lang="en-US" sz="1300"/>
          </a:p>
        </p:txBody>
      </p:sp>
      <p:sp>
        <p:nvSpPr>
          <p:cNvPr id="26" name="Text 26"/>
          <p:cNvSpPr txBox="1"/>
          <p:nvPr/>
        </p:nvSpPr>
        <p:spPr>
          <a:xfrm>
            <a:off x="6355080" y="4078224"/>
            <a:ext cx="5138928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5/5 code checks passed.</a:t>
            </a:r>
            <a:endParaRPr lang="en-US" sz="1300"/>
          </a:p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The card became active and the block-removal action completed—so outcome-only evaluation saw success.</a:t>
            </a:r>
            <a:endParaRPr lang="en-US" sz="1300"/>
          </a:p>
        </p:txBody>
      </p:sp>
      <p:sp>
        <p:nvSpPr>
          <p:cNvPr id="27" name="Shape 27"/>
          <p:cNvSpPr/>
          <p:nvPr/>
        </p:nvSpPr>
        <p:spPr>
          <a:xfrm>
            <a:off x="502920" y="5257800"/>
            <a:ext cx="5532120" cy="960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8" name="Shape 28"/>
          <p:cNvSpPr/>
          <p:nvPr/>
        </p:nvSpPr>
        <p:spPr>
          <a:xfrm>
            <a:off x="502920" y="5257800"/>
            <a:ext cx="73152" cy="9601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31520" y="53949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HOW TO INTERPRET</a:t>
            </a:r>
            <a:endParaRPr lang="en-US" sz="1300"/>
          </a:p>
        </p:txBody>
      </p:sp>
      <p:sp>
        <p:nvSpPr>
          <p:cNvPr id="30" name="Text 30"/>
          <p:cNvSpPr txBox="1"/>
          <p:nvPr/>
        </p:nvSpPr>
        <p:spPr>
          <a:xfrm>
            <a:off x="731520" y="5769864"/>
            <a:ext cx="5093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PASS means the objective outcome matches the benchmark expectation. It does not prove the workflow was valid.</a:t>
            </a:r>
            <a:endParaRPr lang="en-US" sz="1200"/>
          </a:p>
        </p:txBody>
      </p:sp>
      <p:sp>
        <p:nvSpPr>
          <p:cNvPr id="31" name="Shape 31"/>
          <p:cNvSpPr/>
          <p:nvPr/>
        </p:nvSpPr>
        <p:spPr>
          <a:xfrm>
            <a:off x="6172200" y="5257800"/>
            <a:ext cx="5532120" cy="960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32" name="Shape 32"/>
          <p:cNvSpPr/>
          <p:nvPr/>
        </p:nvSpPr>
        <p:spPr>
          <a:xfrm>
            <a:off x="6172200" y="5257800"/>
            <a:ext cx="73152" cy="9601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6400800" y="53949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LIMITATION</a:t>
            </a:r>
            <a:endParaRPr lang="en-US" sz="1300"/>
          </a:p>
        </p:txBody>
      </p:sp>
      <p:sp>
        <p:nvSpPr>
          <p:cNvPr id="34" name="Text 34"/>
          <p:cNvSpPr txBox="1"/>
          <p:nvPr/>
        </p:nvSpPr>
        <p:spPr>
          <a:xfrm>
            <a:off x="6400800" y="5769864"/>
            <a:ext cx="5093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Code checks require explicit expected values and access to reliable state/tool outputs; they cannot detect an omitted step by themselves.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1" dirty="0">
                <a:solidFill>
                  <a:srgbClr val="F7FAFC"/>
                </a:solidFill>
                <a:latin typeface="Arial"/>
              </a:rPr>
              <a:t>Method 2 — Trace-Based Checks</a:t>
            </a:r>
            <a:endParaRPr lang="en-US" sz="2400"/>
          </a:p>
        </p:txBody>
      </p:sp>
      <p:sp>
        <p:nvSpPr>
          <p:cNvPr id="3" name="Text 3"/>
          <p:cNvSpPr txBox="1"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Process evaluation is separate from final-state evaluation.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11109960" y="310896"/>
            <a:ext cx="594360" cy="402336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1109960" y="32004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400" b="1" dirty="0">
                <a:solidFill>
                  <a:srgbClr val="09111F"/>
                </a:solidFill>
                <a:latin typeface="Arial"/>
              </a:rPr>
              <a:t>02</a:t>
            </a:r>
            <a:endParaRPr lang="en-US" sz="1400"/>
          </a:p>
        </p:txBody>
      </p:sp>
      <p:cxnSp>
        <p:nvCxnSpPr>
          <p:cNvPr id="6" name="Connector 6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502920" y="1325880"/>
            <a:ext cx="3520440" cy="205740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325880"/>
            <a:ext cx="73152" cy="20574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31520" y="1463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WHAT THE TRACE RECORDS</a:t>
            </a:r>
            <a:endParaRPr lang="en-US" sz="1300"/>
          </a:p>
        </p:txBody>
      </p:sp>
      <p:sp>
        <p:nvSpPr>
          <p:cNvPr id="10" name="Text 10"/>
          <p:cNvSpPr txBox="1"/>
          <p:nvPr/>
        </p:nvSpPr>
        <p:spPr>
          <a:xfrm>
            <a:off x="731520" y="1837944"/>
            <a:ext cx="308152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Every event includes: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sequence and timestamp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event type and name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status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redacted input/output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duration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Credentials and full card data are never stored.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4160520" y="1325880"/>
            <a:ext cx="3749040" cy="205740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160520" y="1325880"/>
            <a:ext cx="73152" cy="20574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389120" y="146304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REQUIRED SUCCESS ORDER</a:t>
            </a:r>
            <a:endParaRPr lang="en-US" sz="1300"/>
          </a:p>
        </p:txBody>
      </p:sp>
      <p:sp>
        <p:nvSpPr>
          <p:cNvPr id="14" name="Text 14"/>
          <p:cNvSpPr txBox="1"/>
          <p:nvPr/>
        </p:nvSpPr>
        <p:spPr>
          <a:xfrm>
            <a:off x="4389120" y="1837944"/>
            <a:ext cx="331012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Route selected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authentication succeeds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ownership verified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latest transaction retrieved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transaction recognized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eligibility approved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block removed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→ final state verified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8046720" y="1325880"/>
            <a:ext cx="3657600" cy="205740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046720" y="1325880"/>
            <a:ext cx="73152" cy="20574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275320" y="14630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PROHIBITED BEHAVIOR</a:t>
            </a:r>
            <a:endParaRPr lang="en-US" sz="1300"/>
          </a:p>
        </p:txBody>
      </p:sp>
      <p:sp>
        <p:nvSpPr>
          <p:cNvPr id="18" name="Text 18"/>
          <p:cNvSpPr txBox="1"/>
          <p:nvPr/>
        </p:nvSpPr>
        <p:spPr>
          <a:xfrm>
            <a:off x="8275320" y="1837944"/>
            <a:ext cx="3218688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Examples: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suspected fraud must not authenticate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failed auth must not disclose account data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unrecognized transaction must not remove block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removal must not precede approval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02920" y="3657600"/>
            <a:ext cx="5303520" cy="12801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02920" y="3657600"/>
            <a:ext cx="73152" cy="128016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31520" y="379476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OBSERVED — LIVE SUCCESS</a:t>
            </a:r>
            <a:endParaRPr lang="en-US" sz="1300"/>
          </a:p>
        </p:txBody>
      </p:sp>
      <p:sp>
        <p:nvSpPr>
          <p:cNvPr id="22" name="Text 22"/>
          <p:cNvSpPr txBox="1"/>
          <p:nvPr/>
        </p:nvSpPr>
        <p:spPr>
          <a:xfrm>
            <a:off x="731520" y="4169664"/>
            <a:ext cx="486460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17/17 trace checks passed. All required events existed and every ordering pair was valid.</a:t>
            </a:r>
            <a:endParaRPr lang="en-US" sz="1300"/>
          </a:p>
        </p:txBody>
      </p:sp>
      <p:sp>
        <p:nvSpPr>
          <p:cNvPr id="23" name="Shape 23"/>
          <p:cNvSpPr/>
          <p:nvPr/>
        </p:nvSpPr>
        <p:spPr>
          <a:xfrm>
            <a:off x="5989320" y="3657600"/>
            <a:ext cx="5715000" cy="128016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989320" y="3657600"/>
            <a:ext cx="73152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217920" y="3794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6B6B"/>
                </a:solidFill>
                <a:latin typeface="Arial"/>
              </a:rPr>
              <a:t>OBSERVED — HIDDEN WORKFLOW FAILURE</a:t>
            </a:r>
            <a:endParaRPr lang="en-US" sz="1300"/>
          </a:p>
        </p:txBody>
      </p:sp>
      <p:sp>
        <p:nvSpPr>
          <p:cNvPr id="26" name="Text 26"/>
          <p:cNvSpPr txBox="1"/>
          <p:nvPr/>
        </p:nvSpPr>
        <p:spPr>
          <a:xfrm>
            <a:off x="6217920" y="4169664"/>
            <a:ext cx="527608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Final card = active and code checks = PASS.</a:t>
            </a:r>
            <a:endParaRPr lang="en-US" sz="1300"/>
          </a:p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Trace failures = 1: required newest transaction TX-002-A was not recognized; an older transaction was used instead.</a:t>
            </a:r>
            <a:endParaRPr lang="en-US" sz="1300"/>
          </a:p>
        </p:txBody>
      </p:sp>
      <p:sp>
        <p:nvSpPr>
          <p:cNvPr id="27" name="Shape 27"/>
          <p:cNvSpPr/>
          <p:nvPr/>
        </p:nvSpPr>
        <p:spPr>
          <a:xfrm>
            <a:off x="685800" y="5257800"/>
            <a:ext cx="10972800" cy="713232"/>
          </a:xfrm>
          <a:prstGeom prst="roundRect">
            <a:avLst/>
          </a:prstGeom>
          <a:solidFill>
            <a:srgbClr val="3A2025"/>
          </a:solidFill>
          <a:ln w="12700">
            <a:solidFill>
              <a:srgbClr val="FF6B6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868680" y="5376672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FF6B6B"/>
                </a:solidFill>
                <a:latin typeface="Arial"/>
              </a:rPr>
              <a:t>OVERALL RESULT: FAIL — the outcome looked correct, but the required workflow evidence was missing.</a:t>
            </a:r>
            <a:endParaRPr lang="en-US" sz="1600"/>
          </a:p>
        </p:txBody>
      </p:sp>
      <p:sp>
        <p:nvSpPr>
          <p:cNvPr id="29" name="Text 29"/>
          <p:cNvSpPr txBox="1"/>
          <p:nvPr/>
        </p:nvSpPr>
        <p:spPr>
          <a:xfrm>
            <a:off x="685800" y="6181344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0" dirty="0">
                <a:solidFill>
                  <a:srgbClr val="A8B4C7"/>
                </a:solidFill>
                <a:latin typeface="Arial"/>
              </a:rPr>
              <a:t>Limitation: trace checks are only as strong as the event instrumentation and the process requirements encoded by the evaluator.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1" dirty="0">
                <a:solidFill>
                  <a:srgbClr val="F7FAFC"/>
                </a:solidFill>
                <a:latin typeface="Arial"/>
              </a:rPr>
              <a:t>Method 3 — Operational Metrics and API Cost</a:t>
            </a:r>
            <a:endParaRPr lang="en-US" sz="2400"/>
          </a:p>
        </p:txBody>
      </p:sp>
      <p:sp>
        <p:nvSpPr>
          <p:cNvPr id="3" name="Text 3"/>
          <p:cNvSpPr txBox="1"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One authorized live session measured real DeepSeek usage; the full benchmark remained API-free.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11109960" y="310896"/>
            <a:ext cx="594360" cy="402336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1109960" y="32004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400" b="1" dirty="0">
                <a:solidFill>
                  <a:srgbClr val="09111F"/>
                </a:solidFill>
                <a:latin typeface="Arial"/>
              </a:rPr>
              <a:t>03</a:t>
            </a:r>
            <a:endParaRPr lang="en-US" sz="1400"/>
          </a:p>
        </p:txBody>
      </p:sp>
      <p:cxnSp>
        <p:nvCxnSpPr>
          <p:cNvPr id="6" name="Connector 6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502920" y="1325880"/>
            <a:ext cx="3657600" cy="2103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325880"/>
            <a:ext cx="73152" cy="21031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31520" y="14630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METRICS CAPTURED</a:t>
            </a:r>
            <a:endParaRPr lang="en-US" sz="1300"/>
          </a:p>
        </p:txBody>
      </p:sp>
      <p:sp>
        <p:nvSpPr>
          <p:cNvPr id="10" name="Text 10"/>
          <p:cNvSpPr txBox="1"/>
          <p:nvPr/>
        </p:nvSpPr>
        <p:spPr>
          <a:xfrm>
            <a:off x="731520" y="1837944"/>
            <a:ext cx="321868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LLM calls and token usage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cache-hit / cache-miss input tokens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estimated API cost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tool calls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clarification turns and retries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LLM, tool, and end-to-end latency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• specialist/non-fraud transfers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4343400" y="1325880"/>
            <a:ext cx="3657600" cy="2103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43400" y="1325880"/>
            <a:ext cx="73152" cy="21031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572000" y="14630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COST METHOD</a:t>
            </a:r>
            <a:endParaRPr lang="en-US" sz="1300"/>
          </a:p>
        </p:txBody>
      </p:sp>
      <p:sp>
        <p:nvSpPr>
          <p:cNvPr id="14" name="Text 14"/>
          <p:cNvSpPr txBox="1"/>
          <p:nvPr/>
        </p:nvSpPr>
        <p:spPr>
          <a:xfrm>
            <a:off x="4572000" y="1837944"/>
            <a:ext cx="321868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Cost =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cache-hit input × hit rate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+ cache-miss input × miss rate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+ output × output rate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Model priced as: DeepSeek V4 Flash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Source verified: 2026-08-06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Unknown usage → cost = None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8183880" y="1325880"/>
            <a:ext cx="3520440" cy="2103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83880" y="1325880"/>
            <a:ext cx="73152" cy="21031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412480" y="1463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SAFETY LIMITS</a:t>
            </a:r>
            <a:endParaRPr lang="en-US" sz="1300"/>
          </a:p>
        </p:txBody>
      </p:sp>
      <p:sp>
        <p:nvSpPr>
          <p:cNvPr id="18" name="Text 18"/>
          <p:cNvSpPr txBox="1"/>
          <p:nvPr/>
        </p:nvSpPr>
        <p:spPr>
          <a:xfrm>
            <a:off x="8412480" y="1837944"/>
            <a:ext cx="308152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Hard live-session cap: 10 LLM calls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Clarification threshold: 3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Tool-call threshold: 10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Latency threshold: 15,000 ms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Full benchmark + --live is rejected to prevent unexpected spending.</a:t>
            </a:r>
            <a:endParaRPr lang="en-US" sz="1200"/>
          </a:p>
        </p:txBody>
      </p:sp>
      <p:sp>
        <p:nvSpPr>
          <p:cNvPr id="19" name="Text 19"/>
          <p:cNvSpPr txBox="1"/>
          <p:nvPr/>
        </p:nvSpPr>
        <p:spPr>
          <a:xfrm>
            <a:off x="502920" y="370332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OBSERVED LIVE SESSION — successful_block_removal</a:t>
            </a:r>
            <a:endParaRPr lang="en-US" sz="1300"/>
          </a:p>
        </p:txBody>
      </p:sp>
      <p:sp>
        <p:nvSpPr>
          <p:cNvPr id="20" name="Shape 20"/>
          <p:cNvSpPr/>
          <p:nvPr/>
        </p:nvSpPr>
        <p:spPr>
          <a:xfrm>
            <a:off x="50292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9436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2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59436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LLM calls</a:t>
            </a:r>
            <a:endParaRPr lang="en-US" sz="950"/>
          </a:p>
        </p:txBody>
      </p:sp>
      <p:sp>
        <p:nvSpPr>
          <p:cNvPr id="23" name="Shape 23"/>
          <p:cNvSpPr/>
          <p:nvPr/>
        </p:nvSpPr>
        <p:spPr>
          <a:xfrm>
            <a:off x="237744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246888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1,239</a:t>
            </a:r>
            <a:endParaRPr lang="en-US" sz="1600"/>
          </a:p>
        </p:txBody>
      </p:sp>
      <p:sp>
        <p:nvSpPr>
          <p:cNvPr id="25" name="Text 25"/>
          <p:cNvSpPr txBox="1"/>
          <p:nvPr/>
        </p:nvSpPr>
        <p:spPr>
          <a:xfrm>
            <a:off x="246888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input tokens</a:t>
            </a:r>
            <a:endParaRPr lang="en-US" sz="950"/>
          </a:p>
        </p:txBody>
      </p:sp>
      <p:sp>
        <p:nvSpPr>
          <p:cNvPr id="26" name="Shape 26"/>
          <p:cNvSpPr/>
          <p:nvPr/>
        </p:nvSpPr>
        <p:spPr>
          <a:xfrm>
            <a:off x="425196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34340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213</a:t>
            </a:r>
            <a:endParaRPr lang="en-US" sz="1600"/>
          </a:p>
        </p:txBody>
      </p:sp>
      <p:sp>
        <p:nvSpPr>
          <p:cNvPr id="28" name="Text 28"/>
          <p:cNvSpPr txBox="1"/>
          <p:nvPr/>
        </p:nvSpPr>
        <p:spPr>
          <a:xfrm>
            <a:off x="434340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output tokens</a:t>
            </a:r>
            <a:endParaRPr lang="en-US" sz="950"/>
          </a:p>
        </p:txBody>
      </p:sp>
      <p:sp>
        <p:nvSpPr>
          <p:cNvPr id="29" name="Shape 29"/>
          <p:cNvSpPr/>
          <p:nvPr/>
        </p:nvSpPr>
        <p:spPr>
          <a:xfrm>
            <a:off x="612648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621792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256</a:t>
            </a:r>
            <a:endParaRPr lang="en-US" sz="1600"/>
          </a:p>
        </p:txBody>
      </p:sp>
      <p:sp>
        <p:nvSpPr>
          <p:cNvPr id="31" name="Text 31"/>
          <p:cNvSpPr txBox="1"/>
          <p:nvPr/>
        </p:nvSpPr>
        <p:spPr>
          <a:xfrm>
            <a:off x="621792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cached input</a:t>
            </a:r>
            <a:endParaRPr lang="en-US" sz="950"/>
          </a:p>
        </p:txBody>
      </p:sp>
      <p:sp>
        <p:nvSpPr>
          <p:cNvPr id="32" name="Shape 32"/>
          <p:cNvSpPr/>
          <p:nvPr/>
        </p:nvSpPr>
        <p:spPr>
          <a:xfrm>
            <a:off x="800100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809244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$0.00019798</a:t>
            </a:r>
            <a:endParaRPr lang="en-US" sz="1600"/>
          </a:p>
        </p:txBody>
      </p:sp>
      <p:sp>
        <p:nvSpPr>
          <p:cNvPr id="34" name="Text 34"/>
          <p:cNvSpPr txBox="1"/>
          <p:nvPr/>
        </p:nvSpPr>
        <p:spPr>
          <a:xfrm>
            <a:off x="809244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estimated cost</a:t>
            </a:r>
            <a:endParaRPr lang="en-US" sz="950"/>
          </a:p>
        </p:txBody>
      </p:sp>
      <p:sp>
        <p:nvSpPr>
          <p:cNvPr id="35" name="Shape 35"/>
          <p:cNvSpPr/>
          <p:nvPr/>
        </p:nvSpPr>
        <p:spPr>
          <a:xfrm>
            <a:off x="9875520" y="4114800"/>
            <a:ext cx="1691640" cy="9601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2A3A53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9966960" y="42611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600" b="1" dirty="0">
                <a:solidFill>
                  <a:srgbClr val="39D98A"/>
                </a:solidFill>
                <a:latin typeface="Arial"/>
              </a:rPr>
              <a:t>4.12s</a:t>
            </a:r>
            <a:endParaRPr lang="en-US" sz="1600"/>
          </a:p>
        </p:txBody>
      </p:sp>
      <p:sp>
        <p:nvSpPr>
          <p:cNvPr id="37" name="Text 37"/>
          <p:cNvSpPr txBox="1"/>
          <p:nvPr/>
        </p:nvSpPr>
        <p:spPr>
          <a:xfrm>
            <a:off x="9966960" y="46634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end-to-end</a:t>
            </a:r>
            <a:endParaRPr lang="en-US" sz="950"/>
          </a:p>
        </p:txBody>
      </p:sp>
      <p:sp>
        <p:nvSpPr>
          <p:cNvPr id="38" name="Shape 38"/>
          <p:cNvSpPr/>
          <p:nvPr/>
        </p:nvSpPr>
        <p:spPr>
          <a:xfrm>
            <a:off x="502920" y="5349240"/>
            <a:ext cx="5532120" cy="86868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39" name="Shape 39"/>
          <p:cNvSpPr/>
          <p:nvPr/>
        </p:nvSpPr>
        <p:spPr>
          <a:xfrm>
            <a:off x="502920" y="5349240"/>
            <a:ext cx="73152" cy="86868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INTERPRETATION</a:t>
            </a:r>
            <a:endParaRPr lang="en-US" sz="1300"/>
          </a:p>
        </p:txBody>
      </p:sp>
      <p:sp>
        <p:nvSpPr>
          <p:cNvPr id="41" name="Text 41"/>
          <p:cNvSpPr txBox="1"/>
          <p:nvPr/>
        </p:nvSpPr>
        <p:spPr>
          <a:xfrm>
            <a:off x="731520" y="5861304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All configured thresholds passed. API cost was tiny, but latency was dominated by model calls rather than local tools.</a:t>
            </a:r>
            <a:endParaRPr lang="en-US" sz="1150"/>
          </a:p>
        </p:txBody>
      </p:sp>
      <p:sp>
        <p:nvSpPr>
          <p:cNvPr id="42" name="Shape 42"/>
          <p:cNvSpPr/>
          <p:nvPr/>
        </p:nvSpPr>
        <p:spPr>
          <a:xfrm>
            <a:off x="6172200" y="5349240"/>
            <a:ext cx="5532120" cy="86868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43" name="Shape 43"/>
          <p:cNvSpPr/>
          <p:nvPr/>
        </p:nvSpPr>
        <p:spPr>
          <a:xfrm>
            <a:off x="6172200" y="5349240"/>
            <a:ext cx="73152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400800" y="54864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LIMITATIONS</a:t>
            </a:r>
            <a:endParaRPr lang="en-US" sz="1300"/>
          </a:p>
        </p:txBody>
      </p:sp>
      <p:sp>
        <p:nvSpPr>
          <p:cNvPr id="45" name="Text 45"/>
          <p:cNvSpPr txBox="1"/>
          <p:nvPr/>
        </p:nvSpPr>
        <p:spPr>
          <a:xfrm>
            <a:off x="6400800" y="5861304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One live run is illustrative, not a latency distribution. Prices can change; estimates depend on returned usage metadata and current configuration.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1" dirty="0">
                <a:solidFill>
                  <a:srgbClr val="F7FAFC"/>
                </a:solidFill>
                <a:latin typeface="Arial"/>
              </a:rPr>
              <a:t>Method 4 — Benchmark / Validation-Set Execution</a:t>
            </a:r>
            <a:endParaRPr lang="en-US" sz="2400"/>
          </a:p>
        </p:txBody>
      </p:sp>
      <p:sp>
        <p:nvSpPr>
          <p:cNvPr id="3" name="Text 3"/>
          <p:cNvSpPr txBox="1"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The same harness resets state and evaluates ten representative sessions reproducibly.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11109960" y="310896"/>
            <a:ext cx="594360" cy="402336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1109960" y="32004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400" b="1" dirty="0">
                <a:solidFill>
                  <a:srgbClr val="09111F"/>
                </a:solidFill>
                <a:latin typeface="Arial"/>
              </a:rPr>
              <a:t>04</a:t>
            </a:r>
            <a:endParaRPr lang="en-US" sz="1400"/>
          </a:p>
        </p:txBody>
      </p:sp>
      <p:cxnSp>
        <p:nvCxnSpPr>
          <p:cNvPr id="6" name="Connector 6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502920" y="1325880"/>
            <a:ext cx="3657600" cy="3246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325880"/>
            <a:ext cx="73152" cy="3246120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31520" y="14630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TEN SCENARIOS</a:t>
            </a:r>
            <a:endParaRPr lang="en-US" sz="1300"/>
          </a:p>
        </p:txBody>
      </p:sp>
      <p:sp>
        <p:nvSpPr>
          <p:cNvPr id="10" name="Text 10"/>
          <p:cNvSpPr txBox="1"/>
          <p:nvPr/>
        </p:nvSpPr>
        <p:spPr>
          <a:xfrm>
            <a:off x="731520" y="1837944"/>
            <a:ext cx="3218688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1. Successful block removal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2. Ambiguous request + clarification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3. Suspected fraud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4. Non-fraud transfer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5. Incorrect-DOB auth failure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6. Unknown-card auth failure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7. Card/DOB mismatch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8. Transaction not recognized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9. Removal ineligible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10. Hidden workflow failure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4343400" y="1325880"/>
            <a:ext cx="3429000" cy="32461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43400" y="1325880"/>
            <a:ext cx="73152" cy="3246120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572000" y="14630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RUNNER PIPELINE</a:t>
            </a:r>
            <a:endParaRPr lang="en-US" sz="1300"/>
          </a:p>
        </p:txBody>
      </p:sp>
      <p:sp>
        <p:nvSpPr>
          <p:cNvPr id="14" name="Text 14"/>
          <p:cNvSpPr txBox="1"/>
          <p:nvPr/>
        </p:nvSpPr>
        <p:spPr>
          <a:xfrm>
            <a:off x="4572000" y="1837944"/>
            <a:ext cx="2990088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For every scenario: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/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1. Load scenario and expectations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2. Create a fresh agent/database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3. Execute one complete session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4. Save structured JSON trace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5. Apply code checks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6. Apply trace checks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7. Calculate metrics</a:t>
            </a:r>
            <a:endParaRPr lang="en-US" sz="1200"/>
          </a:p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8. Explain PASS or FAIL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7955280" y="1325880"/>
            <a:ext cx="3749040" cy="14173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955280" y="1325880"/>
            <a:ext cx="73152" cy="14173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183880" y="146304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OBSERVED SUMMARY</a:t>
            </a:r>
            <a:endParaRPr lang="en-US" sz="1300"/>
          </a:p>
        </p:txBody>
      </p:sp>
      <p:sp>
        <p:nvSpPr>
          <p:cNvPr id="18" name="Text 18"/>
          <p:cNvSpPr txBox="1"/>
          <p:nvPr/>
        </p:nvSpPr>
        <p:spPr>
          <a:xfrm>
            <a:off x="8183880" y="1837944"/>
            <a:ext cx="3310128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9/9 expected-valid scenarios passed.</a:t>
            </a:r>
            <a:endParaRPr lang="en-US" sz="1300"/>
          </a:p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1/1 demo-only hidden failure was correctly rejected.</a:t>
            </a:r>
            <a:endParaRPr lang="en-US" sz="1300"/>
          </a:p>
          <a:p>
            <a:pPr algn="l"/>
            <a:r>
              <a:rPr lang="en-US" sz="1300" b="0" dirty="0">
                <a:solidFill>
                  <a:srgbClr val="F7FAFC"/>
                </a:solidFill>
                <a:latin typeface="Arial"/>
              </a:rPr>
              <a:t>State reset was verified by automated tests.</a:t>
            </a:r>
            <a:endParaRPr lang="en-US" sz="1300"/>
          </a:p>
        </p:txBody>
      </p:sp>
      <p:sp>
        <p:nvSpPr>
          <p:cNvPr id="19" name="Shape 19"/>
          <p:cNvSpPr/>
          <p:nvPr/>
        </p:nvSpPr>
        <p:spPr>
          <a:xfrm>
            <a:off x="7955280" y="2926080"/>
            <a:ext cx="3749040" cy="16459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7955280" y="2926080"/>
            <a:ext cx="73152" cy="16459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183880" y="306324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WHY THIS MATTERS</a:t>
            </a:r>
            <a:endParaRPr lang="en-US" sz="1300"/>
          </a:p>
        </p:txBody>
      </p:sp>
      <p:sp>
        <p:nvSpPr>
          <p:cNvPr id="22" name="Text 22"/>
          <p:cNvSpPr txBox="1"/>
          <p:nvPr/>
        </p:nvSpPr>
        <p:spPr>
          <a:xfrm>
            <a:off x="8183880" y="3438144"/>
            <a:ext cx="33101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A single successful conversation proves very little. A validation set tests routing, safety boundaries, negative paths, state isolation, and evaluator sensitivity using the same repeatable process.</a:t>
            </a:r>
            <a:endParaRPr lang="en-US" sz="1200"/>
          </a:p>
        </p:txBody>
      </p:sp>
      <p:sp>
        <p:nvSpPr>
          <p:cNvPr id="23" name="Shape 23"/>
          <p:cNvSpPr/>
          <p:nvPr/>
        </p:nvSpPr>
        <p:spPr>
          <a:xfrm>
            <a:off x="502920" y="4846320"/>
            <a:ext cx="5532120" cy="114300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02920" y="4846320"/>
            <a:ext cx="73152" cy="1143000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31520" y="49834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COMMANDS</a:t>
            </a:r>
            <a:endParaRPr lang="en-US" sz="1300"/>
          </a:p>
        </p:txBody>
      </p:sp>
      <p:sp>
        <p:nvSpPr>
          <p:cNvPr id="26" name="Text 26"/>
          <p:cNvSpPr txBox="1"/>
          <p:nvPr/>
        </p:nvSpPr>
        <p:spPr>
          <a:xfrm>
            <a:off x="731520" y="5358384"/>
            <a:ext cx="50932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All:  python3 fraud_block_agent_demo/run_evaluation.py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One:  ... --scenario hidden_workflow_failure</a:t>
            </a:r>
            <a:endParaRPr lang="en-US" sz="1150"/>
          </a:p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Live: ... --scenario successful_block_removal --live</a:t>
            </a:r>
            <a:endParaRPr lang="en-US" sz="1150"/>
          </a:p>
        </p:txBody>
      </p:sp>
      <p:sp>
        <p:nvSpPr>
          <p:cNvPr id="27" name="Shape 27"/>
          <p:cNvSpPr/>
          <p:nvPr/>
        </p:nvSpPr>
        <p:spPr>
          <a:xfrm>
            <a:off x="6172200" y="4846320"/>
            <a:ext cx="5532120" cy="114300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8" name="Shape 28"/>
          <p:cNvSpPr/>
          <p:nvPr/>
        </p:nvSpPr>
        <p:spPr>
          <a:xfrm>
            <a:off x="6172200" y="4846320"/>
            <a:ext cx="73152" cy="1143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6400800" y="49834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FFB454"/>
                </a:solidFill>
                <a:latin typeface="Arial"/>
              </a:rPr>
              <a:t>LIMITATION</a:t>
            </a:r>
            <a:endParaRPr lang="en-US" sz="1300"/>
          </a:p>
        </p:txBody>
      </p:sp>
      <p:sp>
        <p:nvSpPr>
          <p:cNvPr id="30" name="Text 30"/>
          <p:cNvSpPr txBox="1"/>
          <p:nvPr/>
        </p:nvSpPr>
        <p:spPr>
          <a:xfrm>
            <a:off x="6400800" y="5358384"/>
            <a:ext cx="50932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50" b="0" dirty="0">
                <a:solidFill>
                  <a:srgbClr val="F7FAFC"/>
                </a:solidFill>
                <a:latin typeface="Arial"/>
              </a:rPr>
              <a:t>Recorded model outputs make the benchmark reproducible but do not measure model-output variability. The separate bounded live run supplies real token and latency evidence.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1" dirty="0">
                <a:solidFill>
                  <a:srgbClr val="F7FAFC"/>
                </a:solidFill>
                <a:latin typeface="Arial"/>
              </a:rPr>
              <a:t>Overall Interpretation and Teaching Sequence</a:t>
            </a:r>
            <a:endParaRPr lang="en-US" sz="2400"/>
          </a:p>
        </p:txBody>
      </p:sp>
      <p:sp>
        <p:nvSpPr>
          <p:cNvPr id="3" name="Text 3"/>
          <p:cNvSpPr txBox="1"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Use multiple evaluation lenses; no single method is sufficient.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11109960" y="310896"/>
            <a:ext cx="594360" cy="402336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1109960" y="32004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400" b="1" dirty="0">
                <a:solidFill>
                  <a:srgbClr val="09111F"/>
                </a:solidFill>
                <a:latin typeface="Arial"/>
              </a:rPr>
              <a:t>Σ</a:t>
            </a:r>
            <a:endParaRPr lang="en-US" sz="1400"/>
          </a:p>
        </p:txBody>
      </p:sp>
      <p:cxnSp>
        <p:nvCxnSpPr>
          <p:cNvPr id="6" name="Connector 6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502920" y="1353312"/>
            <a:ext cx="11201400" cy="65836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353312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49808" y="146304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00" b="1" dirty="0">
                <a:solidFill>
                  <a:srgbClr val="5B8CFF"/>
                </a:solidFill>
                <a:latin typeface="Arial"/>
              </a:rPr>
              <a:t>Deterministic code checks</a:t>
            </a:r>
            <a:endParaRPr lang="en-US" sz="1200"/>
          </a:p>
        </p:txBody>
      </p:sp>
      <p:sp>
        <p:nvSpPr>
          <p:cNvPr id="10" name="Text 10"/>
          <p:cNvSpPr txBox="1"/>
          <p:nvPr/>
        </p:nvSpPr>
        <p:spPr>
          <a:xfrm>
            <a:off x="3703320" y="14630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50" b="1" dirty="0">
                <a:solidFill>
                  <a:srgbClr val="F7FAFC"/>
                </a:solidFill>
                <a:latin typeface="Arial"/>
              </a:rPr>
              <a:t>Is the observable result correct?</a:t>
            </a:r>
            <a:endParaRPr lang="en-US" sz="1150"/>
          </a:p>
        </p:txBody>
      </p:sp>
      <p:sp>
        <p:nvSpPr>
          <p:cNvPr id="11" name="Text 11"/>
          <p:cNvSpPr txBox="1"/>
          <p:nvPr/>
        </p:nvSpPr>
        <p:spPr>
          <a:xfrm>
            <a:off x="7086600" y="1463040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00" b="0" dirty="0">
                <a:solidFill>
                  <a:srgbClr val="A8B4C7"/>
                </a:solidFill>
                <a:latin typeface="Arial"/>
              </a:rPr>
              <a:t>Objective PASS/FAIL against expected state</a:t>
            </a:r>
            <a:endParaRPr lang="en-US" sz="1100"/>
          </a:p>
        </p:txBody>
      </p:sp>
      <p:sp>
        <p:nvSpPr>
          <p:cNvPr id="12" name="Shape 12"/>
          <p:cNvSpPr/>
          <p:nvPr/>
        </p:nvSpPr>
        <p:spPr>
          <a:xfrm>
            <a:off x="502920" y="2194560"/>
            <a:ext cx="11201400" cy="65836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3" name="Shape 13"/>
          <p:cNvSpPr/>
          <p:nvPr/>
        </p:nvSpPr>
        <p:spPr>
          <a:xfrm>
            <a:off x="502920" y="2194560"/>
            <a:ext cx="73152" cy="65836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49808" y="230428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00" b="1" dirty="0">
                <a:solidFill>
                  <a:srgbClr val="FFB454"/>
                </a:solidFill>
                <a:latin typeface="Arial"/>
              </a:rPr>
              <a:t>Trace-based checks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3703320" y="23042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50" b="1" dirty="0">
                <a:solidFill>
                  <a:srgbClr val="F7FAFC"/>
                </a:solidFill>
                <a:latin typeface="Arial"/>
              </a:rPr>
              <a:t>Was the required process followed?</a:t>
            </a:r>
            <a:endParaRPr lang="en-US" sz="1150"/>
          </a:p>
        </p:txBody>
      </p:sp>
      <p:sp>
        <p:nvSpPr>
          <p:cNvPr id="16" name="Text 16"/>
          <p:cNvSpPr txBox="1"/>
          <p:nvPr/>
        </p:nvSpPr>
        <p:spPr>
          <a:xfrm>
            <a:off x="7086600" y="2304288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00" b="0" dirty="0">
                <a:solidFill>
                  <a:srgbClr val="A8B4C7"/>
                </a:solidFill>
                <a:latin typeface="Arial"/>
              </a:rPr>
              <a:t>Ordering, required events, prohibited behavior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502920" y="3035808"/>
            <a:ext cx="11201400" cy="65836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02920" y="3035808"/>
            <a:ext cx="73152" cy="658368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49808" y="314553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00" b="1" dirty="0">
                <a:solidFill>
                  <a:srgbClr val="39D98A"/>
                </a:solidFill>
                <a:latin typeface="Arial"/>
              </a:rPr>
              <a:t>Operational metrics</a:t>
            </a:r>
            <a:endParaRPr lang="en-US" sz="1200"/>
          </a:p>
        </p:txBody>
      </p:sp>
      <p:sp>
        <p:nvSpPr>
          <p:cNvPr id="20" name="Text 20"/>
          <p:cNvSpPr txBox="1"/>
          <p:nvPr/>
        </p:nvSpPr>
        <p:spPr>
          <a:xfrm>
            <a:off x="3703320" y="314553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50" b="1" dirty="0">
                <a:solidFill>
                  <a:srgbClr val="F7FAFC"/>
                </a:solidFill>
                <a:latin typeface="Arial"/>
              </a:rPr>
              <a:t>What did the run consume?</a:t>
            </a:r>
            <a:endParaRPr lang="en-US" sz="1150"/>
          </a:p>
        </p:txBody>
      </p:sp>
      <p:sp>
        <p:nvSpPr>
          <p:cNvPr id="21" name="Text 21"/>
          <p:cNvSpPr txBox="1"/>
          <p:nvPr/>
        </p:nvSpPr>
        <p:spPr>
          <a:xfrm>
            <a:off x="7086600" y="3145536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00" b="0" dirty="0">
                <a:solidFill>
                  <a:srgbClr val="A8B4C7"/>
                </a:solidFill>
                <a:latin typeface="Arial"/>
              </a:rPr>
              <a:t>Calls, tokens, cost, latency, retries, transfers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502920" y="3877056"/>
            <a:ext cx="11201400" cy="65836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3" name="Shape 23"/>
          <p:cNvSpPr/>
          <p:nvPr/>
        </p:nvSpPr>
        <p:spPr>
          <a:xfrm>
            <a:off x="502920" y="3877056"/>
            <a:ext cx="73152" cy="658368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49808" y="3986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00" b="1" dirty="0">
                <a:solidFill>
                  <a:srgbClr val="35C2E3"/>
                </a:solidFill>
                <a:latin typeface="Arial"/>
              </a:rPr>
              <a:t>Validation set</a:t>
            </a:r>
            <a:endParaRPr lang="en-US" sz="1200"/>
          </a:p>
        </p:txBody>
      </p:sp>
      <p:sp>
        <p:nvSpPr>
          <p:cNvPr id="25" name="Text 25"/>
          <p:cNvSpPr txBox="1"/>
          <p:nvPr/>
        </p:nvSpPr>
        <p:spPr>
          <a:xfrm>
            <a:off x="3703320" y="3986784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50" b="1" dirty="0">
                <a:solidFill>
                  <a:srgbClr val="F7FAFC"/>
                </a:solidFill>
                <a:latin typeface="Arial"/>
              </a:rPr>
              <a:t>Does behavior generalize across cases?</a:t>
            </a:r>
            <a:endParaRPr lang="en-US" sz="1150"/>
          </a:p>
        </p:txBody>
      </p:sp>
      <p:sp>
        <p:nvSpPr>
          <p:cNvPr id="26" name="Text 26"/>
          <p:cNvSpPr txBox="1"/>
          <p:nvPr/>
        </p:nvSpPr>
        <p:spPr>
          <a:xfrm>
            <a:off x="7086600" y="3986784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00" b="0" dirty="0">
                <a:solidFill>
                  <a:srgbClr val="A8B4C7"/>
                </a:solidFill>
                <a:latin typeface="Arial"/>
              </a:rPr>
              <a:t>10 independent, reproducible scenarios</a:t>
            </a:r>
            <a:endParaRPr lang="en-US" sz="1100"/>
          </a:p>
        </p:txBody>
      </p:sp>
      <p:sp>
        <p:nvSpPr>
          <p:cNvPr id="27" name="Shape 27"/>
          <p:cNvSpPr/>
          <p:nvPr/>
        </p:nvSpPr>
        <p:spPr>
          <a:xfrm>
            <a:off x="502920" y="4892040"/>
            <a:ext cx="5440680" cy="109728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8" name="Shape 28"/>
          <p:cNvSpPr/>
          <p:nvPr/>
        </p:nvSpPr>
        <p:spPr>
          <a:xfrm>
            <a:off x="502920" y="4892040"/>
            <a:ext cx="73152" cy="1097280"/>
          </a:xfrm>
          <a:prstGeom prst="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31520" y="502920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5C2E3"/>
                </a:solidFill>
                <a:latin typeface="Arial"/>
              </a:rPr>
              <a:t>RECOMMENDED LIVE DEMO</a:t>
            </a:r>
            <a:endParaRPr lang="en-US" sz="1300"/>
          </a:p>
        </p:txBody>
      </p:sp>
      <p:sp>
        <p:nvSpPr>
          <p:cNvPr id="30" name="Text 30"/>
          <p:cNvSpPr txBox="1"/>
          <p:nvPr/>
        </p:nvSpPr>
        <p:spPr>
          <a:xfrm>
            <a:off x="731520" y="5404104"/>
            <a:ext cx="5001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00" b="0" dirty="0">
                <a:solidFill>
                  <a:srgbClr val="F7FAFC"/>
                </a:solidFill>
                <a:latin typeface="Arial"/>
              </a:rPr>
              <a:t>1. Successful scenario: both check types pass.</a:t>
            </a:r>
            <a:endParaRPr lang="en-US" sz="1100"/>
          </a:p>
          <a:p>
            <a:pPr algn="l"/>
            <a:r>
              <a:rPr lang="en-US" sz="1100" b="0" dirty="0">
                <a:solidFill>
                  <a:srgbClr val="F7FAFC"/>
                </a:solidFill>
                <a:latin typeface="Arial"/>
              </a:rPr>
              <a:t>2. Hidden failure: final state passes, trace fails.</a:t>
            </a:r>
            <a:endParaRPr lang="en-US" sz="1100"/>
          </a:p>
          <a:p>
            <a:pPr algn="l"/>
            <a:r>
              <a:rPr lang="en-US" sz="1100" b="0" dirty="0">
                <a:solidFill>
                  <a:srgbClr val="F7FAFC"/>
                </a:solidFill>
                <a:latin typeface="Arial"/>
              </a:rPr>
              <a:t>3. Full benchmark: compare scenarios.</a:t>
            </a:r>
            <a:endParaRPr lang="en-US" sz="1100"/>
          </a:p>
          <a:p>
            <a:pPr algn="l"/>
            <a:r>
              <a:rPr lang="en-US" sz="1100" b="0" dirty="0">
                <a:solidFill>
                  <a:srgbClr val="F7FAFC"/>
                </a:solidFill>
                <a:latin typeface="Arial"/>
              </a:rPr>
              <a:t>4. Live metrics: explain tokens, cost, and latency.</a:t>
            </a:r>
            <a:endParaRPr lang="en-US" sz="1100"/>
          </a:p>
        </p:txBody>
      </p:sp>
      <p:sp>
        <p:nvSpPr>
          <p:cNvPr id="31" name="Shape 31"/>
          <p:cNvSpPr/>
          <p:nvPr/>
        </p:nvSpPr>
        <p:spPr>
          <a:xfrm>
            <a:off x="6172200" y="4892040"/>
            <a:ext cx="5532120" cy="109728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32" name="Shape 32"/>
          <p:cNvSpPr/>
          <p:nvPr/>
        </p:nvSpPr>
        <p:spPr>
          <a:xfrm>
            <a:off x="6172200" y="4892040"/>
            <a:ext cx="73152" cy="109728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6400800" y="50292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1" dirty="0">
                <a:solidFill>
                  <a:srgbClr val="39D98A"/>
                </a:solidFill>
                <a:latin typeface="Arial"/>
              </a:rPr>
              <a:t>TAKEAWAY</a:t>
            </a:r>
            <a:endParaRPr lang="en-US" sz="1300"/>
          </a:p>
        </p:txBody>
      </p:sp>
      <p:sp>
        <p:nvSpPr>
          <p:cNvPr id="34" name="Text 34"/>
          <p:cNvSpPr txBox="1"/>
          <p:nvPr/>
        </p:nvSpPr>
        <p:spPr>
          <a:xfrm>
            <a:off x="6400800" y="5404104"/>
            <a:ext cx="50932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200" b="0" dirty="0">
                <a:solidFill>
                  <a:srgbClr val="F7FAFC"/>
                </a:solidFill>
                <a:latin typeface="Arial"/>
              </a:rPr>
              <a:t>Trust requires evidence of both outcome and process. Add operational measurements and a reusable validation set to make that evidence explainable, repeatable, and cost-aware.</a:t>
            </a:r>
            <a:endParaRPr lang="en-US" sz="1200"/>
          </a:p>
        </p:txBody>
      </p:sp>
      <p:sp>
        <p:nvSpPr>
          <p:cNvPr id="35" name="Text 35"/>
          <p:cNvSpPr txBox="1"/>
          <p:nvPr/>
        </p:nvSpPr>
        <p:spPr>
          <a:xfrm>
            <a:off x="685800" y="6281928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0" dirty="0">
                <a:solidFill>
                  <a:srgbClr val="A8B4C7"/>
                </a:solidFill>
                <a:latin typeface="Arial"/>
              </a:rPr>
              <a:t>Scope intentionally excludes LLM-as-a-judge and human-review grading for this educational implementation.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