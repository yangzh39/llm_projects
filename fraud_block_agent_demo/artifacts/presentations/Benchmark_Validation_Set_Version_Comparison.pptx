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presProps" Target="presProps.xml"/>
<Relationship Id="rId4" Type="http://schemas.openxmlformats.org/officeDocument/2006/relationships/viewProps" Target="viewProps.xml"/>
<Relationship Id="rId5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ud Block Agent Desig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93776" y="219456"/>
            <a:ext cx="11201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050" b="1" dirty="0">
                <a:solidFill>
                  <a:srgbClr val="172033"/>
                </a:solidFill>
                <a:latin typeface="Arial"/>
              </a:rPr>
              <a:t>Benchmark / Validation Set — Measure Change Across Versions</a:t>
            </a:r>
            <a:endParaRPr lang="en-US" sz="2050"/>
          </a:p>
        </p:txBody>
      </p:sp>
      <p:sp>
        <p:nvSpPr>
          <p:cNvPr id="3" name="Text 3"/>
          <p:cNvSpPr txBox="1"/>
          <p:nvPr/>
        </p:nvSpPr>
        <p:spPr>
          <a:xfrm>
            <a:off x="493776" y="576072"/>
            <a:ext cx="1120140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70" b="0" dirty="0">
                <a:solidFill>
                  <a:srgbClr val="5F6B7A"/>
                </a:solidFill>
                <a:latin typeface="Arial"/>
              </a:rPr>
              <a:t>Fixed scenarios make agent behavior comparable across code, prompt, and model changes.</a:t>
            </a:r>
            <a:endParaRPr lang="en-US" sz="970"/>
          </a:p>
        </p:txBody>
      </p:sp>
      <p:cxnSp>
        <p:nvCxnSpPr>
          <p:cNvPr id="4" name="Connector 4"/>
          <p:cNvCxnSpPr/>
          <p:nvPr/>
        </p:nvCxnSpPr>
        <p:spPr>
          <a:xfrm>
            <a:off x="493776" y="923544"/>
            <a:ext cx="11201400" cy="0"/>
          </a:xfrm>
          <a:prstGeom prst="line">
            <a:avLst/>
          </a:prstGeom>
          <a:ln w="12700">
            <a:solidFill>
              <a:srgbClr val="D8DEE8"/>
            </a:solidFill>
            <a:tailEnd type="none"/>
            <a:headEnd type="none"/>
          </a:ln>
        </p:spPr>
      </p:cxnSp>
      <p:sp>
        <p:nvSpPr>
          <p:cNvPr id="5" name="Shape 5"/>
          <p:cNvSpPr/>
          <p:nvPr/>
        </p:nvSpPr>
        <p:spPr>
          <a:xfrm>
            <a:off x="493776" y="1115568"/>
            <a:ext cx="11201400" cy="621792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B9C9DA"/>
            </a:solidFill>
          </a:ln>
        </p:spPr>
      </p:sp>
      <p:sp>
        <p:nvSpPr>
          <p:cNvPr id="6" name="Shape 6"/>
          <p:cNvSpPr/>
          <p:nvPr/>
        </p:nvSpPr>
        <p:spPr>
          <a:xfrm>
            <a:off x="493776" y="1115568"/>
            <a:ext cx="73152" cy="621792"/>
          </a:xfrm>
          <a:prstGeom prst="rect">
            <a:avLst/>
          </a:prstGeom>
          <a:solidFill>
            <a:srgbClr val="20A7D3"/>
          </a:solidFill>
          <a:ln w="12700">
            <a:solidFill>
              <a:srgbClr val="20A7D3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13232" y="1261872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20" b="1" dirty="0">
                <a:solidFill>
                  <a:srgbClr val="087EA4"/>
                </a:solidFill>
                <a:latin typeface="Arial"/>
              </a:rPr>
              <a:t>DEFINITION</a:t>
            </a:r>
            <a:endParaRPr lang="en-US" sz="1020"/>
          </a:p>
        </p:txBody>
      </p:sp>
      <p:sp>
        <p:nvSpPr>
          <p:cNvPr id="8" name="Text 8"/>
          <p:cNvSpPr txBox="1"/>
          <p:nvPr/>
        </p:nvSpPr>
        <p:spPr>
          <a:xfrm>
            <a:off x="713232" y="1490472"/>
            <a:ext cx="105613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10" b="0" dirty="0">
                <a:solidFill>
                  <a:srgbClr val="172033"/>
                </a:solidFill>
                <a:latin typeface="Arial"/>
              </a:rPr>
              <a:t>A benchmark contains representative scenarios and expected behaviors used to measure how agent performance changes across versions.</a:t>
            </a:r>
            <a:endParaRPr lang="en-US" sz="1010"/>
          </a:p>
        </p:txBody>
      </p:sp>
      <p:sp>
        <p:nvSpPr>
          <p:cNvPr id="9" name="Text 9"/>
          <p:cNvSpPr txBox="1"/>
          <p:nvPr/>
        </p:nvSpPr>
        <p:spPr>
          <a:xfrm>
            <a:off x="493776" y="1911096"/>
            <a:ext cx="6309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80" b="1" dirty="0">
                <a:solidFill>
                  <a:srgbClr val="2563A8"/>
                </a:solidFill>
                <a:latin typeface="Arial"/>
              </a:rPr>
              <a:t>TWO EXECUTION MODES — ONE REUSABLE BENCHMARK</a:t>
            </a:r>
            <a:endParaRPr lang="en-US" sz="1080"/>
          </a:p>
        </p:txBody>
      </p:sp>
      <p:sp>
        <p:nvSpPr>
          <p:cNvPr id="10" name="Shape 10"/>
          <p:cNvSpPr/>
          <p:nvPr/>
        </p:nvSpPr>
        <p:spPr>
          <a:xfrm>
            <a:off x="1865376" y="2148840"/>
            <a:ext cx="3813048" cy="438912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4B79B5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1865376" y="2212848"/>
            <a:ext cx="38130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040" b="1" dirty="0">
                <a:solidFill>
                  <a:srgbClr val="2563A8"/>
                </a:solidFill>
                <a:latin typeface="Arial"/>
              </a:rPr>
              <a:t>BENCHMARK / VALIDATION SET</a:t>
            </a:r>
            <a:endParaRPr lang="en-US" sz="1040"/>
          </a:p>
        </p:txBody>
      </p:sp>
      <p:sp>
        <p:nvSpPr>
          <p:cNvPr id="12" name="Text 12"/>
          <p:cNvSpPr txBox="1"/>
          <p:nvPr/>
        </p:nvSpPr>
        <p:spPr>
          <a:xfrm>
            <a:off x="1865376" y="2404872"/>
            <a:ext cx="381304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10" b="0" dirty="0">
                <a:solidFill>
                  <a:srgbClr val="5F6B7A"/>
                </a:solidFill>
                <a:latin typeface="Arial"/>
              </a:rPr>
              <a:t>Scenarios + expected behavior</a:t>
            </a:r>
            <a:endParaRPr lang="en-US" sz="810"/>
          </a:p>
        </p:txBody>
      </p:sp>
      <p:cxnSp>
        <p:nvCxnSpPr>
          <p:cNvPr id="13" name="Connector 13"/>
          <p:cNvCxnSpPr/>
          <p:nvPr/>
        </p:nvCxnSpPr>
        <p:spPr>
          <a:xfrm>
            <a:off x="3776472" y="2587752"/>
            <a:ext cx="0" cy="164592"/>
          </a:xfrm>
          <a:prstGeom prst="line">
            <a:avLst/>
          </a:prstGeom>
          <a:ln w="13970">
            <a:solidFill>
              <a:srgbClr val="7F8EA3"/>
            </a:solidFill>
            <a:tailEnd type="none"/>
            <a:headEnd type="none"/>
          </a:ln>
        </p:spPr>
      </p:cxnSp>
      <p:cxnSp>
        <p:nvCxnSpPr>
          <p:cNvPr id="14" name="Connector 14"/>
          <p:cNvCxnSpPr/>
          <p:nvPr/>
        </p:nvCxnSpPr>
        <p:spPr>
          <a:xfrm>
            <a:off x="2011680" y="2752344"/>
            <a:ext cx="3520440" cy="0"/>
          </a:xfrm>
          <a:prstGeom prst="line">
            <a:avLst/>
          </a:prstGeom>
          <a:ln w="13970">
            <a:solidFill>
              <a:srgbClr val="7F8EA3"/>
            </a:solidFill>
            <a:tailEnd type="none"/>
            <a:headEnd type="none"/>
          </a:ln>
        </p:spPr>
      </p:cxnSp>
      <p:cxnSp>
        <p:nvCxnSpPr>
          <p:cNvPr id="15" name="Connector 15"/>
          <p:cNvCxnSpPr/>
          <p:nvPr/>
        </p:nvCxnSpPr>
        <p:spPr>
          <a:xfrm>
            <a:off x="2011680" y="2752344"/>
            <a:ext cx="0" cy="109728"/>
          </a:xfrm>
          <a:prstGeom prst="line">
            <a:avLst/>
          </a:prstGeom>
          <a:ln w="13970">
            <a:solidFill>
              <a:srgbClr val="7F8EA3"/>
            </a:solidFill>
            <a:tailEnd type="none"/>
            <a:headEnd type="none"/>
          </a:ln>
        </p:spPr>
      </p:cxnSp>
      <p:cxnSp>
        <p:nvCxnSpPr>
          <p:cNvPr id="16" name="Connector 16"/>
          <p:cNvCxnSpPr/>
          <p:nvPr/>
        </p:nvCxnSpPr>
        <p:spPr>
          <a:xfrm>
            <a:off x="5532120" y="2752344"/>
            <a:ext cx="0" cy="109728"/>
          </a:xfrm>
          <a:prstGeom prst="line">
            <a:avLst/>
          </a:prstGeom>
          <a:ln w="13970">
            <a:solidFill>
              <a:srgbClr val="7F8EA3"/>
            </a:solidFill>
            <a:tailEnd type="none"/>
            <a:headEnd type="none"/>
          </a:ln>
        </p:spPr>
      </p:cxnSp>
      <p:sp>
        <p:nvSpPr>
          <p:cNvPr id="17" name="Shape 17"/>
          <p:cNvSpPr/>
          <p:nvPr/>
        </p:nvSpPr>
        <p:spPr>
          <a:xfrm>
            <a:off x="493776" y="2862072"/>
            <a:ext cx="3035808" cy="795528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2F9A67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493776" y="2999232"/>
            <a:ext cx="3035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000" b="1" dirty="0">
                <a:solidFill>
                  <a:srgbClr val="168653"/>
                </a:solidFill>
                <a:latin typeface="Arial"/>
              </a:rPr>
              <a:t>OFFLINE DETERMINISTIC RUN</a:t>
            </a:r>
            <a:endParaRPr lang="en-US" sz="1000"/>
          </a:p>
        </p:txBody>
      </p:sp>
      <p:sp>
        <p:nvSpPr>
          <p:cNvPr id="19" name="Text 19"/>
          <p:cNvSpPr txBox="1"/>
          <p:nvPr/>
        </p:nvSpPr>
        <p:spPr>
          <a:xfrm>
            <a:off x="493776" y="3218688"/>
            <a:ext cx="303580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0" dirty="0">
                <a:solidFill>
                  <a:srgbClr val="172033"/>
                </a:solidFill>
                <a:latin typeface="Arial"/>
              </a:rPr>
              <a:t>Recorded model outputs</a:t>
            </a:r>
            <a:endParaRPr lang="en-US" sz="850"/>
          </a:p>
        </p:txBody>
      </p:sp>
      <p:sp>
        <p:nvSpPr>
          <p:cNvPr id="20" name="Text 20"/>
          <p:cNvSpPr txBox="1"/>
          <p:nvPr/>
        </p:nvSpPr>
        <p:spPr>
          <a:xfrm>
            <a:off x="640080" y="3447288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50" b="0" dirty="0">
                <a:solidFill>
                  <a:srgbClr val="5F6B7A"/>
                </a:solidFill>
                <a:latin typeface="Arial"/>
              </a:rPr>
              <a:t>Tests orchestration, tools, controls, state, and graders</a:t>
            </a:r>
            <a:endParaRPr lang="en-US" sz="750"/>
          </a:p>
        </p:txBody>
      </p:sp>
      <p:sp>
        <p:nvSpPr>
          <p:cNvPr id="21" name="Shape 21"/>
          <p:cNvSpPr/>
          <p:nvPr/>
        </p:nvSpPr>
        <p:spPr>
          <a:xfrm>
            <a:off x="4014216" y="2862072"/>
            <a:ext cx="3035808" cy="795528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E4B264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4014216" y="2999232"/>
            <a:ext cx="3035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000" b="1" dirty="0">
                <a:solidFill>
                  <a:srgbClr val="B65F00"/>
                </a:solidFill>
                <a:latin typeface="Arial"/>
              </a:rPr>
              <a:t>LIVE MODEL RUN</a:t>
            </a:r>
            <a:endParaRPr lang="en-US" sz="1000"/>
          </a:p>
        </p:txBody>
      </p:sp>
      <p:sp>
        <p:nvSpPr>
          <p:cNvPr id="23" name="Text 23"/>
          <p:cNvSpPr txBox="1"/>
          <p:nvPr/>
        </p:nvSpPr>
        <p:spPr>
          <a:xfrm>
            <a:off x="4014216" y="3218688"/>
            <a:ext cx="303580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50" b="0" dirty="0">
                <a:solidFill>
                  <a:srgbClr val="172033"/>
                </a:solidFill>
                <a:latin typeface="Arial"/>
              </a:rPr>
              <a:t>Current prompt + model API</a:t>
            </a:r>
            <a:endParaRPr lang="en-US" sz="850"/>
          </a:p>
        </p:txBody>
      </p:sp>
      <p:sp>
        <p:nvSpPr>
          <p:cNvPr id="24" name="Text 24"/>
          <p:cNvSpPr txBox="1"/>
          <p:nvPr/>
        </p:nvSpPr>
        <p:spPr>
          <a:xfrm>
            <a:off x="4160520" y="3447288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50" b="0" dirty="0">
                <a:solidFill>
                  <a:srgbClr val="5F6B7A"/>
                </a:solidFill>
                <a:latin typeface="Arial"/>
              </a:rPr>
              <a:t>Tests interpretation, prompt quality, and integration</a:t>
            </a:r>
            <a:endParaRPr lang="en-US" sz="750"/>
          </a:p>
        </p:txBody>
      </p:sp>
      <p:cxnSp>
        <p:nvCxnSpPr>
          <p:cNvPr id="25" name="Connector 25"/>
          <p:cNvCxnSpPr/>
          <p:nvPr/>
        </p:nvCxnSpPr>
        <p:spPr>
          <a:xfrm>
            <a:off x="2011680" y="3657600"/>
            <a:ext cx="0" cy="137160"/>
          </a:xfrm>
          <a:prstGeom prst="line">
            <a:avLst/>
          </a:prstGeom>
          <a:ln w="13970">
            <a:solidFill>
              <a:srgbClr val="7F8EA3"/>
            </a:solidFill>
            <a:tailEnd type="none"/>
            <a:headEnd type="none"/>
          </a:ln>
        </p:spPr>
      </p:cxnSp>
      <p:cxnSp>
        <p:nvCxnSpPr>
          <p:cNvPr id="26" name="Connector 26"/>
          <p:cNvCxnSpPr/>
          <p:nvPr/>
        </p:nvCxnSpPr>
        <p:spPr>
          <a:xfrm>
            <a:off x="5532120" y="3657600"/>
            <a:ext cx="0" cy="137160"/>
          </a:xfrm>
          <a:prstGeom prst="line">
            <a:avLst/>
          </a:prstGeom>
          <a:ln w="13970">
            <a:solidFill>
              <a:srgbClr val="7F8EA3"/>
            </a:solidFill>
            <a:tailEnd type="none"/>
            <a:headEnd type="none"/>
          </a:ln>
        </p:spPr>
      </p:cxnSp>
      <p:cxnSp>
        <p:nvCxnSpPr>
          <p:cNvPr id="27" name="Connector 27"/>
          <p:cNvCxnSpPr/>
          <p:nvPr/>
        </p:nvCxnSpPr>
        <p:spPr>
          <a:xfrm>
            <a:off x="2011680" y="3794760"/>
            <a:ext cx="3520440" cy="0"/>
          </a:xfrm>
          <a:prstGeom prst="line">
            <a:avLst/>
          </a:prstGeom>
          <a:ln w="13970">
            <a:solidFill>
              <a:srgbClr val="7F8EA3"/>
            </a:solidFill>
            <a:tailEnd type="none"/>
            <a:headEnd type="none"/>
          </a:ln>
        </p:spPr>
      </p:cxnSp>
      <p:cxnSp>
        <p:nvCxnSpPr>
          <p:cNvPr id="28" name="Connector 28"/>
          <p:cNvCxnSpPr/>
          <p:nvPr/>
        </p:nvCxnSpPr>
        <p:spPr>
          <a:xfrm>
            <a:off x="3776472" y="3794760"/>
            <a:ext cx="0" cy="109728"/>
          </a:xfrm>
          <a:prstGeom prst="line">
            <a:avLst/>
          </a:prstGeom>
          <a:ln w="13970">
            <a:solidFill>
              <a:srgbClr val="7F8EA3"/>
            </a:solidFill>
            <a:tailEnd type="none"/>
            <a:headEnd type="none"/>
          </a:ln>
        </p:spPr>
      </p:cxnSp>
      <p:sp>
        <p:nvSpPr>
          <p:cNvPr id="29" name="Shape 29"/>
          <p:cNvSpPr/>
          <p:nvPr/>
        </p:nvSpPr>
        <p:spPr>
          <a:xfrm>
            <a:off x="1865376" y="3904488"/>
            <a:ext cx="3813048" cy="365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AEB8C8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1865376" y="3986784"/>
            <a:ext cx="38130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020" b="1" dirty="0">
                <a:solidFill>
                  <a:srgbClr val="172033"/>
                </a:solidFill>
                <a:latin typeface="Arial"/>
              </a:rPr>
              <a:t>HYBRID EVALUATION REPORT</a:t>
            </a:r>
            <a:endParaRPr lang="en-US" sz="1020"/>
          </a:p>
        </p:txBody>
      </p:sp>
      <p:sp>
        <p:nvSpPr>
          <p:cNvPr id="31" name="Shape 31"/>
          <p:cNvSpPr/>
          <p:nvPr/>
        </p:nvSpPr>
        <p:spPr>
          <a:xfrm>
            <a:off x="7434072" y="2148840"/>
            <a:ext cx="4261104" cy="2121408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AAC3E4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7626096" y="233172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100" b="1" dirty="0">
                <a:solidFill>
                  <a:srgbClr val="2563A8"/>
                </a:solidFill>
                <a:latin typeface="Arial"/>
              </a:rPr>
              <a:t>EACH BENCHMARK RUN REPORTS</a:t>
            </a:r>
            <a:endParaRPr lang="en-US" sz="1100"/>
          </a:p>
        </p:txBody>
      </p:sp>
      <p:sp>
        <p:nvSpPr>
          <p:cNvPr id="33" name="Shape 33"/>
          <p:cNvSpPr/>
          <p:nvPr/>
        </p:nvSpPr>
        <p:spPr>
          <a:xfrm>
            <a:off x="7626096" y="2578608"/>
            <a:ext cx="3886200" cy="320040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EEF4FC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7763256" y="2642616"/>
            <a:ext cx="155448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1" dirty="0">
                <a:solidFill>
                  <a:srgbClr val="2563A8"/>
                </a:solidFill>
                <a:latin typeface="Arial"/>
              </a:rPr>
              <a:t>Outcome / code checks</a:t>
            </a:r>
            <a:endParaRPr lang="en-US" sz="850"/>
          </a:p>
        </p:txBody>
      </p:sp>
      <p:sp>
        <p:nvSpPr>
          <p:cNvPr id="35" name="Text 35"/>
          <p:cNvSpPr txBox="1"/>
          <p:nvPr/>
        </p:nvSpPr>
        <p:spPr>
          <a:xfrm>
            <a:off x="9226296" y="2642616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80" b="0" dirty="0">
                <a:solidFill>
                  <a:srgbClr val="5F6B7A"/>
                </a:solidFill>
                <a:latin typeface="Arial"/>
              </a:rPr>
              <a:t>Expected business result</a:t>
            </a:r>
            <a:endParaRPr lang="en-US" sz="780"/>
          </a:p>
        </p:txBody>
      </p:sp>
      <p:sp>
        <p:nvSpPr>
          <p:cNvPr id="36" name="Shape 36"/>
          <p:cNvSpPr/>
          <p:nvPr/>
        </p:nvSpPr>
        <p:spPr>
          <a:xfrm>
            <a:off x="7626096" y="2971800"/>
            <a:ext cx="3886200" cy="32004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FFF7E8"/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7763256" y="3035808"/>
            <a:ext cx="155448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1" dirty="0">
                <a:solidFill>
                  <a:srgbClr val="B65F00"/>
                </a:solidFill>
                <a:latin typeface="Arial"/>
              </a:rPr>
              <a:t>Trajectory checks</a:t>
            </a:r>
            <a:endParaRPr lang="en-US" sz="850"/>
          </a:p>
        </p:txBody>
      </p:sp>
      <p:sp>
        <p:nvSpPr>
          <p:cNvPr id="38" name="Text 38"/>
          <p:cNvSpPr txBox="1"/>
          <p:nvPr/>
        </p:nvSpPr>
        <p:spPr>
          <a:xfrm>
            <a:off x="9226296" y="3035808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80" b="0" dirty="0">
                <a:solidFill>
                  <a:srgbClr val="5F6B7A"/>
                </a:solidFill>
                <a:latin typeface="Arial"/>
              </a:rPr>
              <a:t>Required steps and dependencies</a:t>
            </a:r>
            <a:endParaRPr lang="en-US" sz="780"/>
          </a:p>
        </p:txBody>
      </p:sp>
      <p:sp>
        <p:nvSpPr>
          <p:cNvPr id="39" name="Shape 39"/>
          <p:cNvSpPr/>
          <p:nvPr/>
        </p:nvSpPr>
        <p:spPr>
          <a:xfrm>
            <a:off x="7626096" y="3364992"/>
            <a:ext cx="3886200" cy="320040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FF1F1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7763256" y="3429000"/>
            <a:ext cx="155448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1" dirty="0">
                <a:solidFill>
                  <a:srgbClr val="C83B3B"/>
                </a:solidFill>
                <a:latin typeface="Arial"/>
              </a:rPr>
              <a:t>Safety checks</a:t>
            </a:r>
            <a:endParaRPr lang="en-US" sz="850"/>
          </a:p>
        </p:txBody>
      </p:sp>
      <p:sp>
        <p:nvSpPr>
          <p:cNvPr id="41" name="Text 41"/>
          <p:cNvSpPr txBox="1"/>
          <p:nvPr/>
        </p:nvSpPr>
        <p:spPr>
          <a:xfrm>
            <a:off x="9226296" y="3429000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80" b="0" dirty="0">
                <a:solidFill>
                  <a:srgbClr val="5F6B7A"/>
                </a:solidFill>
                <a:latin typeface="Arial"/>
              </a:rPr>
              <a:t>Prohibited actions avoided</a:t>
            </a:r>
            <a:endParaRPr lang="en-US" sz="780"/>
          </a:p>
        </p:txBody>
      </p:sp>
      <p:sp>
        <p:nvSpPr>
          <p:cNvPr id="42" name="Shape 42"/>
          <p:cNvSpPr/>
          <p:nvPr/>
        </p:nvSpPr>
        <p:spPr>
          <a:xfrm>
            <a:off x="7626096" y="3758184"/>
            <a:ext cx="3886200" cy="320040"/>
          </a:xfrm>
          <a:prstGeom prst="roundRect">
            <a:avLst/>
          </a:prstGeom>
          <a:solidFill>
            <a:srgbClr val="EDF9F2"/>
          </a:solidFill>
          <a:ln w="12700">
            <a:solidFill>
              <a:srgbClr val="EDF9F2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7763256" y="3822192"/>
            <a:ext cx="155448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850" b="1" dirty="0">
                <a:solidFill>
                  <a:srgbClr val="168653"/>
                </a:solidFill>
                <a:latin typeface="Arial"/>
              </a:rPr>
              <a:t>Operational metrics</a:t>
            </a:r>
            <a:endParaRPr lang="en-US" sz="850"/>
          </a:p>
        </p:txBody>
      </p:sp>
      <p:sp>
        <p:nvSpPr>
          <p:cNvPr id="44" name="Text 44"/>
          <p:cNvSpPr txBox="1"/>
          <p:nvPr/>
        </p:nvSpPr>
        <p:spPr>
          <a:xfrm>
            <a:off x="9226296" y="3822192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80" b="0" dirty="0">
                <a:solidFill>
                  <a:srgbClr val="5F6B7A"/>
                </a:solidFill>
                <a:latin typeface="Arial"/>
              </a:rPr>
              <a:t>Calls, tokens, cost, and latency</a:t>
            </a:r>
            <a:endParaRPr lang="en-US" sz="780"/>
          </a:p>
        </p:txBody>
      </p:sp>
      <p:sp>
        <p:nvSpPr>
          <p:cNvPr id="45" name="Text 45"/>
          <p:cNvSpPr txBox="1"/>
          <p:nvPr/>
        </p:nvSpPr>
        <p:spPr>
          <a:xfrm>
            <a:off x="493776" y="4407408"/>
            <a:ext cx="32461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50" b="1" dirty="0">
                <a:solidFill>
                  <a:srgbClr val="172033"/>
                </a:solidFill>
                <a:latin typeface="Arial"/>
              </a:rPr>
              <a:t>ILLUSTRATIVE VERSION COMPARISONS</a:t>
            </a:r>
            <a:endParaRPr lang="en-US" sz="1050"/>
          </a:p>
        </p:txBody>
      </p:sp>
      <p:sp>
        <p:nvSpPr>
          <p:cNvPr id="46" name="Text 46"/>
          <p:cNvSpPr txBox="1"/>
          <p:nvPr/>
        </p:nvSpPr>
        <p:spPr>
          <a:xfrm>
            <a:off x="3849624" y="4407408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90" b="0" dirty="0">
                <a:solidFill>
                  <a:srgbClr val="5F6B7A"/>
                </a:solidFill>
                <a:latin typeface="Arial"/>
              </a:rPr>
              <a:t>Example values—not measured project results</a:t>
            </a:r>
            <a:endParaRPr lang="en-US" sz="790"/>
          </a:p>
        </p:txBody>
      </p:sp>
      <p:sp>
        <p:nvSpPr>
          <p:cNvPr id="47" name="Shape 47"/>
          <p:cNvSpPr/>
          <p:nvPr/>
        </p:nvSpPr>
        <p:spPr>
          <a:xfrm>
            <a:off x="493776" y="4681728"/>
            <a:ext cx="548640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653"/>
            </a:solidFill>
          </a:ln>
        </p:spPr>
      </p:sp>
      <p:sp>
        <p:nvSpPr>
          <p:cNvPr id="48" name="Shape 48"/>
          <p:cNvSpPr/>
          <p:nvPr/>
        </p:nvSpPr>
        <p:spPr>
          <a:xfrm>
            <a:off x="493776" y="4681728"/>
            <a:ext cx="5486400" cy="292608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E6F6ED"/>
            </a:solidFill>
          </a:ln>
        </p:spPr>
      </p:sp>
      <p:sp>
        <p:nvSpPr>
          <p:cNvPr id="49" name="Text 49"/>
          <p:cNvSpPr txBox="1"/>
          <p:nvPr/>
        </p:nvSpPr>
        <p:spPr>
          <a:xfrm>
            <a:off x="658368" y="4736592"/>
            <a:ext cx="515721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60" b="1" dirty="0">
                <a:solidFill>
                  <a:srgbClr val="168653"/>
                </a:solidFill>
                <a:latin typeface="Arial"/>
              </a:rPr>
              <a:t>MODEL UPGRADE — HIGHER QUALITY, HIGHER COST</a:t>
            </a:r>
            <a:endParaRPr lang="en-US" sz="960"/>
          </a:p>
        </p:txBody>
      </p:sp>
      <p:sp>
        <p:nvSpPr>
          <p:cNvPr id="50" name="Text 50"/>
          <p:cNvSpPr txBox="1"/>
          <p:nvPr/>
        </p:nvSpPr>
        <p:spPr>
          <a:xfrm>
            <a:off x="658368" y="5038344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80" b="1" dirty="0">
                <a:solidFill>
                  <a:srgbClr val="172033"/>
                </a:solidFill>
                <a:latin typeface="Arial"/>
              </a:rPr>
              <a:t>Result</a:t>
            </a:r>
            <a:endParaRPr lang="en-US" sz="780"/>
          </a:p>
        </p:txBody>
      </p:sp>
      <p:sp>
        <p:nvSpPr>
          <p:cNvPr id="51" name="Text 51"/>
          <p:cNvSpPr txBox="1"/>
          <p:nvPr/>
        </p:nvSpPr>
        <p:spPr>
          <a:xfrm>
            <a:off x="3346704" y="5038344"/>
            <a:ext cx="132588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80" b="1" dirty="0">
                <a:solidFill>
                  <a:srgbClr val="172033"/>
                </a:solidFill>
                <a:latin typeface="Arial"/>
              </a:rPr>
              <a:t>Current model</a:t>
            </a:r>
            <a:endParaRPr lang="en-US" sz="780"/>
          </a:p>
        </p:txBody>
      </p:sp>
      <p:sp>
        <p:nvSpPr>
          <p:cNvPr id="52" name="Text 52"/>
          <p:cNvSpPr txBox="1"/>
          <p:nvPr/>
        </p:nvSpPr>
        <p:spPr>
          <a:xfrm>
            <a:off x="4809744" y="5038344"/>
            <a:ext cx="98755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80" b="1" dirty="0">
                <a:solidFill>
                  <a:srgbClr val="168653"/>
                </a:solidFill>
                <a:latin typeface="Arial"/>
              </a:rPr>
              <a:t>Advanced model</a:t>
            </a:r>
            <a:endParaRPr lang="en-US" sz="780"/>
          </a:p>
        </p:txBody>
      </p:sp>
      <p:cxnSp>
        <p:nvCxnSpPr>
          <p:cNvPr id="53" name="Connector 53"/>
          <p:cNvCxnSpPr/>
          <p:nvPr/>
        </p:nvCxnSpPr>
        <p:spPr>
          <a:xfrm>
            <a:off x="658368" y="5230368"/>
            <a:ext cx="5157216" cy="0"/>
          </a:xfrm>
          <a:prstGeom prst="line">
            <a:avLst/>
          </a:prstGeom>
          <a:ln w="8890">
            <a:solidFill>
              <a:srgbClr val="D8DEE8"/>
            </a:solidFill>
            <a:tailEnd type="none"/>
            <a:headEnd type="none"/>
          </a:ln>
        </p:spPr>
      </p:cxnSp>
      <p:sp>
        <p:nvSpPr>
          <p:cNvPr id="54" name="Text 54"/>
          <p:cNvSpPr txBox="1"/>
          <p:nvPr/>
        </p:nvSpPr>
        <p:spPr>
          <a:xfrm>
            <a:off x="658368" y="5294376"/>
            <a:ext cx="2468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25" b="0" dirty="0">
                <a:solidFill>
                  <a:srgbClr val="172033"/>
                </a:solidFill>
                <a:latin typeface="Arial"/>
              </a:rPr>
              <a:t>Scenarios passed</a:t>
            </a:r>
            <a:endParaRPr lang="en-US" sz="725"/>
          </a:p>
        </p:txBody>
      </p:sp>
      <p:sp>
        <p:nvSpPr>
          <p:cNvPr id="55" name="Text 55"/>
          <p:cNvSpPr txBox="1"/>
          <p:nvPr/>
        </p:nvSpPr>
        <p:spPr>
          <a:xfrm>
            <a:off x="3346704" y="5294376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5" b="0" dirty="0">
                <a:solidFill>
                  <a:srgbClr val="5F6B7A"/>
                </a:solidFill>
                <a:latin typeface="Arial"/>
              </a:rPr>
              <a:t>8/10</a:t>
            </a:r>
            <a:endParaRPr lang="en-US" sz="725"/>
          </a:p>
        </p:txBody>
      </p:sp>
      <p:sp>
        <p:nvSpPr>
          <p:cNvPr id="56" name="Text 56"/>
          <p:cNvSpPr txBox="1"/>
          <p:nvPr/>
        </p:nvSpPr>
        <p:spPr>
          <a:xfrm>
            <a:off x="4681728" y="5294376"/>
            <a:ext cx="126187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10" b="0" dirty="0">
                <a:solidFill>
                  <a:srgbClr val="168653"/>
                </a:solidFill>
                <a:latin typeface="Arial"/>
              </a:rPr>
              <a:t>9/10</a:t>
            </a:r>
            <a:endParaRPr lang="en-US" sz="710"/>
          </a:p>
        </p:txBody>
      </p:sp>
      <p:sp>
        <p:nvSpPr>
          <p:cNvPr id="57" name="Text 57"/>
          <p:cNvSpPr txBox="1"/>
          <p:nvPr/>
        </p:nvSpPr>
        <p:spPr>
          <a:xfrm>
            <a:off x="658368" y="5454396"/>
            <a:ext cx="2468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25" b="0" dirty="0">
                <a:solidFill>
                  <a:srgbClr val="172033"/>
                </a:solidFill>
                <a:latin typeface="Arial"/>
              </a:rPr>
              <a:t>Correct routing / trajectory</a:t>
            </a:r>
            <a:endParaRPr lang="en-US" sz="725"/>
          </a:p>
        </p:txBody>
      </p:sp>
      <p:sp>
        <p:nvSpPr>
          <p:cNvPr id="58" name="Text 58"/>
          <p:cNvSpPr txBox="1"/>
          <p:nvPr/>
        </p:nvSpPr>
        <p:spPr>
          <a:xfrm>
            <a:off x="3346704" y="5454396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5" b="0" dirty="0">
                <a:solidFill>
                  <a:srgbClr val="5F6B7A"/>
                </a:solidFill>
                <a:latin typeface="Arial"/>
              </a:rPr>
              <a:t>90% / 80%</a:t>
            </a:r>
            <a:endParaRPr lang="en-US" sz="725"/>
          </a:p>
        </p:txBody>
      </p:sp>
      <p:sp>
        <p:nvSpPr>
          <p:cNvPr id="59" name="Text 59"/>
          <p:cNvSpPr txBox="1"/>
          <p:nvPr/>
        </p:nvSpPr>
        <p:spPr>
          <a:xfrm>
            <a:off x="4681728" y="5454396"/>
            <a:ext cx="126187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10" b="0" dirty="0">
                <a:solidFill>
                  <a:srgbClr val="168653"/>
                </a:solidFill>
                <a:latin typeface="Arial"/>
              </a:rPr>
              <a:t>100% / 90%</a:t>
            </a:r>
            <a:endParaRPr lang="en-US" sz="710"/>
          </a:p>
        </p:txBody>
      </p:sp>
      <p:sp>
        <p:nvSpPr>
          <p:cNvPr id="60" name="Text 60"/>
          <p:cNvSpPr txBox="1"/>
          <p:nvPr/>
        </p:nvSpPr>
        <p:spPr>
          <a:xfrm>
            <a:off x="658368" y="5614416"/>
            <a:ext cx="2468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25" b="0" dirty="0">
                <a:solidFill>
                  <a:srgbClr val="172033"/>
                </a:solidFill>
                <a:latin typeface="Arial"/>
              </a:rPr>
              <a:t>Structured output</a:t>
            </a:r>
            <a:endParaRPr lang="en-US" sz="725"/>
          </a:p>
        </p:txBody>
      </p:sp>
      <p:sp>
        <p:nvSpPr>
          <p:cNvPr id="61" name="Text 61"/>
          <p:cNvSpPr txBox="1"/>
          <p:nvPr/>
        </p:nvSpPr>
        <p:spPr>
          <a:xfrm>
            <a:off x="3346704" y="5614416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5" b="0" dirty="0">
                <a:solidFill>
                  <a:srgbClr val="5F6B7A"/>
                </a:solidFill>
                <a:latin typeface="Arial"/>
              </a:rPr>
              <a:t>100%</a:t>
            </a:r>
            <a:endParaRPr lang="en-US" sz="725"/>
          </a:p>
        </p:txBody>
      </p:sp>
      <p:sp>
        <p:nvSpPr>
          <p:cNvPr id="62" name="Text 62"/>
          <p:cNvSpPr txBox="1"/>
          <p:nvPr/>
        </p:nvSpPr>
        <p:spPr>
          <a:xfrm>
            <a:off x="4681728" y="5614416"/>
            <a:ext cx="126187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10" b="0" dirty="0">
                <a:solidFill>
                  <a:srgbClr val="168653"/>
                </a:solidFill>
                <a:latin typeface="Arial"/>
              </a:rPr>
              <a:t>100%</a:t>
            </a:r>
            <a:endParaRPr lang="en-US" sz="710"/>
          </a:p>
        </p:txBody>
      </p:sp>
      <p:sp>
        <p:nvSpPr>
          <p:cNvPr id="63" name="Text 63"/>
          <p:cNvSpPr txBox="1"/>
          <p:nvPr/>
        </p:nvSpPr>
        <p:spPr>
          <a:xfrm>
            <a:off x="658368" y="5774436"/>
            <a:ext cx="2468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25" b="0" dirty="0">
                <a:solidFill>
                  <a:srgbClr val="172033"/>
                </a:solidFill>
                <a:latin typeface="Arial"/>
              </a:rPr>
              <a:t>Average API calls</a:t>
            </a:r>
            <a:endParaRPr lang="en-US" sz="725"/>
          </a:p>
        </p:txBody>
      </p:sp>
      <p:sp>
        <p:nvSpPr>
          <p:cNvPr id="64" name="Text 64"/>
          <p:cNvSpPr txBox="1"/>
          <p:nvPr/>
        </p:nvSpPr>
        <p:spPr>
          <a:xfrm>
            <a:off x="3346704" y="5774436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5" b="0" dirty="0">
                <a:solidFill>
                  <a:srgbClr val="5F6B7A"/>
                </a:solidFill>
                <a:latin typeface="Arial"/>
              </a:rPr>
              <a:t>2.4</a:t>
            </a:r>
            <a:endParaRPr lang="en-US" sz="725"/>
          </a:p>
        </p:txBody>
      </p:sp>
      <p:sp>
        <p:nvSpPr>
          <p:cNvPr id="65" name="Text 65"/>
          <p:cNvSpPr txBox="1"/>
          <p:nvPr/>
        </p:nvSpPr>
        <p:spPr>
          <a:xfrm>
            <a:off x="4681728" y="5774436"/>
            <a:ext cx="126187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10" b="0" dirty="0">
                <a:solidFill>
                  <a:srgbClr val="B65F00"/>
                </a:solidFill>
                <a:latin typeface="Arial"/>
              </a:rPr>
              <a:t>3.1</a:t>
            </a:r>
            <a:endParaRPr lang="en-US" sz="710"/>
          </a:p>
        </p:txBody>
      </p:sp>
      <p:sp>
        <p:nvSpPr>
          <p:cNvPr id="66" name="Text 66"/>
          <p:cNvSpPr txBox="1"/>
          <p:nvPr/>
        </p:nvSpPr>
        <p:spPr>
          <a:xfrm>
            <a:off x="658368" y="5934456"/>
            <a:ext cx="2468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25" b="0" dirty="0">
                <a:solidFill>
                  <a:srgbClr val="172033"/>
                </a:solidFill>
                <a:latin typeface="Arial"/>
              </a:rPr>
              <a:t>Cost / latency</a:t>
            </a:r>
            <a:endParaRPr lang="en-US" sz="725"/>
          </a:p>
        </p:txBody>
      </p:sp>
      <p:sp>
        <p:nvSpPr>
          <p:cNvPr id="67" name="Text 67"/>
          <p:cNvSpPr txBox="1"/>
          <p:nvPr/>
        </p:nvSpPr>
        <p:spPr>
          <a:xfrm>
            <a:off x="3346704" y="5934456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5" b="0" dirty="0">
                <a:solidFill>
                  <a:srgbClr val="5F6B7A"/>
                </a:solidFill>
                <a:latin typeface="Arial"/>
              </a:rPr>
              <a:t>$0.028 / 2.9s</a:t>
            </a:r>
            <a:endParaRPr lang="en-US" sz="725"/>
          </a:p>
        </p:txBody>
      </p:sp>
      <p:sp>
        <p:nvSpPr>
          <p:cNvPr id="68" name="Text 68"/>
          <p:cNvSpPr txBox="1"/>
          <p:nvPr/>
        </p:nvSpPr>
        <p:spPr>
          <a:xfrm>
            <a:off x="4681728" y="5934456"/>
            <a:ext cx="126187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10" b="0" dirty="0">
                <a:solidFill>
                  <a:srgbClr val="B65F00"/>
                </a:solidFill>
                <a:latin typeface="Arial"/>
              </a:rPr>
              <a:t>$0.052 / 4.2s</a:t>
            </a:r>
            <a:endParaRPr lang="en-US" sz="710"/>
          </a:p>
        </p:txBody>
      </p:sp>
      <p:sp>
        <p:nvSpPr>
          <p:cNvPr id="69" name="Text 69"/>
          <p:cNvSpPr txBox="1"/>
          <p:nvPr/>
        </p:nvSpPr>
        <p:spPr>
          <a:xfrm>
            <a:off x="658368" y="6094476"/>
            <a:ext cx="2468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25" b="1" dirty="0">
                <a:solidFill>
                  <a:srgbClr val="172033"/>
                </a:solidFill>
                <a:latin typeface="Arial"/>
              </a:rPr>
              <a:t>Decision</a:t>
            </a:r>
            <a:endParaRPr lang="en-US" sz="725"/>
          </a:p>
        </p:txBody>
      </p:sp>
      <p:sp>
        <p:nvSpPr>
          <p:cNvPr id="70" name="Text 70"/>
          <p:cNvSpPr txBox="1"/>
          <p:nvPr/>
        </p:nvSpPr>
        <p:spPr>
          <a:xfrm>
            <a:off x="3346704" y="6094476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5" b="0" dirty="0">
                <a:solidFill>
                  <a:srgbClr val="5F6B7A"/>
                </a:solidFill>
                <a:latin typeface="Arial"/>
              </a:rPr>
              <a:t>Baseline</a:t>
            </a:r>
            <a:endParaRPr lang="en-US" sz="725"/>
          </a:p>
        </p:txBody>
      </p:sp>
      <p:sp>
        <p:nvSpPr>
          <p:cNvPr id="71" name="Text 71"/>
          <p:cNvSpPr txBox="1"/>
          <p:nvPr/>
        </p:nvSpPr>
        <p:spPr>
          <a:xfrm>
            <a:off x="4681728" y="6094476"/>
            <a:ext cx="126187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10" b="1" dirty="0">
                <a:solidFill>
                  <a:srgbClr val="168653"/>
                </a:solidFill>
                <a:latin typeface="Arial"/>
              </a:rPr>
              <a:t>Weigh quality vs. cost</a:t>
            </a:r>
            <a:endParaRPr lang="en-US" sz="710"/>
          </a:p>
        </p:txBody>
      </p:sp>
      <p:sp>
        <p:nvSpPr>
          <p:cNvPr id="72" name="Shape 72"/>
          <p:cNvSpPr/>
          <p:nvPr/>
        </p:nvSpPr>
        <p:spPr>
          <a:xfrm>
            <a:off x="6208776" y="4681728"/>
            <a:ext cx="548640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3B3B"/>
            </a:solidFill>
          </a:ln>
        </p:spPr>
      </p:sp>
      <p:sp>
        <p:nvSpPr>
          <p:cNvPr id="73" name="Shape 73"/>
          <p:cNvSpPr/>
          <p:nvPr/>
        </p:nvSpPr>
        <p:spPr>
          <a:xfrm>
            <a:off x="6208776" y="4681728"/>
            <a:ext cx="5486400" cy="292608"/>
          </a:xfrm>
          <a:prstGeom prst="roundRect">
            <a:avLst/>
          </a:prstGeom>
          <a:solidFill>
            <a:srgbClr val="FDEAEA"/>
          </a:solidFill>
          <a:ln w="12700">
            <a:solidFill>
              <a:srgbClr val="FDEAEA"/>
            </a:solidFill>
          </a:ln>
        </p:spPr>
      </p:sp>
      <p:sp>
        <p:nvSpPr>
          <p:cNvPr id="74" name="Text 74"/>
          <p:cNvSpPr txBox="1"/>
          <p:nvPr/>
        </p:nvSpPr>
        <p:spPr>
          <a:xfrm>
            <a:off x="6373368" y="4736592"/>
            <a:ext cx="515721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960" b="1" dirty="0">
                <a:solidFill>
                  <a:srgbClr val="C83B3B"/>
                </a:solidFill>
                <a:latin typeface="Arial"/>
              </a:rPr>
              <a:t>PROMPT CHANGE — REGRESSION REQUIRES INVESTIGATION</a:t>
            </a:r>
            <a:endParaRPr lang="en-US" sz="960"/>
          </a:p>
        </p:txBody>
      </p:sp>
      <p:sp>
        <p:nvSpPr>
          <p:cNvPr id="75" name="Text 75"/>
          <p:cNvSpPr txBox="1"/>
          <p:nvPr/>
        </p:nvSpPr>
        <p:spPr>
          <a:xfrm>
            <a:off x="6373368" y="5038344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80" b="1" dirty="0">
                <a:solidFill>
                  <a:srgbClr val="172033"/>
                </a:solidFill>
                <a:latin typeface="Arial"/>
              </a:rPr>
              <a:t>Result</a:t>
            </a:r>
            <a:endParaRPr lang="en-US" sz="780"/>
          </a:p>
        </p:txBody>
      </p:sp>
      <p:sp>
        <p:nvSpPr>
          <p:cNvPr id="76" name="Text 76"/>
          <p:cNvSpPr txBox="1"/>
          <p:nvPr/>
        </p:nvSpPr>
        <p:spPr>
          <a:xfrm>
            <a:off x="9061704" y="5038344"/>
            <a:ext cx="132588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80" b="1" dirty="0">
                <a:solidFill>
                  <a:srgbClr val="172033"/>
                </a:solidFill>
                <a:latin typeface="Arial"/>
              </a:rPr>
              <a:t>Prompt v1</a:t>
            </a:r>
            <a:endParaRPr lang="en-US" sz="780"/>
          </a:p>
        </p:txBody>
      </p:sp>
      <p:sp>
        <p:nvSpPr>
          <p:cNvPr id="77" name="Text 77"/>
          <p:cNvSpPr txBox="1"/>
          <p:nvPr/>
        </p:nvSpPr>
        <p:spPr>
          <a:xfrm>
            <a:off x="10524744" y="5038344"/>
            <a:ext cx="98755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80" b="1" dirty="0">
                <a:solidFill>
                  <a:srgbClr val="C83B3B"/>
                </a:solidFill>
                <a:latin typeface="Arial"/>
              </a:rPr>
              <a:t>Prompt v2</a:t>
            </a:r>
            <a:endParaRPr lang="en-US" sz="780"/>
          </a:p>
        </p:txBody>
      </p:sp>
      <p:cxnSp>
        <p:nvCxnSpPr>
          <p:cNvPr id="78" name="Connector 78"/>
          <p:cNvCxnSpPr/>
          <p:nvPr/>
        </p:nvCxnSpPr>
        <p:spPr>
          <a:xfrm>
            <a:off x="6373368" y="5230368"/>
            <a:ext cx="5157216" cy="0"/>
          </a:xfrm>
          <a:prstGeom prst="line">
            <a:avLst/>
          </a:prstGeom>
          <a:ln w="8890">
            <a:solidFill>
              <a:srgbClr val="D8DEE8"/>
            </a:solidFill>
            <a:tailEnd type="none"/>
            <a:headEnd type="none"/>
          </a:ln>
        </p:spPr>
      </p:cxnSp>
      <p:sp>
        <p:nvSpPr>
          <p:cNvPr id="79" name="Text 79"/>
          <p:cNvSpPr txBox="1"/>
          <p:nvPr/>
        </p:nvSpPr>
        <p:spPr>
          <a:xfrm>
            <a:off x="6373368" y="5294376"/>
            <a:ext cx="2468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25" b="0" dirty="0">
                <a:solidFill>
                  <a:srgbClr val="172033"/>
                </a:solidFill>
                <a:latin typeface="Arial"/>
              </a:rPr>
              <a:t>Scenarios passed</a:t>
            </a:r>
            <a:endParaRPr lang="en-US" sz="725"/>
          </a:p>
        </p:txBody>
      </p:sp>
      <p:sp>
        <p:nvSpPr>
          <p:cNvPr id="80" name="Text 80"/>
          <p:cNvSpPr txBox="1"/>
          <p:nvPr/>
        </p:nvSpPr>
        <p:spPr>
          <a:xfrm>
            <a:off x="9061704" y="5294376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5" b="0" dirty="0">
                <a:solidFill>
                  <a:srgbClr val="5F6B7A"/>
                </a:solidFill>
                <a:latin typeface="Arial"/>
              </a:rPr>
              <a:t>9/10</a:t>
            </a:r>
            <a:endParaRPr lang="en-US" sz="725"/>
          </a:p>
        </p:txBody>
      </p:sp>
      <p:sp>
        <p:nvSpPr>
          <p:cNvPr id="81" name="Text 81"/>
          <p:cNvSpPr txBox="1"/>
          <p:nvPr/>
        </p:nvSpPr>
        <p:spPr>
          <a:xfrm>
            <a:off x="10396728" y="5294376"/>
            <a:ext cx="126187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10" b="0" dirty="0">
                <a:solidFill>
                  <a:srgbClr val="C83B3B"/>
                </a:solidFill>
                <a:latin typeface="Arial"/>
              </a:rPr>
              <a:t>7/10</a:t>
            </a:r>
            <a:endParaRPr lang="en-US" sz="710"/>
          </a:p>
        </p:txBody>
      </p:sp>
      <p:sp>
        <p:nvSpPr>
          <p:cNvPr id="82" name="Text 82"/>
          <p:cNvSpPr txBox="1"/>
          <p:nvPr/>
        </p:nvSpPr>
        <p:spPr>
          <a:xfrm>
            <a:off x="6373368" y="5454396"/>
            <a:ext cx="2468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25" b="0" dirty="0">
                <a:solidFill>
                  <a:srgbClr val="172033"/>
                </a:solidFill>
                <a:latin typeface="Arial"/>
              </a:rPr>
              <a:t>Correct routing / trajectory</a:t>
            </a:r>
            <a:endParaRPr lang="en-US" sz="725"/>
          </a:p>
        </p:txBody>
      </p:sp>
      <p:sp>
        <p:nvSpPr>
          <p:cNvPr id="83" name="Text 83"/>
          <p:cNvSpPr txBox="1"/>
          <p:nvPr/>
        </p:nvSpPr>
        <p:spPr>
          <a:xfrm>
            <a:off x="9061704" y="5454396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5" b="0" dirty="0">
                <a:solidFill>
                  <a:srgbClr val="5F6B7A"/>
                </a:solidFill>
                <a:latin typeface="Arial"/>
              </a:rPr>
              <a:t>100% / 90%</a:t>
            </a:r>
            <a:endParaRPr lang="en-US" sz="725"/>
          </a:p>
        </p:txBody>
      </p:sp>
      <p:sp>
        <p:nvSpPr>
          <p:cNvPr id="84" name="Text 84"/>
          <p:cNvSpPr txBox="1"/>
          <p:nvPr/>
        </p:nvSpPr>
        <p:spPr>
          <a:xfrm>
            <a:off x="10396728" y="5454396"/>
            <a:ext cx="126187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10" b="0" dirty="0">
                <a:solidFill>
                  <a:srgbClr val="C83B3B"/>
                </a:solidFill>
                <a:latin typeface="Arial"/>
              </a:rPr>
              <a:t>80% / 70%</a:t>
            </a:r>
            <a:endParaRPr lang="en-US" sz="710"/>
          </a:p>
        </p:txBody>
      </p:sp>
      <p:sp>
        <p:nvSpPr>
          <p:cNvPr id="85" name="Text 85"/>
          <p:cNvSpPr txBox="1"/>
          <p:nvPr/>
        </p:nvSpPr>
        <p:spPr>
          <a:xfrm>
            <a:off x="6373368" y="5614416"/>
            <a:ext cx="2468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25" b="0" dirty="0">
                <a:solidFill>
                  <a:srgbClr val="172033"/>
                </a:solidFill>
                <a:latin typeface="Arial"/>
              </a:rPr>
              <a:t>Structured output</a:t>
            </a:r>
            <a:endParaRPr lang="en-US" sz="725"/>
          </a:p>
        </p:txBody>
      </p:sp>
      <p:sp>
        <p:nvSpPr>
          <p:cNvPr id="86" name="Text 86"/>
          <p:cNvSpPr txBox="1"/>
          <p:nvPr/>
        </p:nvSpPr>
        <p:spPr>
          <a:xfrm>
            <a:off x="9061704" y="5614416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5" b="0" dirty="0">
                <a:solidFill>
                  <a:srgbClr val="5F6B7A"/>
                </a:solidFill>
                <a:latin typeface="Arial"/>
              </a:rPr>
              <a:t>100%</a:t>
            </a:r>
            <a:endParaRPr lang="en-US" sz="725"/>
          </a:p>
        </p:txBody>
      </p:sp>
      <p:sp>
        <p:nvSpPr>
          <p:cNvPr id="87" name="Text 87"/>
          <p:cNvSpPr txBox="1"/>
          <p:nvPr/>
        </p:nvSpPr>
        <p:spPr>
          <a:xfrm>
            <a:off x="10396728" y="5614416"/>
            <a:ext cx="126187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10" b="0" dirty="0">
                <a:solidFill>
                  <a:srgbClr val="C83B3B"/>
                </a:solidFill>
                <a:latin typeface="Arial"/>
              </a:rPr>
              <a:t>90%</a:t>
            </a:r>
            <a:endParaRPr lang="en-US" sz="710"/>
          </a:p>
        </p:txBody>
      </p:sp>
      <p:sp>
        <p:nvSpPr>
          <p:cNvPr id="88" name="Text 88"/>
          <p:cNvSpPr txBox="1"/>
          <p:nvPr/>
        </p:nvSpPr>
        <p:spPr>
          <a:xfrm>
            <a:off x="6373368" y="5774436"/>
            <a:ext cx="2468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25" b="0" dirty="0">
                <a:solidFill>
                  <a:srgbClr val="172033"/>
                </a:solidFill>
                <a:latin typeface="Arial"/>
              </a:rPr>
              <a:t>Average API calls</a:t>
            </a:r>
            <a:endParaRPr lang="en-US" sz="725"/>
          </a:p>
        </p:txBody>
      </p:sp>
      <p:sp>
        <p:nvSpPr>
          <p:cNvPr id="89" name="Text 89"/>
          <p:cNvSpPr txBox="1"/>
          <p:nvPr/>
        </p:nvSpPr>
        <p:spPr>
          <a:xfrm>
            <a:off x="9061704" y="5774436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5" b="0" dirty="0">
                <a:solidFill>
                  <a:srgbClr val="5F6B7A"/>
                </a:solidFill>
                <a:latin typeface="Arial"/>
              </a:rPr>
              <a:t>2.6</a:t>
            </a:r>
            <a:endParaRPr lang="en-US" sz="725"/>
          </a:p>
        </p:txBody>
      </p:sp>
      <p:sp>
        <p:nvSpPr>
          <p:cNvPr id="90" name="Text 90"/>
          <p:cNvSpPr txBox="1"/>
          <p:nvPr/>
        </p:nvSpPr>
        <p:spPr>
          <a:xfrm>
            <a:off x="10396728" y="5774436"/>
            <a:ext cx="126187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10" b="0" dirty="0">
                <a:solidFill>
                  <a:srgbClr val="C83B3B"/>
                </a:solidFill>
                <a:latin typeface="Arial"/>
              </a:rPr>
              <a:t>3.4</a:t>
            </a:r>
            <a:endParaRPr lang="en-US" sz="710"/>
          </a:p>
        </p:txBody>
      </p:sp>
      <p:sp>
        <p:nvSpPr>
          <p:cNvPr id="91" name="Text 91"/>
          <p:cNvSpPr txBox="1"/>
          <p:nvPr/>
        </p:nvSpPr>
        <p:spPr>
          <a:xfrm>
            <a:off x="6373368" y="5934456"/>
            <a:ext cx="2468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25" b="0" dirty="0">
                <a:solidFill>
                  <a:srgbClr val="172033"/>
                </a:solidFill>
                <a:latin typeface="Arial"/>
              </a:rPr>
              <a:t>Cost / latency</a:t>
            </a:r>
            <a:endParaRPr lang="en-US" sz="725"/>
          </a:p>
        </p:txBody>
      </p:sp>
      <p:sp>
        <p:nvSpPr>
          <p:cNvPr id="92" name="Text 92"/>
          <p:cNvSpPr txBox="1"/>
          <p:nvPr/>
        </p:nvSpPr>
        <p:spPr>
          <a:xfrm>
            <a:off x="9061704" y="5934456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5" b="0" dirty="0">
                <a:solidFill>
                  <a:srgbClr val="5F6B7A"/>
                </a:solidFill>
                <a:latin typeface="Arial"/>
              </a:rPr>
              <a:t>$0.030 / 3.2s</a:t>
            </a:r>
            <a:endParaRPr lang="en-US" sz="725"/>
          </a:p>
        </p:txBody>
      </p:sp>
      <p:sp>
        <p:nvSpPr>
          <p:cNvPr id="93" name="Text 93"/>
          <p:cNvSpPr txBox="1"/>
          <p:nvPr/>
        </p:nvSpPr>
        <p:spPr>
          <a:xfrm>
            <a:off x="10396728" y="5934456"/>
            <a:ext cx="126187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10" b="0" dirty="0">
                <a:solidFill>
                  <a:srgbClr val="C83B3B"/>
                </a:solidFill>
                <a:latin typeface="Arial"/>
              </a:rPr>
              <a:t>$0.039 / 4.6s</a:t>
            </a:r>
            <a:endParaRPr lang="en-US" sz="710"/>
          </a:p>
        </p:txBody>
      </p:sp>
      <p:sp>
        <p:nvSpPr>
          <p:cNvPr id="94" name="Text 94"/>
          <p:cNvSpPr txBox="1"/>
          <p:nvPr/>
        </p:nvSpPr>
        <p:spPr>
          <a:xfrm>
            <a:off x="6373368" y="6094476"/>
            <a:ext cx="2468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725" b="1" dirty="0">
                <a:solidFill>
                  <a:srgbClr val="172033"/>
                </a:solidFill>
                <a:latin typeface="Arial"/>
              </a:rPr>
              <a:t>Decision</a:t>
            </a:r>
            <a:endParaRPr lang="en-US" sz="725"/>
          </a:p>
        </p:txBody>
      </p:sp>
      <p:sp>
        <p:nvSpPr>
          <p:cNvPr id="95" name="Text 95"/>
          <p:cNvSpPr txBox="1"/>
          <p:nvPr/>
        </p:nvSpPr>
        <p:spPr>
          <a:xfrm>
            <a:off x="9061704" y="6094476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25" b="0" dirty="0">
                <a:solidFill>
                  <a:srgbClr val="5F6B7A"/>
                </a:solidFill>
                <a:latin typeface="Arial"/>
              </a:rPr>
              <a:t>Current version</a:t>
            </a:r>
            <a:endParaRPr lang="en-US" sz="725"/>
          </a:p>
        </p:txBody>
      </p:sp>
      <p:sp>
        <p:nvSpPr>
          <p:cNvPr id="96" name="Text 96"/>
          <p:cNvSpPr txBox="1"/>
          <p:nvPr/>
        </p:nvSpPr>
        <p:spPr>
          <a:xfrm>
            <a:off x="10396728" y="6094476"/>
            <a:ext cx="126187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710" b="1" dirty="0">
                <a:solidFill>
                  <a:srgbClr val="C83B3B"/>
                </a:solidFill>
                <a:latin typeface="Arial"/>
              </a:rPr>
              <a:t>Investigate — do not release</a:t>
            </a:r>
            <a:endParaRPr lang="en-US" sz="710"/>
          </a:p>
        </p:txBody>
      </p:sp>
      <p:sp>
        <p:nvSpPr>
          <p:cNvPr id="97" name="Shape 97"/>
          <p:cNvSpPr/>
          <p:nvPr/>
        </p:nvSpPr>
        <p:spPr>
          <a:xfrm>
            <a:off x="493776" y="6492240"/>
            <a:ext cx="11201400" cy="246888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E58A1F"/>
            </a:solidFill>
          </a:ln>
        </p:spPr>
      </p:sp>
      <p:sp>
        <p:nvSpPr>
          <p:cNvPr id="98" name="Text 98"/>
          <p:cNvSpPr txBox="1"/>
          <p:nvPr/>
        </p:nvSpPr>
        <p:spPr>
          <a:xfrm>
            <a:off x="685800" y="6528816"/>
            <a:ext cx="1081735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870" b="0" dirty="0">
                <a:solidFill>
                  <a:srgbClr val="172033"/>
                </a:solidFill>
                <a:latin typeface="Arial"/>
              </a:rPr>
              <a:t>Benchmarking makes change measurable: compare quality, safety, cost, and latency before deciding whether to release.</a:t>
            </a:r>
            <a:endParaRPr lang="en-US" sz="87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ud Agent">
  <a:themeElements>
    <a:clrScheme name="Fraud Agent">
      <a:dk1>
        <a:srgbClr val="09111F"/>
      </a:dk1>
      <a:lt1>
        <a:srgbClr val="F7FAFC"/>
      </a:lt1>
      <a:dk2>
        <a:srgbClr val="111D2E"/>
      </a:dk2>
      <a:lt2>
        <a:srgbClr val="A8B4C7"/>
      </a:lt2>
      <a:accent1>
        <a:srgbClr val="35C2E3"/>
      </a:accent1>
      <a:accent2>
        <a:srgbClr val="5B8CFF"/>
      </a:accent2>
      <a:accent3>
        <a:srgbClr val="39D98A"/>
      </a:accent3>
      <a:accent4>
        <a:srgbClr val="FFB454"/>
      </a:accent4>
      <a:accent5>
        <a:srgbClr val="FF6B6B"/>
      </a:accent5>
      <a:accent6>
        <a:srgbClr val="A8B4C7"/>
      </a:accent6>
      <a:hlink>
        <a:srgbClr val="35C2E3"/>
      </a:hlink>
      <a:folHlink>
        <a:srgbClr val="5B8CF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Block Agent | End-to-End Design</dc:title>
  <dc:subject>Agentic system architecture</dc:subject>
  <dc:creator>OpenAI Codex</dc:creator>
  <cp:lastModifiedBy>OpenAI Codex</cp:lastModifiedBy>
  <dcterms:created xsi:type="dcterms:W3CDTF">2026-08-06T00:00:00Z</dcterms:created>
  <dcterms:modified xsi:type="dcterms:W3CDTF">2026-08-06T00:00:00Z</dcterms:modified>
</cp:coreProperties>
</file>