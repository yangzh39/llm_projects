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6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Relationship Id="rId6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10312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050" b="1" dirty="0">
                <a:solidFill>
                  <a:srgbClr val="172033"/>
                </a:solidFill>
                <a:latin typeface="Arial"/>
              </a:rPr>
              <a:t>AI Product Evolution — From Conversation to Action</a:t>
            </a:r>
            <a:endParaRPr lang="en-US" sz="2050"/>
          </a:p>
        </p:txBody>
      </p:sp>
      <p:sp>
        <p:nvSpPr>
          <p:cNvPr id="3" name="Text 3"/>
          <p:cNvSpPr txBox="1"/>
          <p:nvPr/>
        </p:nvSpPr>
        <p:spPr>
          <a:xfrm>
            <a:off x="457200" y="603504"/>
            <a:ext cx="8595360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5F6B7A"/>
                </a:solidFill>
                <a:latin typeface="Arial"/>
              </a:rPr>
              <a:t>2022–2026  |  Models became multimodal and agentic as adoption expanded from individuals to institutions.</a:t>
            </a:r>
            <a:endParaRPr lang="en-US" sz="950"/>
          </a:p>
        </p:txBody>
      </p:sp>
      <p:sp>
        <p:nvSpPr>
          <p:cNvPr id="4" name="Circle 4"/>
          <p:cNvSpPr/>
          <p:nvPr/>
        </p:nvSpPr>
        <p:spPr>
          <a:xfrm>
            <a:off x="9272016" y="640080"/>
            <a:ext cx="91440" cy="91440"/>
          </a:xfrm>
          <a:prstGeom prst="ellipse">
            <a:avLst/>
          </a:prstGeom>
          <a:solidFill>
            <a:srgbClr val="2563A8"/>
          </a:solidFill>
          <a:ln>
            <a:solidFill>
              <a:srgbClr val="2563A8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9400032" y="603504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OpenAI</a:t>
            </a:r>
            <a:endParaRPr lang="en-US" sz="780"/>
          </a:p>
        </p:txBody>
      </p:sp>
      <p:sp>
        <p:nvSpPr>
          <p:cNvPr id="6" name="Circle 6"/>
          <p:cNvSpPr/>
          <p:nvPr/>
        </p:nvSpPr>
        <p:spPr>
          <a:xfrm>
            <a:off x="10021824" y="640080"/>
            <a:ext cx="91440" cy="91440"/>
          </a:xfrm>
          <a:prstGeom prst="ellipse">
            <a:avLst/>
          </a:prstGeom>
          <a:solidFill>
            <a:srgbClr val="7651A8"/>
          </a:solidFill>
          <a:ln>
            <a:solidFill>
              <a:srgbClr val="7651A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149840" y="603504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Anthropic</a:t>
            </a:r>
            <a:endParaRPr lang="en-US" sz="780"/>
          </a:p>
        </p:txBody>
      </p:sp>
      <p:sp>
        <p:nvSpPr>
          <p:cNvPr id="8" name="Circle 8"/>
          <p:cNvSpPr/>
          <p:nvPr/>
        </p:nvSpPr>
        <p:spPr>
          <a:xfrm>
            <a:off x="10899648" y="640080"/>
            <a:ext cx="91440" cy="91440"/>
          </a:xfrm>
          <a:prstGeom prst="ellipse">
            <a:avLst/>
          </a:prstGeom>
          <a:solidFill>
            <a:srgbClr val="168653"/>
          </a:solidFill>
          <a:ln>
            <a:solidFill>
              <a:srgbClr val="168653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11027664" y="603504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Adoption</a:t>
            </a:r>
            <a:endParaRPr lang="en-US" sz="780"/>
          </a:p>
        </p:txBody>
      </p:sp>
      <p:cxnSp>
        <p:nvCxnSpPr>
          <p:cNvPr id="10" name="Connector 10"/>
          <p:cNvCxnSpPr/>
          <p:nvPr/>
        </p:nvCxnSpPr>
        <p:spPr>
          <a:xfrm>
            <a:off x="457200" y="941832"/>
            <a:ext cx="11283696" cy="0"/>
          </a:xfrm>
          <a:prstGeom prst="line">
            <a:avLst/>
          </a:prstGeom>
          <a:ln w="25400">
            <a:solidFill>
              <a:srgbClr val="53C7ED"/>
            </a:solidFill>
            <a:tailEnd type="none"/>
            <a:headEnd type="none"/>
          </a:ln>
        </p:spPr>
      </p:cxnSp>
      <p:sp>
        <p:nvSpPr>
          <p:cNvPr id="11" name="Text 11"/>
          <p:cNvSpPr txBox="1"/>
          <p:nvPr/>
        </p:nvSpPr>
        <p:spPr>
          <a:xfrm>
            <a:off x="457200" y="117043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2563A8"/>
                </a:solidFill>
                <a:latin typeface="Arial"/>
              </a:rPr>
              <a:t>CAPABILITY MILESTONES</a:t>
            </a:r>
            <a:endParaRPr lang="en-US" sz="1050"/>
          </a:p>
        </p:txBody>
      </p:sp>
      <p:sp>
        <p:nvSpPr>
          <p:cNvPr id="12" name="Text 12"/>
          <p:cNvSpPr txBox="1"/>
          <p:nvPr/>
        </p:nvSpPr>
        <p:spPr>
          <a:xfrm>
            <a:off x="8686800" y="1170432"/>
            <a:ext cx="305409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en-US" sz="740" b="0" dirty="0">
                <a:solidFill>
                  <a:srgbClr val="5F6B7A"/>
                </a:solidFill>
                <a:latin typeface="Arial"/>
              </a:rPr>
              <a:t>Curated public milestones—not an exhaustive product history</a:t>
            </a:r>
            <a:endParaRPr lang="en-US" sz="740"/>
          </a:p>
        </p:txBody>
      </p:sp>
      <p:cxnSp>
        <p:nvCxnSpPr>
          <p:cNvPr id="13" name="Connector 13"/>
          <p:cNvCxnSpPr/>
          <p:nvPr/>
        </p:nvCxnSpPr>
        <p:spPr>
          <a:xfrm>
            <a:off x="658368" y="3236976"/>
            <a:ext cx="10908792" cy="0"/>
          </a:xfrm>
          <a:prstGeom prst="line">
            <a:avLst/>
          </a:prstGeom>
          <a:ln w="35560">
            <a:solidFill>
              <a:srgbClr val="9AA7B8"/>
            </a:solidFill>
            <a:tailEnd type="triangle"/>
            <a:headEnd type="none"/>
          </a:ln>
        </p:spPr>
      </p:cxnSp>
      <p:sp>
        <p:nvSpPr>
          <p:cNvPr id="14" name="Shape 14"/>
          <p:cNvSpPr/>
          <p:nvPr/>
        </p:nvSpPr>
        <p:spPr>
          <a:xfrm>
            <a:off x="347472" y="1508760"/>
            <a:ext cx="2148840" cy="126187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AAC3E4"/>
            </a:solidFill>
          </a:ln>
        </p:spPr>
      </p:sp>
      <p:sp>
        <p:nvSpPr>
          <p:cNvPr id="15" name="Circle 15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57200" y="1682496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/>
              </a:rPr>
              <a:t>SA</a:t>
            </a:r>
            <a:endParaRPr lang="en-US" sz="850"/>
          </a:p>
        </p:txBody>
      </p:sp>
      <p:sp>
        <p:nvSpPr>
          <p:cNvPr id="17" name="Text 17"/>
          <p:cNvSpPr txBox="1"/>
          <p:nvPr/>
        </p:nvSpPr>
        <p:spPr>
          <a:xfrm>
            <a:off x="832104" y="160934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172033"/>
                </a:solidFill>
                <a:latin typeface="Arial"/>
              </a:rPr>
              <a:t>Sam Altman</a:t>
            </a:r>
            <a:endParaRPr lang="en-US" sz="850"/>
          </a:p>
        </p:txBody>
      </p:sp>
      <p:sp>
        <p:nvSpPr>
          <p:cNvPr id="18" name="Text 18"/>
          <p:cNvSpPr txBox="1"/>
          <p:nvPr/>
        </p:nvSpPr>
        <p:spPr>
          <a:xfrm>
            <a:off x="832104" y="1801368"/>
            <a:ext cx="14173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0" b="0" dirty="0">
                <a:solidFill>
                  <a:srgbClr val="5F6B7A"/>
                </a:solidFill>
                <a:latin typeface="Arial"/>
              </a:rPr>
              <a:t>@sama • Nov 30, 2022</a:t>
            </a:r>
            <a:endParaRPr lang="en-US" sz="720"/>
          </a:p>
        </p:txBody>
      </p:sp>
      <p:sp>
        <p:nvSpPr>
          <p:cNvPr id="19" name="Text 19"/>
          <p:cNvSpPr txBox="1"/>
          <p:nvPr/>
        </p:nvSpPr>
        <p:spPr>
          <a:xfrm>
            <a:off x="512064" y="20574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00" b="1" dirty="0">
                <a:solidFill>
                  <a:srgbClr val="172033"/>
                </a:solidFill>
                <a:latin typeface="Arial"/>
              </a:rPr>
              <a:t>“today we launched ChatGPT.</a:t>
            </a:r>
            <a:endParaRPr lang="en-US" sz="900"/>
          </a:p>
          <a:p>
            <a:pPr algn="l"/>
            <a:r>
              <a:rPr lang="en-US" sz="900" b="1" dirty="0">
                <a:solidFill>
                  <a:srgbClr val="172033"/>
                </a:solidFill>
                <a:latin typeface="Arial"/>
              </a:rPr>
              <a:t>try talking with it here:”</a:t>
            </a:r>
            <a:endParaRPr lang="en-US" sz="900"/>
          </a:p>
        </p:txBody>
      </p:sp>
      <p:sp>
        <p:nvSpPr>
          <p:cNvPr id="20" name="Text 20"/>
          <p:cNvSpPr txBox="1"/>
          <p:nvPr/>
        </p:nvSpPr>
        <p:spPr>
          <a:xfrm>
            <a:off x="512064" y="2487168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70" b="0" dirty="0">
                <a:solidFill>
                  <a:srgbClr val="2563A8"/>
                </a:solidFill>
                <a:latin typeface="Arial"/>
              </a:rPr>
              <a:t>The public starting point</a:t>
            </a:r>
            <a:endParaRPr lang="en-US" sz="770"/>
          </a:p>
        </p:txBody>
      </p:sp>
      <p:cxnSp>
        <p:nvCxnSpPr>
          <p:cNvPr id="21" name="Connector 21"/>
          <p:cNvCxnSpPr/>
          <p:nvPr/>
        </p:nvCxnSpPr>
        <p:spPr>
          <a:xfrm>
            <a:off x="1371600" y="2770632"/>
            <a:ext cx="0" cy="384048"/>
          </a:xfrm>
          <a:prstGeom prst="line">
            <a:avLst/>
          </a:prstGeom>
          <a:ln w="15240">
            <a:solidFill>
              <a:srgbClr val="2563A8"/>
            </a:solidFill>
            <a:tailEnd type="none"/>
            <a:headEnd type="none"/>
          </a:ln>
        </p:spPr>
      </p:cxnSp>
      <p:sp>
        <p:nvSpPr>
          <p:cNvPr id="22" name="Circle 22"/>
          <p:cNvSpPr/>
          <p:nvPr/>
        </p:nvSpPr>
        <p:spPr>
          <a:xfrm>
            <a:off x="1289304" y="3154680"/>
            <a:ext cx="164592" cy="164592"/>
          </a:xfrm>
          <a:prstGeom prst="ellipse">
            <a:avLst/>
          </a:prstGeom>
          <a:solidFill>
            <a:srgbClr val="2563A8"/>
          </a:solidFill>
          <a:ln>
            <a:solidFill>
              <a:srgbClr val="FFFFFF"/>
            </a:solidFill>
          </a:ln>
        </p:spPr>
      </p:sp>
      <p:sp>
        <p:nvSpPr>
          <p:cNvPr id="23" name="Shape 23"/>
          <p:cNvSpPr/>
          <p:nvPr/>
        </p:nvSpPr>
        <p:spPr>
          <a:xfrm>
            <a:off x="2286000" y="3675888"/>
            <a:ext cx="1691640" cy="109728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7651A8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2423160" y="378561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7651A8"/>
                </a:solidFill>
                <a:latin typeface="Arial"/>
              </a:rPr>
              <a:t>MAR 2023</a:t>
            </a:r>
            <a:endParaRPr lang="en-US" sz="820"/>
          </a:p>
        </p:txBody>
      </p:sp>
      <p:sp>
        <p:nvSpPr>
          <p:cNvPr id="25" name="Text 25"/>
          <p:cNvSpPr txBox="1"/>
          <p:nvPr/>
        </p:nvSpPr>
        <p:spPr>
          <a:xfrm>
            <a:off x="2423160" y="40233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70" b="1" dirty="0">
                <a:solidFill>
                  <a:srgbClr val="172033"/>
                </a:solidFill>
                <a:latin typeface="Arial"/>
              </a:rPr>
              <a:t>GPT-4 + Claude</a:t>
            </a:r>
            <a:endParaRPr lang="en-US" sz="1170"/>
          </a:p>
        </p:txBody>
      </p:sp>
      <p:sp>
        <p:nvSpPr>
          <p:cNvPr id="26" name="Text 26"/>
          <p:cNvSpPr txBox="1"/>
          <p:nvPr/>
        </p:nvSpPr>
        <p:spPr>
          <a:xfrm>
            <a:off x="2423160" y="4306824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Frontier assistants: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multimodal + steerable</a:t>
            </a:r>
            <a:endParaRPr lang="en-US" sz="770"/>
          </a:p>
        </p:txBody>
      </p:sp>
      <p:cxnSp>
        <p:nvCxnSpPr>
          <p:cNvPr id="27" name="Connector 27"/>
          <p:cNvCxnSpPr/>
          <p:nvPr/>
        </p:nvCxnSpPr>
        <p:spPr>
          <a:xfrm>
            <a:off x="3127248" y="3319272"/>
            <a:ext cx="0" cy="356616"/>
          </a:xfrm>
          <a:prstGeom prst="line">
            <a:avLst/>
          </a:prstGeom>
          <a:ln w="15240">
            <a:solidFill>
              <a:srgbClr val="7651A8"/>
            </a:solidFill>
            <a:tailEnd type="none"/>
            <a:headEnd type="none"/>
          </a:ln>
        </p:spPr>
      </p:cxnSp>
      <p:sp>
        <p:nvSpPr>
          <p:cNvPr id="28" name="Circle 28"/>
          <p:cNvSpPr/>
          <p:nvPr/>
        </p:nvSpPr>
        <p:spPr>
          <a:xfrm>
            <a:off x="3044952" y="3154680"/>
            <a:ext cx="164592" cy="164592"/>
          </a:xfrm>
          <a:prstGeom prst="ellipse">
            <a:avLst/>
          </a:prstGeom>
          <a:solidFill>
            <a:srgbClr val="7651A8"/>
          </a:solidFill>
          <a:ln>
            <a:solidFill>
              <a:srgbClr val="FFFFF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3931920" y="1591056"/>
            <a:ext cx="1691640" cy="1097280"/>
          </a:xfrm>
          <a:prstGeom prst="roundRect">
            <a:avLst/>
          </a:prstGeom>
          <a:solidFill>
            <a:srgbClr val="F3FBFE"/>
          </a:solidFill>
          <a:ln w="12700">
            <a:solidFill>
              <a:srgbClr val="087EA4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4069080" y="170078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087EA4"/>
                </a:solidFill>
                <a:latin typeface="Arial"/>
              </a:rPr>
              <a:t>MAY–NOV 2024</a:t>
            </a:r>
            <a:endParaRPr lang="en-US" sz="820"/>
          </a:p>
        </p:txBody>
      </p:sp>
      <p:sp>
        <p:nvSpPr>
          <p:cNvPr id="31" name="Text 31"/>
          <p:cNvSpPr txBox="1"/>
          <p:nvPr/>
        </p:nvSpPr>
        <p:spPr>
          <a:xfrm>
            <a:off x="4069080" y="193852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70" b="1" dirty="0">
                <a:solidFill>
                  <a:srgbClr val="172033"/>
                </a:solidFill>
                <a:latin typeface="Arial"/>
              </a:rPr>
              <a:t>Multimodal + tools</a:t>
            </a:r>
            <a:endParaRPr lang="en-US" sz="1170"/>
          </a:p>
        </p:txBody>
      </p:sp>
      <p:sp>
        <p:nvSpPr>
          <p:cNvPr id="32" name="Text 32"/>
          <p:cNvSpPr txBox="1"/>
          <p:nvPr/>
        </p:nvSpPr>
        <p:spPr>
          <a:xfrm>
            <a:off x="4069080" y="222199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GPT-4o • Computer Use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• Model Context Protocol</a:t>
            </a:r>
            <a:endParaRPr lang="en-US" sz="770"/>
          </a:p>
        </p:txBody>
      </p:sp>
      <p:cxnSp>
        <p:nvCxnSpPr>
          <p:cNvPr id="33" name="Connector 33"/>
          <p:cNvCxnSpPr/>
          <p:nvPr/>
        </p:nvCxnSpPr>
        <p:spPr>
          <a:xfrm>
            <a:off x="4764024" y="2688336"/>
            <a:ext cx="0" cy="466344"/>
          </a:xfrm>
          <a:prstGeom prst="line">
            <a:avLst/>
          </a:prstGeom>
          <a:ln w="15240">
            <a:solidFill>
              <a:srgbClr val="087EA4"/>
            </a:solidFill>
            <a:tailEnd type="none"/>
            <a:headEnd type="none"/>
          </a:ln>
        </p:spPr>
      </p:cxnSp>
      <p:sp>
        <p:nvSpPr>
          <p:cNvPr id="34" name="Circle 34"/>
          <p:cNvSpPr/>
          <p:nvPr/>
        </p:nvSpPr>
        <p:spPr>
          <a:xfrm>
            <a:off x="4681728" y="3154680"/>
            <a:ext cx="164592" cy="164592"/>
          </a:xfrm>
          <a:prstGeom prst="ellipse">
            <a:avLst/>
          </a:prstGeom>
          <a:solidFill>
            <a:srgbClr val="087EA4"/>
          </a:solidFill>
          <a:ln>
            <a:solidFill>
              <a:srgbClr val="FFFFFF"/>
            </a:solidFill>
          </a:ln>
        </p:spPr>
      </p:sp>
      <p:sp>
        <p:nvSpPr>
          <p:cNvPr id="35" name="Shape 35"/>
          <p:cNvSpPr/>
          <p:nvPr/>
        </p:nvSpPr>
        <p:spPr>
          <a:xfrm>
            <a:off x="5532120" y="3675888"/>
            <a:ext cx="1627632" cy="109728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7651A8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5669280" y="378561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7651A8"/>
                </a:solidFill>
                <a:latin typeface="Arial"/>
              </a:rPr>
              <a:t>FEB 2025</a:t>
            </a:r>
            <a:endParaRPr lang="en-US" sz="820"/>
          </a:p>
        </p:txBody>
      </p:sp>
      <p:sp>
        <p:nvSpPr>
          <p:cNvPr id="37" name="Text 37"/>
          <p:cNvSpPr txBox="1"/>
          <p:nvPr/>
        </p:nvSpPr>
        <p:spPr>
          <a:xfrm>
            <a:off x="5669280" y="4023360"/>
            <a:ext cx="13533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70" b="1" dirty="0">
                <a:solidFill>
                  <a:srgbClr val="172033"/>
                </a:solidFill>
                <a:latin typeface="Arial"/>
              </a:rPr>
              <a:t>Claude Code</a:t>
            </a:r>
            <a:endParaRPr lang="en-US" sz="1170"/>
          </a:p>
        </p:txBody>
      </p:sp>
      <p:sp>
        <p:nvSpPr>
          <p:cNvPr id="38" name="Text 38"/>
          <p:cNvSpPr txBox="1"/>
          <p:nvPr/>
        </p:nvSpPr>
        <p:spPr>
          <a:xfrm>
            <a:off x="5669280" y="4306824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An agent works directly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inside the terminal</a:t>
            </a:r>
            <a:endParaRPr lang="en-US" sz="770"/>
          </a:p>
        </p:txBody>
      </p:sp>
      <p:cxnSp>
        <p:nvCxnSpPr>
          <p:cNvPr id="39" name="Connector 39"/>
          <p:cNvCxnSpPr/>
          <p:nvPr/>
        </p:nvCxnSpPr>
        <p:spPr>
          <a:xfrm>
            <a:off x="6364224" y="3319272"/>
            <a:ext cx="0" cy="356616"/>
          </a:xfrm>
          <a:prstGeom prst="line">
            <a:avLst/>
          </a:prstGeom>
          <a:ln w="15240">
            <a:solidFill>
              <a:srgbClr val="7651A8"/>
            </a:solidFill>
            <a:tailEnd type="none"/>
            <a:headEnd type="none"/>
          </a:ln>
        </p:spPr>
      </p:cxnSp>
      <p:sp>
        <p:nvSpPr>
          <p:cNvPr id="40" name="Circle 40"/>
          <p:cNvSpPr/>
          <p:nvPr/>
        </p:nvSpPr>
        <p:spPr>
          <a:xfrm>
            <a:off x="6281928" y="3154680"/>
            <a:ext cx="164592" cy="164592"/>
          </a:xfrm>
          <a:prstGeom prst="ellipse">
            <a:avLst/>
          </a:prstGeom>
          <a:solidFill>
            <a:srgbClr val="7651A8"/>
          </a:solidFill>
          <a:ln>
            <a:solidFill>
              <a:srgbClr val="FFFFFF"/>
            </a:solidFill>
          </a:ln>
        </p:spPr>
      </p:sp>
      <p:sp>
        <p:nvSpPr>
          <p:cNvPr id="41" name="Shape 41"/>
          <p:cNvSpPr/>
          <p:nvPr/>
        </p:nvSpPr>
        <p:spPr>
          <a:xfrm>
            <a:off x="7123176" y="1591056"/>
            <a:ext cx="1627632" cy="109728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2563A8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260336" y="170078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2563A8"/>
                </a:solidFill>
                <a:latin typeface="Arial"/>
              </a:rPr>
              <a:t>MAY 2025</a:t>
            </a:r>
            <a:endParaRPr lang="en-US" sz="820"/>
          </a:p>
        </p:txBody>
      </p:sp>
      <p:sp>
        <p:nvSpPr>
          <p:cNvPr id="43" name="Text 43"/>
          <p:cNvSpPr txBox="1"/>
          <p:nvPr/>
        </p:nvSpPr>
        <p:spPr>
          <a:xfrm>
            <a:off x="7260336" y="1938528"/>
            <a:ext cx="13533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70" b="1" dirty="0">
                <a:solidFill>
                  <a:srgbClr val="172033"/>
                </a:solidFill>
                <a:latin typeface="Arial"/>
              </a:rPr>
              <a:t>Codex</a:t>
            </a:r>
            <a:endParaRPr lang="en-US" sz="1170"/>
          </a:p>
        </p:txBody>
      </p:sp>
      <p:sp>
        <p:nvSpPr>
          <p:cNvPr id="44" name="Text 44"/>
          <p:cNvSpPr txBox="1"/>
          <p:nvPr/>
        </p:nvSpPr>
        <p:spPr>
          <a:xfrm>
            <a:off x="7260336" y="2221992"/>
            <a:ext cx="13533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Cloud agent edits, tests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and proposes changes</a:t>
            </a:r>
            <a:endParaRPr lang="en-US" sz="770"/>
          </a:p>
        </p:txBody>
      </p:sp>
      <p:cxnSp>
        <p:nvCxnSpPr>
          <p:cNvPr id="45" name="Connector 45"/>
          <p:cNvCxnSpPr/>
          <p:nvPr/>
        </p:nvCxnSpPr>
        <p:spPr>
          <a:xfrm>
            <a:off x="7927848" y="2688336"/>
            <a:ext cx="0" cy="466344"/>
          </a:xfrm>
          <a:prstGeom prst="line">
            <a:avLst/>
          </a:prstGeom>
          <a:ln w="15240">
            <a:solidFill>
              <a:srgbClr val="2563A8"/>
            </a:solidFill>
            <a:tailEnd type="none"/>
            <a:headEnd type="none"/>
          </a:ln>
        </p:spPr>
      </p:cxnSp>
      <p:sp>
        <p:nvSpPr>
          <p:cNvPr id="46" name="Circle 46"/>
          <p:cNvSpPr/>
          <p:nvPr/>
        </p:nvSpPr>
        <p:spPr>
          <a:xfrm>
            <a:off x="7845552" y="3154680"/>
            <a:ext cx="164592" cy="164592"/>
          </a:xfrm>
          <a:prstGeom prst="ellipse">
            <a:avLst/>
          </a:prstGeom>
          <a:solidFill>
            <a:srgbClr val="2563A8"/>
          </a:solidFill>
          <a:ln>
            <a:solidFill>
              <a:srgbClr val="FFFFFF"/>
            </a:solidFill>
          </a:ln>
        </p:spPr>
      </p:sp>
      <p:sp>
        <p:nvSpPr>
          <p:cNvPr id="47" name="Shape 47"/>
          <p:cNvSpPr/>
          <p:nvPr/>
        </p:nvSpPr>
        <p:spPr>
          <a:xfrm>
            <a:off x="8677656" y="3675888"/>
            <a:ext cx="1691640" cy="109728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168653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8814816" y="378561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168653"/>
                </a:solidFill>
                <a:latin typeface="Arial"/>
              </a:rPr>
              <a:t>JAN–JUL 2025</a:t>
            </a:r>
            <a:endParaRPr lang="en-US" sz="820"/>
          </a:p>
        </p:txBody>
      </p:sp>
      <p:sp>
        <p:nvSpPr>
          <p:cNvPr id="49" name="Text 49"/>
          <p:cNvSpPr txBox="1"/>
          <p:nvPr/>
        </p:nvSpPr>
        <p:spPr>
          <a:xfrm>
            <a:off x="8814816" y="40233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170" b="1" dirty="0">
                <a:solidFill>
                  <a:srgbClr val="172033"/>
                </a:solidFill>
                <a:latin typeface="Arial"/>
              </a:rPr>
              <a:t>Institutional AI</a:t>
            </a:r>
            <a:endParaRPr lang="en-US" sz="1170"/>
          </a:p>
        </p:txBody>
      </p:sp>
      <p:sp>
        <p:nvSpPr>
          <p:cNvPr id="50" name="Text 50"/>
          <p:cNvSpPr txBox="1"/>
          <p:nvPr/>
        </p:nvSpPr>
        <p:spPr>
          <a:xfrm>
            <a:off x="8814816" y="4306824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ChatGPT Gov • Claude Gov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enterprise + defense use</a:t>
            </a:r>
            <a:endParaRPr lang="en-US" sz="770"/>
          </a:p>
        </p:txBody>
      </p:sp>
      <p:cxnSp>
        <p:nvCxnSpPr>
          <p:cNvPr id="51" name="Connector 51"/>
          <p:cNvCxnSpPr/>
          <p:nvPr/>
        </p:nvCxnSpPr>
        <p:spPr>
          <a:xfrm>
            <a:off x="9528048" y="3319272"/>
            <a:ext cx="0" cy="356616"/>
          </a:xfrm>
          <a:prstGeom prst="line">
            <a:avLst/>
          </a:prstGeom>
          <a:ln w="15240">
            <a:solidFill>
              <a:srgbClr val="168653"/>
            </a:solidFill>
            <a:tailEnd type="none"/>
            <a:headEnd type="none"/>
          </a:ln>
        </p:spPr>
      </p:cxnSp>
      <p:sp>
        <p:nvSpPr>
          <p:cNvPr id="52" name="Circle 52"/>
          <p:cNvSpPr/>
          <p:nvPr/>
        </p:nvSpPr>
        <p:spPr>
          <a:xfrm>
            <a:off x="9445752" y="3154680"/>
            <a:ext cx="164592" cy="164592"/>
          </a:xfrm>
          <a:prstGeom prst="ellipse">
            <a:avLst/>
          </a:prstGeom>
          <a:solidFill>
            <a:srgbClr val="168653"/>
          </a:solidFill>
          <a:ln>
            <a:solidFill>
              <a:srgbClr val="FFFFFF"/>
            </a:solidFill>
          </a:ln>
        </p:spPr>
      </p:sp>
      <p:sp>
        <p:nvSpPr>
          <p:cNvPr id="53" name="Shape 53"/>
          <p:cNvSpPr/>
          <p:nvPr/>
        </p:nvSpPr>
        <p:spPr>
          <a:xfrm>
            <a:off x="10195560" y="1591056"/>
            <a:ext cx="1691640" cy="109728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B65F00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10332720" y="170078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20" b="1" dirty="0">
                <a:solidFill>
                  <a:srgbClr val="B65F00"/>
                </a:solidFill>
                <a:latin typeface="Arial"/>
              </a:rPr>
              <a:t>JUN–JUL 2026</a:t>
            </a:r>
            <a:endParaRPr lang="en-US" sz="820"/>
          </a:p>
        </p:txBody>
      </p:sp>
      <p:sp>
        <p:nvSpPr>
          <p:cNvPr id="55" name="Text 55"/>
          <p:cNvSpPr txBox="1"/>
          <p:nvPr/>
        </p:nvSpPr>
        <p:spPr>
          <a:xfrm>
            <a:off x="10332720" y="193852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980" b="1" dirty="0">
                <a:solidFill>
                  <a:srgbClr val="172033"/>
                </a:solidFill>
                <a:latin typeface="Arial"/>
              </a:rPr>
              <a:t>Fable / Mythos 5</a:t>
            </a:r>
            <a:endParaRPr lang="en-US" sz="980"/>
          </a:p>
          <a:p>
            <a:pPr algn="l"/>
            <a:r>
              <a:rPr lang="en-US" sz="980" b="1" dirty="0">
                <a:solidFill>
                  <a:srgbClr val="172033"/>
                </a:solidFill>
                <a:latin typeface="Arial"/>
              </a:rPr>
              <a:t>GPT-5.6 Sol</a:t>
            </a:r>
            <a:endParaRPr lang="en-US" sz="980"/>
          </a:p>
        </p:txBody>
      </p:sp>
      <p:sp>
        <p:nvSpPr>
          <p:cNvPr id="56" name="Text 56"/>
          <p:cNvSpPr txBox="1"/>
          <p:nvPr/>
        </p:nvSpPr>
        <p:spPr>
          <a:xfrm>
            <a:off x="10332720" y="2304288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Long-horizon, tool-rich</a:t>
            </a:r>
            <a:endParaRPr lang="en-US" sz="770"/>
          </a:p>
          <a:p>
            <a:pPr algn="l"/>
            <a:r>
              <a:rPr lang="en-US" sz="770" b="0" dirty="0">
                <a:solidFill>
                  <a:srgbClr val="5F6B7A"/>
                </a:solidFill>
                <a:latin typeface="Arial"/>
              </a:rPr>
              <a:t>frontier systems</a:t>
            </a:r>
            <a:endParaRPr lang="en-US" sz="770"/>
          </a:p>
        </p:txBody>
      </p:sp>
      <p:cxnSp>
        <p:nvCxnSpPr>
          <p:cNvPr id="57" name="Connector 57"/>
          <p:cNvCxnSpPr/>
          <p:nvPr/>
        </p:nvCxnSpPr>
        <p:spPr>
          <a:xfrm>
            <a:off x="11045952" y="2688336"/>
            <a:ext cx="0" cy="466344"/>
          </a:xfrm>
          <a:prstGeom prst="line">
            <a:avLst/>
          </a:prstGeom>
          <a:ln w="15240">
            <a:solidFill>
              <a:srgbClr val="B65F00"/>
            </a:solidFill>
            <a:tailEnd type="none"/>
            <a:headEnd type="none"/>
          </a:ln>
        </p:spPr>
      </p:cxnSp>
      <p:sp>
        <p:nvSpPr>
          <p:cNvPr id="58" name="Circle 58"/>
          <p:cNvSpPr/>
          <p:nvPr/>
        </p:nvSpPr>
        <p:spPr>
          <a:xfrm>
            <a:off x="10963656" y="3154680"/>
            <a:ext cx="164592" cy="164592"/>
          </a:xfrm>
          <a:prstGeom prst="ellipse">
            <a:avLst/>
          </a:prstGeom>
          <a:solidFill>
            <a:srgbClr val="B65F00"/>
          </a:solidFill>
          <a:ln>
            <a:solidFill>
              <a:srgbClr val="FFFFFF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457200" y="5184648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 dirty="0">
                <a:solidFill>
                  <a:srgbClr val="168653"/>
                </a:solidFill>
                <a:latin typeface="Arial"/>
              </a:rPr>
              <a:t>ADOPTION EXPANDS</a:t>
            </a:r>
            <a:endParaRPr lang="en-US" sz="1000"/>
          </a:p>
        </p:txBody>
      </p:sp>
      <p:sp>
        <p:nvSpPr>
          <p:cNvPr id="60" name="Text 60"/>
          <p:cNvSpPr txBox="1"/>
          <p:nvPr/>
        </p:nvSpPr>
        <p:spPr>
          <a:xfrm>
            <a:off x="2029968" y="5184648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60" b="0" dirty="0">
                <a:solidFill>
                  <a:srgbClr val="5F6B7A"/>
                </a:solidFill>
                <a:latin typeface="Arial"/>
              </a:rPr>
              <a:t>Each stage adds users, workflows, controls, and institutional responsibility.</a:t>
            </a:r>
            <a:endParaRPr lang="en-US" sz="760"/>
          </a:p>
        </p:txBody>
      </p:sp>
      <p:sp>
        <p:nvSpPr>
          <p:cNvPr id="61" name="Shape 61"/>
          <p:cNvSpPr/>
          <p:nvPr/>
        </p:nvSpPr>
        <p:spPr>
          <a:xfrm>
            <a:off x="457200" y="5440680"/>
            <a:ext cx="2203704" cy="585216"/>
          </a:xfrm>
          <a:prstGeom prst="rect">
            <a:avLst/>
          </a:prstGeom>
          <a:solidFill>
            <a:srgbClr val="E8F1FB"/>
          </a:solidFill>
          <a:ln w="12700">
            <a:solidFill>
              <a:srgbClr val="FFFFFF"/>
            </a:solidFill>
          </a:ln>
        </p:spPr>
      </p:sp>
      <p:sp>
        <p:nvSpPr>
          <p:cNvPr id="62" name="Text 62"/>
          <p:cNvSpPr txBox="1"/>
          <p:nvPr/>
        </p:nvSpPr>
        <p:spPr>
          <a:xfrm>
            <a:off x="457200" y="55504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2563A8"/>
                </a:solidFill>
                <a:latin typeface="Arial"/>
              </a:rPr>
              <a:t>PERSONAL USERS</a:t>
            </a:r>
            <a:endParaRPr lang="en-US" sz="850"/>
          </a:p>
        </p:txBody>
      </p:sp>
      <p:sp>
        <p:nvSpPr>
          <p:cNvPr id="63" name="Text 63"/>
          <p:cNvSpPr txBox="1"/>
          <p:nvPr/>
        </p:nvSpPr>
        <p:spPr>
          <a:xfrm>
            <a:off x="457200" y="5797296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0" b="0" dirty="0">
                <a:solidFill>
                  <a:srgbClr val="5F6B7A"/>
                </a:solidFill>
                <a:latin typeface="Arial"/>
              </a:rPr>
              <a:t>Everyday conversations</a:t>
            </a:r>
            <a:endParaRPr lang="en-US" sz="720"/>
          </a:p>
        </p:txBody>
      </p:sp>
      <p:cxnSp>
        <p:nvCxnSpPr>
          <p:cNvPr id="64" name="Connector 64"/>
          <p:cNvCxnSpPr/>
          <p:nvPr/>
        </p:nvCxnSpPr>
        <p:spPr>
          <a:xfrm>
            <a:off x="2587752" y="5733288"/>
            <a:ext cx="164592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  <a:headEnd type="none"/>
          </a:ln>
        </p:spPr>
      </p:cxnSp>
      <p:sp>
        <p:nvSpPr>
          <p:cNvPr id="65" name="Shape 65"/>
          <p:cNvSpPr/>
          <p:nvPr/>
        </p:nvSpPr>
        <p:spPr>
          <a:xfrm>
            <a:off x="2715768" y="5440680"/>
            <a:ext cx="2203704" cy="585216"/>
          </a:xfrm>
          <a:prstGeom prst="rect">
            <a:avLst/>
          </a:prstGeom>
          <a:solidFill>
            <a:srgbClr val="EEF4FC"/>
          </a:solidFill>
          <a:ln w="12700">
            <a:solidFill>
              <a:srgbClr val="FFFFFF"/>
            </a:solidFill>
          </a:ln>
        </p:spPr>
      </p:sp>
      <p:sp>
        <p:nvSpPr>
          <p:cNvPr id="66" name="Text 66"/>
          <p:cNvSpPr txBox="1"/>
          <p:nvPr/>
        </p:nvSpPr>
        <p:spPr>
          <a:xfrm>
            <a:off x="2715768" y="55504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2563A8"/>
                </a:solidFill>
                <a:latin typeface="Arial"/>
              </a:rPr>
              <a:t>BUILDERS</a:t>
            </a:r>
            <a:endParaRPr lang="en-US" sz="850"/>
          </a:p>
        </p:txBody>
      </p:sp>
      <p:sp>
        <p:nvSpPr>
          <p:cNvPr id="67" name="Text 67"/>
          <p:cNvSpPr txBox="1"/>
          <p:nvPr/>
        </p:nvSpPr>
        <p:spPr>
          <a:xfrm>
            <a:off x="2715768" y="5797296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0" b="0" dirty="0">
                <a:solidFill>
                  <a:srgbClr val="5F6B7A"/>
                </a:solidFill>
                <a:latin typeface="Arial"/>
              </a:rPr>
              <a:t>Apps through APIs</a:t>
            </a:r>
            <a:endParaRPr lang="en-US" sz="720"/>
          </a:p>
        </p:txBody>
      </p:sp>
      <p:cxnSp>
        <p:nvCxnSpPr>
          <p:cNvPr id="68" name="Connector 68"/>
          <p:cNvCxnSpPr/>
          <p:nvPr/>
        </p:nvCxnSpPr>
        <p:spPr>
          <a:xfrm>
            <a:off x="4846320" y="5733288"/>
            <a:ext cx="164592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  <a:headEnd type="none"/>
          </a:ln>
        </p:spPr>
      </p:cxnSp>
      <p:sp>
        <p:nvSpPr>
          <p:cNvPr id="69" name="Shape 69"/>
          <p:cNvSpPr/>
          <p:nvPr/>
        </p:nvSpPr>
        <p:spPr>
          <a:xfrm>
            <a:off x="4974336" y="5440680"/>
            <a:ext cx="2203704" cy="585216"/>
          </a:xfrm>
          <a:prstGeom prst="rect">
            <a:avLst/>
          </a:prstGeom>
          <a:solidFill>
            <a:srgbClr val="F3FBFE"/>
          </a:solidFill>
          <a:ln w="12700">
            <a:solidFill>
              <a:srgbClr val="FFFFFF"/>
            </a:solidFill>
          </a:ln>
        </p:spPr>
      </p:sp>
      <p:sp>
        <p:nvSpPr>
          <p:cNvPr id="70" name="Text 70"/>
          <p:cNvSpPr txBox="1"/>
          <p:nvPr/>
        </p:nvSpPr>
        <p:spPr>
          <a:xfrm>
            <a:off x="4974336" y="55504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087EA4"/>
                </a:solidFill>
                <a:latin typeface="Arial"/>
              </a:rPr>
              <a:t>ENTERPRISES</a:t>
            </a:r>
            <a:endParaRPr lang="en-US" sz="850"/>
          </a:p>
        </p:txBody>
      </p:sp>
      <p:sp>
        <p:nvSpPr>
          <p:cNvPr id="71" name="Text 71"/>
          <p:cNvSpPr txBox="1"/>
          <p:nvPr/>
        </p:nvSpPr>
        <p:spPr>
          <a:xfrm>
            <a:off x="4974336" y="5797296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0" b="0" dirty="0">
                <a:solidFill>
                  <a:srgbClr val="5F6B7A"/>
                </a:solidFill>
                <a:latin typeface="Arial"/>
              </a:rPr>
              <a:t>Secure business workflows</a:t>
            </a:r>
            <a:endParaRPr lang="en-US" sz="720"/>
          </a:p>
        </p:txBody>
      </p:sp>
      <p:cxnSp>
        <p:nvCxnSpPr>
          <p:cNvPr id="72" name="Connector 72"/>
          <p:cNvCxnSpPr/>
          <p:nvPr/>
        </p:nvCxnSpPr>
        <p:spPr>
          <a:xfrm>
            <a:off x="7104888" y="5733288"/>
            <a:ext cx="164592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  <a:headEnd type="none"/>
          </a:ln>
        </p:spPr>
      </p:cxnSp>
      <p:sp>
        <p:nvSpPr>
          <p:cNvPr id="73" name="Shape 73"/>
          <p:cNvSpPr/>
          <p:nvPr/>
        </p:nvSpPr>
        <p:spPr>
          <a:xfrm>
            <a:off x="7232904" y="5440680"/>
            <a:ext cx="2203704" cy="585216"/>
          </a:xfrm>
          <a:prstGeom prst="rect">
            <a:avLst/>
          </a:prstGeom>
          <a:solidFill>
            <a:srgbClr val="F8F5FC"/>
          </a:solidFill>
          <a:ln w="12700">
            <a:solidFill>
              <a:srgbClr val="FFFFFF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7232904" y="55504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1" dirty="0">
                <a:solidFill>
                  <a:srgbClr val="7651A8"/>
                </a:solidFill>
                <a:latin typeface="Arial"/>
              </a:rPr>
              <a:t>AGENTIC WORK</a:t>
            </a:r>
            <a:endParaRPr lang="en-US" sz="850"/>
          </a:p>
        </p:txBody>
      </p:sp>
      <p:sp>
        <p:nvSpPr>
          <p:cNvPr id="75" name="Text 75"/>
          <p:cNvSpPr txBox="1"/>
          <p:nvPr/>
        </p:nvSpPr>
        <p:spPr>
          <a:xfrm>
            <a:off x="7232904" y="5797296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0" b="0" dirty="0">
                <a:solidFill>
                  <a:srgbClr val="5F6B7A"/>
                </a:solidFill>
                <a:latin typeface="Arial"/>
              </a:rPr>
              <a:t>Delegated, multi-step tasks</a:t>
            </a:r>
            <a:endParaRPr lang="en-US" sz="720"/>
          </a:p>
        </p:txBody>
      </p:sp>
      <p:cxnSp>
        <p:nvCxnSpPr>
          <p:cNvPr id="76" name="Connector 76"/>
          <p:cNvCxnSpPr/>
          <p:nvPr/>
        </p:nvCxnSpPr>
        <p:spPr>
          <a:xfrm>
            <a:off x="9363456" y="5733288"/>
            <a:ext cx="164592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  <a:headEnd type="none"/>
          </a:ln>
        </p:spPr>
      </p:cxnSp>
      <p:sp>
        <p:nvSpPr>
          <p:cNvPr id="77" name="Shape 77"/>
          <p:cNvSpPr/>
          <p:nvPr/>
        </p:nvSpPr>
        <p:spPr>
          <a:xfrm>
            <a:off x="9491472" y="5440680"/>
            <a:ext cx="2203704" cy="585216"/>
          </a:xfrm>
          <a:prstGeom prst="rect">
            <a:avLst/>
          </a:prstGeom>
          <a:solidFill>
            <a:srgbClr val="EDF9F2"/>
          </a:solidFill>
          <a:ln w="12700">
            <a:solidFill>
              <a:srgbClr val="FFFFFF"/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9491472" y="5550408"/>
            <a:ext cx="2203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168653"/>
                </a:solidFill>
                <a:latin typeface="Arial"/>
              </a:rPr>
              <a:t>PUBLIC SECTOR + DEFENSE</a:t>
            </a:r>
            <a:endParaRPr lang="en-US" sz="780"/>
          </a:p>
        </p:txBody>
      </p:sp>
      <p:sp>
        <p:nvSpPr>
          <p:cNvPr id="79" name="Text 79"/>
          <p:cNvSpPr txBox="1"/>
          <p:nvPr/>
        </p:nvSpPr>
        <p:spPr>
          <a:xfrm>
            <a:off x="9491472" y="5797296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0" b="0" dirty="0">
                <a:solidFill>
                  <a:srgbClr val="5F6B7A"/>
                </a:solidFill>
                <a:latin typeface="Arial"/>
              </a:rPr>
              <a:t>Governed institutional deployment</a:t>
            </a:r>
            <a:endParaRPr lang="en-US" sz="720"/>
          </a:p>
        </p:txBody>
      </p:sp>
      <p:sp>
        <p:nvSpPr>
          <p:cNvPr id="80" name="Shape 80"/>
          <p:cNvSpPr/>
          <p:nvPr/>
        </p:nvSpPr>
        <p:spPr>
          <a:xfrm>
            <a:off x="457200" y="6245352"/>
            <a:ext cx="1129284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612648" y="6318504"/>
            <a:ext cx="1098194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FFFFFF"/>
                </a:solidFill>
                <a:latin typeface="Arial"/>
              </a:rPr>
              <a:t>The trajectory is not only smarter models—it is a shift from answering questions to completing consequential work.</a:t>
            </a:r>
            <a:endParaRPr lang="en-US" sz="920"/>
          </a:p>
        </p:txBody>
      </p:sp>
      <p:sp>
        <p:nvSpPr>
          <p:cNvPr id="82" name="Text 82"/>
          <p:cNvSpPr txBox="1"/>
          <p:nvPr/>
        </p:nvSpPr>
        <p:spPr>
          <a:xfrm>
            <a:off x="8961120" y="6684264"/>
            <a:ext cx="2743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en-US" sz="560" b="0" dirty="0">
                <a:solidFill>
                  <a:srgbClr val="5F6B7A"/>
                </a:solidFill>
                <a:latin typeface="Arial"/>
              </a:rPr>
              <a:t>Dates: official OpenAI and Anthropic launch announcements.</a:t>
            </a:r>
            <a:endParaRPr lang="en-US" sz="5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65760" y="20116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900" b="1" dirty="0">
                <a:solidFill>
                  <a:srgbClr val="172033"/>
                </a:solidFill>
                <a:latin typeface="Arial"/>
              </a:rPr>
              <a:t>From ChatGPT to Codex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365760" y="713232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400" b="0" dirty="0">
                <a:solidFill>
                  <a:srgbClr val="5F6B7A"/>
                </a:solidFill>
                <a:latin typeface="Arial"/>
              </a:rPr>
              <a:t>Scaling improves intelligence. Engineering turns intelligence into action.</a:t>
            </a:r>
            <a:endParaRPr lang="en-US" sz="1400"/>
          </a:p>
        </p:txBody>
      </p:sp>
      <p:cxnSp>
        <p:nvCxnSpPr>
          <p:cNvPr id="4" name="Connector 4"/>
          <p:cNvCxnSpPr/>
          <p:nvPr/>
        </p:nvCxnSpPr>
        <p:spPr>
          <a:xfrm>
            <a:off x="0" y="1197864"/>
            <a:ext cx="12188952" cy="0"/>
          </a:xfrm>
          <a:prstGeom prst="line">
            <a:avLst/>
          </a:prstGeom>
          <a:ln w="38100">
            <a:solidFill>
              <a:srgbClr val="53C7ED"/>
            </a:solidFill>
            <a:tailEnd type="none"/>
            <a:headEnd type="none"/>
          </a:ln>
        </p:spPr>
      </p:cxnSp>
      <p:sp>
        <p:nvSpPr>
          <p:cNvPr id="5" name="Text 5"/>
          <p:cNvSpPr txBox="1"/>
          <p:nvPr/>
        </p:nvSpPr>
        <p:spPr>
          <a:xfrm>
            <a:off x="365760" y="143560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2563A8"/>
                </a:solidFill>
                <a:latin typeface="Arial"/>
              </a:rPr>
              <a:t>WHAT MAKES THE MODEL MORE CAPABLE?</a:t>
            </a:r>
            <a:endParaRPr lang="en-US" sz="1050"/>
          </a:p>
        </p:txBody>
      </p:sp>
      <p:sp>
        <p:nvSpPr>
          <p:cNvPr id="6" name="Shape 6"/>
          <p:cNvSpPr/>
          <p:nvPr/>
        </p:nvSpPr>
        <p:spPr>
          <a:xfrm>
            <a:off x="365760" y="1719072"/>
            <a:ext cx="2157984" cy="59436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DCEAFB"/>
            </a:solidFill>
          </a:ln>
        </p:spPr>
      </p:sp>
      <p:sp>
        <p:nvSpPr>
          <p:cNvPr id="7" name="Circle 7"/>
          <p:cNvSpPr/>
          <p:nvPr/>
        </p:nvSpPr>
        <p:spPr>
          <a:xfrm>
            <a:off x="502920" y="1874520"/>
            <a:ext cx="283464" cy="283464"/>
          </a:xfrm>
          <a:prstGeom prst="ellipse">
            <a:avLst/>
          </a:prstGeom>
          <a:solidFill>
            <a:srgbClr val="DCEAFB"/>
          </a:solidFill>
          <a:ln>
            <a:solidFill>
              <a:srgbClr val="DCEAF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502920" y="1929384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2563A8"/>
                </a:solidFill>
                <a:latin typeface="Arial"/>
              </a:rPr>
              <a:t>1</a:t>
            </a:r>
            <a:endParaRPr lang="en-US" sz="920"/>
          </a:p>
        </p:txBody>
      </p:sp>
      <p:sp>
        <p:nvSpPr>
          <p:cNvPr id="9" name="Text 9"/>
          <p:cNvSpPr txBox="1"/>
          <p:nvPr/>
        </p:nvSpPr>
        <p:spPr>
          <a:xfrm>
            <a:off x="859536" y="1847088"/>
            <a:ext cx="152704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1" dirty="0">
                <a:solidFill>
                  <a:srgbClr val="172033"/>
                </a:solidFill>
                <a:latin typeface="Arial"/>
              </a:rPr>
              <a:t>Compute &amp; scale</a:t>
            </a:r>
            <a:endParaRPr lang="en-US" sz="890"/>
          </a:p>
        </p:txBody>
      </p:sp>
      <p:sp>
        <p:nvSpPr>
          <p:cNvPr id="10" name="Text 10"/>
          <p:cNvSpPr txBox="1"/>
          <p:nvPr/>
        </p:nvSpPr>
        <p:spPr>
          <a:xfrm>
            <a:off x="859536" y="2084832"/>
            <a:ext cx="1527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5F6B7A"/>
                </a:solidFill>
                <a:latin typeface="Arial"/>
              </a:rPr>
              <a:t>Parameters, training compute</a:t>
            </a:r>
            <a:endParaRPr lang="en-US" sz="700"/>
          </a:p>
        </p:txBody>
      </p:sp>
      <p:sp>
        <p:nvSpPr>
          <p:cNvPr id="11" name="Shape 11"/>
          <p:cNvSpPr/>
          <p:nvPr/>
        </p:nvSpPr>
        <p:spPr>
          <a:xfrm>
            <a:off x="2688336" y="1719072"/>
            <a:ext cx="2157984" cy="59436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E1F5E9"/>
            </a:solidFill>
          </a:ln>
        </p:spPr>
      </p:sp>
      <p:sp>
        <p:nvSpPr>
          <p:cNvPr id="12" name="Circle 12"/>
          <p:cNvSpPr/>
          <p:nvPr/>
        </p:nvSpPr>
        <p:spPr>
          <a:xfrm>
            <a:off x="2825496" y="1874520"/>
            <a:ext cx="283464" cy="283464"/>
          </a:xfrm>
          <a:prstGeom prst="ellipse">
            <a:avLst/>
          </a:prstGeom>
          <a:solidFill>
            <a:srgbClr val="E1F5E9"/>
          </a:solidFill>
          <a:ln>
            <a:solidFill>
              <a:srgbClr val="E1F5E9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2825496" y="1929384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168653"/>
                </a:solidFill>
                <a:latin typeface="Arial"/>
              </a:rPr>
              <a:t>2</a:t>
            </a:r>
            <a:endParaRPr lang="en-US" sz="920"/>
          </a:p>
        </p:txBody>
      </p:sp>
      <p:sp>
        <p:nvSpPr>
          <p:cNvPr id="14" name="Text 14"/>
          <p:cNvSpPr txBox="1"/>
          <p:nvPr/>
        </p:nvSpPr>
        <p:spPr>
          <a:xfrm>
            <a:off x="3182112" y="1847088"/>
            <a:ext cx="152704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1" dirty="0">
                <a:solidFill>
                  <a:srgbClr val="172033"/>
                </a:solidFill>
                <a:latin typeface="Arial"/>
              </a:rPr>
              <a:t>Better training data</a:t>
            </a:r>
            <a:endParaRPr lang="en-US" sz="890"/>
          </a:p>
        </p:txBody>
      </p:sp>
      <p:sp>
        <p:nvSpPr>
          <p:cNvPr id="15" name="Text 15"/>
          <p:cNvSpPr txBox="1"/>
          <p:nvPr/>
        </p:nvSpPr>
        <p:spPr>
          <a:xfrm>
            <a:off x="3182112" y="2084832"/>
            <a:ext cx="1527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5F6B7A"/>
                </a:solidFill>
                <a:latin typeface="Arial"/>
              </a:rPr>
              <a:t>Quality, diversity, feedback</a:t>
            </a:r>
            <a:endParaRPr lang="en-US" sz="700"/>
          </a:p>
        </p:txBody>
      </p:sp>
      <p:sp>
        <p:nvSpPr>
          <p:cNvPr id="16" name="Shape 16"/>
          <p:cNvSpPr/>
          <p:nvPr/>
        </p:nvSpPr>
        <p:spPr>
          <a:xfrm>
            <a:off x="5020056" y="1719072"/>
            <a:ext cx="2157984" cy="59436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CE9C9"/>
            </a:solidFill>
          </a:ln>
        </p:spPr>
      </p:sp>
      <p:sp>
        <p:nvSpPr>
          <p:cNvPr id="17" name="Circle 17"/>
          <p:cNvSpPr/>
          <p:nvPr/>
        </p:nvSpPr>
        <p:spPr>
          <a:xfrm>
            <a:off x="5157216" y="1874520"/>
            <a:ext cx="283464" cy="283464"/>
          </a:xfrm>
          <a:prstGeom prst="ellipse">
            <a:avLst/>
          </a:prstGeom>
          <a:solidFill>
            <a:srgbClr val="FCE9C9"/>
          </a:solidFill>
          <a:ln>
            <a:solidFill>
              <a:srgbClr val="FCE9C9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5157216" y="1929384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B65F00"/>
                </a:solidFill>
                <a:latin typeface="Arial"/>
              </a:rPr>
              <a:t>3</a:t>
            </a:r>
            <a:endParaRPr lang="en-US" sz="920"/>
          </a:p>
        </p:txBody>
      </p:sp>
      <p:sp>
        <p:nvSpPr>
          <p:cNvPr id="19" name="Text 19"/>
          <p:cNvSpPr txBox="1"/>
          <p:nvPr/>
        </p:nvSpPr>
        <p:spPr>
          <a:xfrm>
            <a:off x="5513832" y="1847088"/>
            <a:ext cx="152704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1" dirty="0">
                <a:solidFill>
                  <a:srgbClr val="172033"/>
                </a:solidFill>
                <a:latin typeface="Arial"/>
              </a:rPr>
              <a:t>Model architecture</a:t>
            </a:r>
            <a:endParaRPr lang="en-US" sz="890"/>
          </a:p>
        </p:txBody>
      </p:sp>
      <p:sp>
        <p:nvSpPr>
          <p:cNvPr id="20" name="Text 20"/>
          <p:cNvSpPr txBox="1"/>
          <p:nvPr/>
        </p:nvSpPr>
        <p:spPr>
          <a:xfrm>
            <a:off x="5513832" y="2084832"/>
            <a:ext cx="1527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5F6B7A"/>
                </a:solidFill>
                <a:latin typeface="Arial"/>
              </a:rPr>
              <a:t>Efficiency and longer context</a:t>
            </a:r>
            <a:endParaRPr lang="en-US" sz="700"/>
          </a:p>
        </p:txBody>
      </p:sp>
      <p:sp>
        <p:nvSpPr>
          <p:cNvPr id="21" name="Shape 21"/>
          <p:cNvSpPr/>
          <p:nvPr/>
        </p:nvSpPr>
        <p:spPr>
          <a:xfrm>
            <a:off x="7351776" y="1719072"/>
            <a:ext cx="2157984" cy="59436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EEE3F7"/>
            </a:solidFill>
          </a:ln>
        </p:spPr>
      </p:sp>
      <p:sp>
        <p:nvSpPr>
          <p:cNvPr id="22" name="Circle 22"/>
          <p:cNvSpPr/>
          <p:nvPr/>
        </p:nvSpPr>
        <p:spPr>
          <a:xfrm>
            <a:off x="7488936" y="1874520"/>
            <a:ext cx="283464" cy="283464"/>
          </a:xfrm>
          <a:prstGeom prst="ellipse">
            <a:avLst/>
          </a:prstGeom>
          <a:solidFill>
            <a:srgbClr val="EEE3F7"/>
          </a:solidFill>
          <a:ln>
            <a:solidFill>
              <a:srgbClr val="EEE3F7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488936" y="1929384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7651A8"/>
                </a:solidFill>
                <a:latin typeface="Arial"/>
              </a:rPr>
              <a:t>4</a:t>
            </a:r>
            <a:endParaRPr lang="en-US" sz="920"/>
          </a:p>
        </p:txBody>
      </p:sp>
      <p:sp>
        <p:nvSpPr>
          <p:cNvPr id="24" name="Text 24"/>
          <p:cNvSpPr txBox="1"/>
          <p:nvPr/>
        </p:nvSpPr>
        <p:spPr>
          <a:xfrm>
            <a:off x="7845552" y="1847088"/>
            <a:ext cx="152704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1" dirty="0">
                <a:solidFill>
                  <a:srgbClr val="172033"/>
                </a:solidFill>
                <a:latin typeface="Arial"/>
              </a:rPr>
              <a:t>Post-training</a:t>
            </a:r>
            <a:endParaRPr lang="en-US" sz="890"/>
          </a:p>
        </p:txBody>
      </p:sp>
      <p:sp>
        <p:nvSpPr>
          <p:cNvPr id="25" name="Text 25"/>
          <p:cNvSpPr txBox="1"/>
          <p:nvPr/>
        </p:nvSpPr>
        <p:spPr>
          <a:xfrm>
            <a:off x="7845552" y="2084832"/>
            <a:ext cx="1527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5F6B7A"/>
                </a:solidFill>
                <a:latin typeface="Arial"/>
              </a:rPr>
              <a:t>Instruction following, alignment</a:t>
            </a:r>
            <a:endParaRPr lang="en-US" sz="700"/>
          </a:p>
        </p:txBody>
      </p:sp>
      <p:sp>
        <p:nvSpPr>
          <p:cNvPr id="26" name="Shape 26"/>
          <p:cNvSpPr/>
          <p:nvPr/>
        </p:nvSpPr>
        <p:spPr>
          <a:xfrm>
            <a:off x="9683496" y="1719072"/>
            <a:ext cx="2157984" cy="594360"/>
          </a:xfrm>
          <a:prstGeom prst="roundRect">
            <a:avLst/>
          </a:prstGeom>
          <a:solidFill>
            <a:srgbClr val="FFF5F1"/>
          </a:solidFill>
          <a:ln w="12700">
            <a:solidFill>
              <a:srgbClr val="F8E4DC"/>
            </a:solidFill>
          </a:ln>
        </p:spPr>
      </p:sp>
      <p:sp>
        <p:nvSpPr>
          <p:cNvPr id="27" name="Circle 27"/>
          <p:cNvSpPr/>
          <p:nvPr/>
        </p:nvSpPr>
        <p:spPr>
          <a:xfrm>
            <a:off x="9820656" y="1874520"/>
            <a:ext cx="283464" cy="283464"/>
          </a:xfrm>
          <a:prstGeom prst="ellipse">
            <a:avLst/>
          </a:prstGeom>
          <a:solidFill>
            <a:srgbClr val="F8E4DC"/>
          </a:solidFill>
          <a:ln>
            <a:solidFill>
              <a:srgbClr val="F8E4DC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9820656" y="1929384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20" b="1" dirty="0">
                <a:solidFill>
                  <a:srgbClr val="AD5C3E"/>
                </a:solidFill>
                <a:latin typeface="Arial"/>
              </a:rPr>
              <a:t>5</a:t>
            </a:r>
            <a:endParaRPr lang="en-US" sz="920"/>
          </a:p>
        </p:txBody>
      </p:sp>
      <p:sp>
        <p:nvSpPr>
          <p:cNvPr id="29" name="Text 29"/>
          <p:cNvSpPr txBox="1"/>
          <p:nvPr/>
        </p:nvSpPr>
        <p:spPr>
          <a:xfrm>
            <a:off x="10177272" y="1847088"/>
            <a:ext cx="152704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90" b="1" dirty="0">
                <a:solidFill>
                  <a:srgbClr val="172033"/>
                </a:solidFill>
                <a:latin typeface="Arial"/>
              </a:rPr>
              <a:t>Inference reasoning</a:t>
            </a:r>
            <a:endParaRPr lang="en-US" sz="890"/>
          </a:p>
        </p:txBody>
      </p:sp>
      <p:sp>
        <p:nvSpPr>
          <p:cNvPr id="30" name="Text 30"/>
          <p:cNvSpPr txBox="1"/>
          <p:nvPr/>
        </p:nvSpPr>
        <p:spPr>
          <a:xfrm>
            <a:off x="10177272" y="2084832"/>
            <a:ext cx="1527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00" b="0" dirty="0">
                <a:solidFill>
                  <a:srgbClr val="5F6B7A"/>
                </a:solidFill>
                <a:latin typeface="Arial"/>
              </a:rPr>
              <a:t>More work on hard problems</a:t>
            </a:r>
            <a:endParaRPr lang="en-US" sz="700"/>
          </a:p>
        </p:txBody>
      </p:sp>
      <p:sp>
        <p:nvSpPr>
          <p:cNvPr id="31" name="Text 31"/>
          <p:cNvSpPr txBox="1"/>
          <p:nvPr/>
        </p:nvSpPr>
        <p:spPr>
          <a:xfrm>
            <a:off x="365760" y="2542032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30" b="1" dirty="0">
                <a:solidFill>
                  <a:srgbClr val="2563A8"/>
                </a:solidFill>
                <a:latin typeface="Arial"/>
              </a:rPr>
              <a:t>THE UNLOCK: AUGMENT THE MODEL WITH A SYSTEM AROUND IT</a:t>
            </a:r>
            <a:endParaRPr lang="en-US" sz="1030"/>
          </a:p>
        </p:txBody>
      </p:sp>
      <p:sp>
        <p:nvSpPr>
          <p:cNvPr id="32" name="Shape 32"/>
          <p:cNvSpPr/>
          <p:nvPr/>
        </p:nvSpPr>
        <p:spPr>
          <a:xfrm>
            <a:off x="365760" y="2852928"/>
            <a:ext cx="2587752" cy="2304288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4B79B5"/>
            </a:solidFill>
          </a:ln>
        </p:spPr>
      </p:sp>
      <p:sp>
        <p:nvSpPr>
          <p:cNvPr id="33" name="Shape 33"/>
          <p:cNvSpPr/>
          <p:nvPr/>
        </p:nvSpPr>
        <p:spPr>
          <a:xfrm>
            <a:off x="576072" y="3072384"/>
            <a:ext cx="640080" cy="5029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</p:sp>
      <p:cxnSp>
        <p:nvCxnSpPr>
          <p:cNvPr id="34" name="Connector 34"/>
          <p:cNvCxnSpPr/>
          <p:nvPr/>
        </p:nvCxnSpPr>
        <p:spPr>
          <a:xfrm>
            <a:off x="713232" y="3264408"/>
            <a:ext cx="347472" cy="0"/>
          </a:xfrm>
          <a:prstGeom prst="line">
            <a:avLst/>
          </a:prstGeom>
          <a:ln w="21590">
            <a:solidFill>
              <a:srgbClr val="2563A8"/>
            </a:solidFill>
            <a:tailEnd type="none"/>
            <a:headEnd type="none"/>
          </a:ln>
        </p:spPr>
      </p:cxnSp>
      <p:cxnSp>
        <p:nvCxnSpPr>
          <p:cNvPr id="35" name="Connector 35"/>
          <p:cNvCxnSpPr/>
          <p:nvPr/>
        </p:nvCxnSpPr>
        <p:spPr>
          <a:xfrm>
            <a:off x="713232" y="3401568"/>
            <a:ext cx="274320" cy="0"/>
          </a:xfrm>
          <a:prstGeom prst="line">
            <a:avLst/>
          </a:prstGeom>
          <a:ln w="21590">
            <a:solidFill>
              <a:srgbClr val="2563A8"/>
            </a:solidFill>
            <a:tailEnd type="none"/>
            <a:headEnd type="none"/>
          </a:ln>
        </p:spPr>
      </p:cxnSp>
      <p:sp>
        <p:nvSpPr>
          <p:cNvPr id="36" name="Text 36"/>
          <p:cNvSpPr txBox="1"/>
          <p:nvPr/>
        </p:nvSpPr>
        <p:spPr>
          <a:xfrm>
            <a:off x="1380744" y="30906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2563A8"/>
                </a:solidFill>
                <a:latin typeface="Arial"/>
              </a:rPr>
              <a:t>FOUNDATION LLM</a:t>
            </a:r>
            <a:endParaRPr lang="en-US" sz="850"/>
          </a:p>
        </p:txBody>
      </p:sp>
      <p:sp>
        <p:nvSpPr>
          <p:cNvPr id="37" name="Text 37"/>
          <p:cNvSpPr txBox="1"/>
          <p:nvPr/>
        </p:nvSpPr>
        <p:spPr>
          <a:xfrm>
            <a:off x="1380744" y="334670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op"/>
          <a:lstStyle/>
          <a:p>
            <a:pPr algn="l"/>
            <a:r>
              <a:rPr lang="en-US" sz="1380" b="1" dirty="0">
                <a:solidFill>
                  <a:srgbClr val="172033"/>
                </a:solidFill>
                <a:latin typeface="Arial"/>
              </a:rPr>
              <a:t>Think &amp;</a:t>
            </a:r>
            <a:endParaRPr lang="en-US" sz="1380"/>
          </a:p>
          <a:p>
            <a:pPr algn="l"/>
            <a:r>
              <a:rPr lang="en-US" sz="1380" b="1" dirty="0">
                <a:solidFill>
                  <a:srgbClr val="172033"/>
                </a:solidFill>
                <a:latin typeface="Arial"/>
              </a:rPr>
              <a:t>communicate</a:t>
            </a:r>
            <a:endParaRPr lang="en-US" sz="1380"/>
          </a:p>
        </p:txBody>
      </p:sp>
      <p:cxnSp>
        <p:nvCxnSpPr>
          <p:cNvPr id="38" name="Connector 38"/>
          <p:cNvCxnSpPr/>
          <p:nvPr/>
        </p:nvCxnSpPr>
        <p:spPr>
          <a:xfrm>
            <a:off x="576072" y="3867912"/>
            <a:ext cx="2148840" cy="0"/>
          </a:xfrm>
          <a:prstGeom prst="line">
            <a:avLst/>
          </a:prstGeom>
          <a:ln w="10160">
            <a:solidFill>
              <a:srgbClr val="D8DEE8"/>
            </a:solidFill>
            <a:tailEnd type="none"/>
            <a:headEnd type="none"/>
          </a:ln>
        </p:spPr>
      </p:cxnSp>
      <p:sp>
        <p:nvSpPr>
          <p:cNvPr id="39" name="Circle 39"/>
          <p:cNvSpPr/>
          <p:nvPr/>
        </p:nvSpPr>
        <p:spPr>
          <a:xfrm>
            <a:off x="640080" y="4142232"/>
            <a:ext cx="109728" cy="109728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850392" y="4105656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172033"/>
                </a:solidFill>
                <a:latin typeface="Arial"/>
              </a:rPr>
              <a:t>Understand language</a:t>
            </a:r>
            <a:endParaRPr lang="en-US" sz="950"/>
          </a:p>
        </p:txBody>
      </p:sp>
      <p:sp>
        <p:nvSpPr>
          <p:cNvPr id="41" name="Circle 41"/>
          <p:cNvSpPr/>
          <p:nvPr/>
        </p:nvSpPr>
        <p:spPr>
          <a:xfrm>
            <a:off x="640080" y="4453128"/>
            <a:ext cx="109728" cy="109728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50392" y="4416552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172033"/>
                </a:solidFill>
                <a:latin typeface="Arial"/>
              </a:rPr>
              <a:t>Reason over context</a:t>
            </a:r>
            <a:endParaRPr lang="en-US" sz="950"/>
          </a:p>
        </p:txBody>
      </p:sp>
      <p:sp>
        <p:nvSpPr>
          <p:cNvPr id="43" name="Circle 43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850392" y="4727448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50" b="0" dirty="0">
                <a:solidFill>
                  <a:srgbClr val="172033"/>
                </a:solidFill>
                <a:latin typeface="Arial"/>
              </a:rPr>
              <a:t>Generate a response</a:t>
            </a:r>
            <a:endParaRPr lang="en-US" sz="950"/>
          </a:p>
        </p:txBody>
      </p:sp>
      <p:sp>
        <p:nvSpPr>
          <p:cNvPr id="45" name="Shape 45"/>
          <p:cNvSpPr/>
          <p:nvPr/>
        </p:nvSpPr>
        <p:spPr>
          <a:xfrm>
            <a:off x="576072" y="4919472"/>
            <a:ext cx="2148840" cy="310896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E8F1FB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576072" y="498348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910" b="1" dirty="0">
                <a:solidFill>
                  <a:srgbClr val="2563A8"/>
                </a:solidFill>
                <a:latin typeface="Arial"/>
              </a:rPr>
              <a:t>OUTPUT: WORDS</a:t>
            </a:r>
            <a:endParaRPr lang="en-US" sz="910"/>
          </a:p>
        </p:txBody>
      </p:sp>
      <p:sp>
        <p:nvSpPr>
          <p:cNvPr id="47" name="Circle 47"/>
          <p:cNvSpPr/>
          <p:nvPr/>
        </p:nvSpPr>
        <p:spPr>
          <a:xfrm>
            <a:off x="3054096" y="3822192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53C7ED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3054096" y="3840480"/>
            <a:ext cx="384048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2200" b="1" dirty="0">
                <a:solidFill>
                  <a:srgbClr val="087EA4"/>
                </a:solidFill>
                <a:latin typeface="Arial"/>
              </a:rPr>
              <a:t>+</a:t>
            </a:r>
            <a:endParaRPr lang="en-US" sz="2200"/>
          </a:p>
        </p:txBody>
      </p:sp>
      <p:sp>
        <p:nvSpPr>
          <p:cNvPr id="49" name="Shape 49"/>
          <p:cNvSpPr/>
          <p:nvPr/>
        </p:nvSpPr>
        <p:spPr>
          <a:xfrm>
            <a:off x="3547872" y="2852928"/>
            <a:ext cx="4498848" cy="2304288"/>
          </a:xfrm>
          <a:prstGeom prst="roundRect">
            <a:avLst/>
          </a:prstGeom>
          <a:solidFill>
            <a:srgbClr val="F3FBFE"/>
          </a:solidFill>
          <a:ln w="12700">
            <a:solidFill>
              <a:srgbClr val="20A7D3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3767328" y="3044952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087EA4"/>
                </a:solidFill>
                <a:latin typeface="Arial"/>
              </a:rPr>
              <a:t>AUGMENTATION LAYER</a:t>
            </a:r>
            <a:endParaRPr lang="en-US" sz="850"/>
          </a:p>
        </p:txBody>
      </p:sp>
      <p:sp>
        <p:nvSpPr>
          <p:cNvPr id="51" name="Text 51"/>
          <p:cNvSpPr txBox="1"/>
          <p:nvPr/>
        </p:nvSpPr>
        <p:spPr>
          <a:xfrm>
            <a:off x="3767328" y="330098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400" b="1" dirty="0">
                <a:solidFill>
                  <a:srgbClr val="172033"/>
                </a:solidFill>
                <a:latin typeface="Arial"/>
              </a:rPr>
              <a:t>Give the model context and capabilities</a:t>
            </a:r>
            <a:endParaRPr lang="en-US" sz="1400"/>
          </a:p>
        </p:txBody>
      </p:sp>
      <p:sp>
        <p:nvSpPr>
          <p:cNvPr id="52" name="Shape 52"/>
          <p:cNvSpPr/>
          <p:nvPr/>
        </p:nvSpPr>
        <p:spPr>
          <a:xfrm>
            <a:off x="3767328" y="3639312"/>
            <a:ext cx="1965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C3E4"/>
            </a:solidFill>
          </a:ln>
        </p:spPr>
      </p:sp>
      <p:sp>
        <p:nvSpPr>
          <p:cNvPr id="53" name="Circle 53"/>
          <p:cNvSpPr/>
          <p:nvPr/>
        </p:nvSpPr>
        <p:spPr>
          <a:xfrm>
            <a:off x="3904488" y="3794760"/>
            <a:ext cx="265176" cy="26517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3904488" y="3840480"/>
            <a:ext cx="26517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2563A8"/>
                </a:solidFill>
                <a:latin typeface="Arial"/>
              </a:rPr>
              <a:t>+</a:t>
            </a:r>
            <a:endParaRPr lang="en-US" sz="1050"/>
          </a:p>
        </p:txBody>
      </p:sp>
      <p:sp>
        <p:nvSpPr>
          <p:cNvPr id="55" name="Text 55"/>
          <p:cNvSpPr txBox="1"/>
          <p:nvPr/>
        </p:nvSpPr>
        <p:spPr>
          <a:xfrm>
            <a:off x="4251960" y="3758184"/>
            <a:ext cx="134416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2563A8"/>
                </a:solidFill>
                <a:latin typeface="Arial"/>
              </a:rPr>
              <a:t>Context &amp; memory</a:t>
            </a:r>
            <a:endParaRPr lang="en-US" sz="850"/>
          </a:p>
        </p:txBody>
      </p:sp>
      <p:sp>
        <p:nvSpPr>
          <p:cNvPr id="56" name="Text 56"/>
          <p:cNvSpPr txBox="1"/>
          <p:nvPr/>
        </p:nvSpPr>
        <p:spPr>
          <a:xfrm>
            <a:off x="4251960" y="3977640"/>
            <a:ext cx="138988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Relevant knowledge and state</a:t>
            </a:r>
            <a:endParaRPr lang="en-US" sz="690"/>
          </a:p>
        </p:txBody>
      </p:sp>
      <p:sp>
        <p:nvSpPr>
          <p:cNvPr id="57" name="Shape 57"/>
          <p:cNvSpPr/>
          <p:nvPr/>
        </p:nvSpPr>
        <p:spPr>
          <a:xfrm>
            <a:off x="5870448" y="3639312"/>
            <a:ext cx="1965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D8BE"/>
            </a:solidFill>
          </a:ln>
        </p:spPr>
      </p:sp>
      <p:sp>
        <p:nvSpPr>
          <p:cNvPr id="58" name="Circle 58"/>
          <p:cNvSpPr/>
          <p:nvPr/>
        </p:nvSpPr>
        <p:spPr>
          <a:xfrm>
            <a:off x="6007608" y="3794760"/>
            <a:ext cx="265176" cy="26517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6007608" y="3840480"/>
            <a:ext cx="26517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168653"/>
                </a:solidFill>
                <a:latin typeface="Arial"/>
              </a:rPr>
              <a:t>+</a:t>
            </a:r>
            <a:endParaRPr lang="en-US" sz="1050"/>
          </a:p>
        </p:txBody>
      </p:sp>
      <p:sp>
        <p:nvSpPr>
          <p:cNvPr id="60" name="Text 60"/>
          <p:cNvSpPr txBox="1"/>
          <p:nvPr/>
        </p:nvSpPr>
        <p:spPr>
          <a:xfrm>
            <a:off x="6355080" y="3758184"/>
            <a:ext cx="134416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168653"/>
                </a:solidFill>
                <a:latin typeface="Arial"/>
              </a:rPr>
              <a:t>Tools &amp; APIs</a:t>
            </a:r>
            <a:endParaRPr lang="en-US" sz="850"/>
          </a:p>
        </p:txBody>
      </p:sp>
      <p:sp>
        <p:nvSpPr>
          <p:cNvPr id="61" name="Text 61"/>
          <p:cNvSpPr txBox="1"/>
          <p:nvPr/>
        </p:nvSpPr>
        <p:spPr>
          <a:xfrm>
            <a:off x="6355080" y="3977640"/>
            <a:ext cx="138988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Search, calculate, transact</a:t>
            </a:r>
            <a:endParaRPr lang="en-US" sz="690"/>
          </a:p>
        </p:txBody>
      </p:sp>
      <p:sp>
        <p:nvSpPr>
          <p:cNvPr id="62" name="Shape 62"/>
          <p:cNvSpPr/>
          <p:nvPr/>
        </p:nvSpPr>
        <p:spPr>
          <a:xfrm>
            <a:off x="3767328" y="4352544"/>
            <a:ext cx="1965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B264"/>
            </a:solidFill>
          </a:ln>
        </p:spPr>
      </p:sp>
      <p:sp>
        <p:nvSpPr>
          <p:cNvPr id="63" name="Circle 63"/>
          <p:cNvSpPr/>
          <p:nvPr/>
        </p:nvSpPr>
        <p:spPr>
          <a:xfrm>
            <a:off x="3904488" y="4507992"/>
            <a:ext cx="265176" cy="26517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</p:sp>
      <p:sp>
        <p:nvSpPr>
          <p:cNvPr id="64" name="Text 64"/>
          <p:cNvSpPr txBox="1"/>
          <p:nvPr/>
        </p:nvSpPr>
        <p:spPr>
          <a:xfrm>
            <a:off x="3904488" y="4553712"/>
            <a:ext cx="26517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B65F00"/>
                </a:solidFill>
                <a:latin typeface="Arial"/>
              </a:rPr>
              <a:t>&gt;_</a:t>
            </a:r>
            <a:endParaRPr lang="en-US" sz="1050"/>
          </a:p>
        </p:txBody>
      </p:sp>
      <p:sp>
        <p:nvSpPr>
          <p:cNvPr id="65" name="Text 65"/>
          <p:cNvSpPr txBox="1"/>
          <p:nvPr/>
        </p:nvSpPr>
        <p:spPr>
          <a:xfrm>
            <a:off x="4251960" y="4471416"/>
            <a:ext cx="134416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B65F00"/>
                </a:solidFill>
                <a:latin typeface="Arial"/>
              </a:rPr>
              <a:t>Runtime &amp; terminal</a:t>
            </a:r>
            <a:endParaRPr lang="en-US" sz="850"/>
          </a:p>
        </p:txBody>
      </p:sp>
      <p:sp>
        <p:nvSpPr>
          <p:cNvPr id="66" name="Text 66"/>
          <p:cNvSpPr txBox="1"/>
          <p:nvPr/>
        </p:nvSpPr>
        <p:spPr>
          <a:xfrm>
            <a:off x="4251960" y="4690872"/>
            <a:ext cx="138988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Execute code and commands</a:t>
            </a:r>
            <a:endParaRPr lang="en-US" sz="690"/>
          </a:p>
        </p:txBody>
      </p:sp>
      <p:sp>
        <p:nvSpPr>
          <p:cNvPr id="67" name="Shape 67"/>
          <p:cNvSpPr/>
          <p:nvPr/>
        </p:nvSpPr>
        <p:spPr>
          <a:xfrm>
            <a:off x="5870448" y="4352544"/>
            <a:ext cx="19659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AFE0"/>
            </a:solidFill>
          </a:ln>
        </p:spPr>
      </p:sp>
      <p:sp>
        <p:nvSpPr>
          <p:cNvPr id="68" name="Circle 68"/>
          <p:cNvSpPr/>
          <p:nvPr/>
        </p:nvSpPr>
        <p:spPr>
          <a:xfrm>
            <a:off x="6007608" y="4507992"/>
            <a:ext cx="265176" cy="26517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6007608" y="4553712"/>
            <a:ext cx="265176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50" b="1" dirty="0">
                <a:solidFill>
                  <a:srgbClr val="7651A8"/>
                </a:solidFill>
                <a:latin typeface="Arial"/>
              </a:rPr>
              <a:t>✓</a:t>
            </a:r>
            <a:endParaRPr lang="en-US" sz="1050"/>
          </a:p>
        </p:txBody>
      </p:sp>
      <p:sp>
        <p:nvSpPr>
          <p:cNvPr id="70" name="Text 70"/>
          <p:cNvSpPr txBox="1"/>
          <p:nvPr/>
        </p:nvSpPr>
        <p:spPr>
          <a:xfrm>
            <a:off x="6355080" y="4471416"/>
            <a:ext cx="134416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7651A8"/>
                </a:solidFill>
                <a:latin typeface="Arial"/>
              </a:rPr>
              <a:t>Orchestration</a:t>
            </a:r>
            <a:endParaRPr lang="en-US" sz="850"/>
          </a:p>
        </p:txBody>
      </p:sp>
      <p:sp>
        <p:nvSpPr>
          <p:cNvPr id="71" name="Text 71"/>
          <p:cNvSpPr txBox="1"/>
          <p:nvPr/>
        </p:nvSpPr>
        <p:spPr>
          <a:xfrm>
            <a:off x="6355080" y="4690872"/>
            <a:ext cx="138988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690" b="0" dirty="0">
                <a:solidFill>
                  <a:srgbClr val="5F6B7A"/>
                </a:solidFill>
                <a:latin typeface="Arial"/>
              </a:rPr>
              <a:t>Planning, controls, guardrails</a:t>
            </a:r>
            <a:endParaRPr lang="en-US" sz="690"/>
          </a:p>
        </p:txBody>
      </p:sp>
      <p:cxnSp>
        <p:nvCxnSpPr>
          <p:cNvPr id="72" name="Connector 72"/>
          <p:cNvCxnSpPr/>
          <p:nvPr/>
        </p:nvCxnSpPr>
        <p:spPr>
          <a:xfrm>
            <a:off x="8065008" y="4005072"/>
            <a:ext cx="457200" cy="0"/>
          </a:xfrm>
          <a:prstGeom prst="line">
            <a:avLst/>
          </a:prstGeom>
          <a:ln w="31750">
            <a:solidFill>
              <a:srgbClr val="168653"/>
            </a:solidFill>
            <a:tailEnd type="triangle"/>
            <a:headEnd type="none"/>
          </a:ln>
        </p:spPr>
      </p:cxnSp>
      <p:sp>
        <p:nvSpPr>
          <p:cNvPr id="73" name="Shape 73"/>
          <p:cNvSpPr/>
          <p:nvPr/>
        </p:nvSpPr>
        <p:spPr>
          <a:xfrm>
            <a:off x="8686800" y="2852928"/>
            <a:ext cx="3136392" cy="2304288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8915400" y="30449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168653"/>
                </a:solidFill>
                <a:latin typeface="Arial"/>
              </a:rPr>
              <a:t>AGENTIC AI SYSTEM</a:t>
            </a:r>
            <a:endParaRPr lang="en-US" sz="850"/>
          </a:p>
        </p:txBody>
      </p:sp>
      <p:sp>
        <p:nvSpPr>
          <p:cNvPr id="75" name="Text 75"/>
          <p:cNvSpPr txBox="1"/>
          <p:nvPr/>
        </p:nvSpPr>
        <p:spPr>
          <a:xfrm>
            <a:off x="8915400" y="3300984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400" b="1" dirty="0">
                <a:solidFill>
                  <a:srgbClr val="172033"/>
                </a:solidFill>
                <a:latin typeface="Arial"/>
              </a:rPr>
              <a:t>Reason, act, and adapt</a:t>
            </a:r>
            <a:endParaRPr lang="en-US" sz="1400"/>
          </a:p>
        </p:txBody>
      </p:sp>
      <p:sp>
        <p:nvSpPr>
          <p:cNvPr id="76" name="Circle 76"/>
          <p:cNvSpPr/>
          <p:nvPr/>
        </p:nvSpPr>
        <p:spPr>
          <a:xfrm>
            <a:off x="9857232" y="3767328"/>
            <a:ext cx="1298448" cy="1298448"/>
          </a:xfrm>
          <a:prstGeom prst="ellipse">
            <a:avLst/>
          </a:prstGeom>
          <a:solidFill>
            <a:srgbClr val="FFFFFF"/>
          </a:solidFill>
          <a:ln>
            <a:solidFill>
              <a:srgbClr val="A9D8BE"/>
            </a:solidFill>
          </a:ln>
        </p:spPr>
      </p:sp>
      <p:sp>
        <p:nvSpPr>
          <p:cNvPr id="77" name="Circle 77"/>
          <p:cNvSpPr/>
          <p:nvPr/>
        </p:nvSpPr>
        <p:spPr>
          <a:xfrm>
            <a:off x="10268712" y="4160520"/>
            <a:ext cx="502920" cy="502920"/>
          </a:xfrm>
          <a:prstGeom prst="ellipse">
            <a:avLst/>
          </a:prstGeom>
          <a:solidFill>
            <a:srgbClr val="E1F5E9"/>
          </a:solidFill>
          <a:ln>
            <a:solidFill>
              <a:srgbClr val="E1F5E9"/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10268712" y="4270248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168653"/>
                </a:solidFill>
                <a:latin typeface="Arial"/>
              </a:rPr>
              <a:t>GOAL</a:t>
            </a:r>
            <a:endParaRPr lang="en-US" sz="780"/>
          </a:p>
        </p:txBody>
      </p:sp>
      <p:sp>
        <p:nvSpPr>
          <p:cNvPr id="79" name="Text 79"/>
          <p:cNvSpPr txBox="1"/>
          <p:nvPr/>
        </p:nvSpPr>
        <p:spPr>
          <a:xfrm>
            <a:off x="10268712" y="4425696"/>
            <a:ext cx="50292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620" b="0" dirty="0">
                <a:solidFill>
                  <a:srgbClr val="172033"/>
                </a:solidFill>
                <a:latin typeface="Arial"/>
              </a:rPr>
              <a:t>completion</a:t>
            </a:r>
            <a:endParaRPr lang="en-US" sz="620"/>
          </a:p>
        </p:txBody>
      </p:sp>
      <p:sp>
        <p:nvSpPr>
          <p:cNvPr id="80" name="Shape 80"/>
          <p:cNvSpPr/>
          <p:nvPr/>
        </p:nvSpPr>
        <p:spPr>
          <a:xfrm>
            <a:off x="10012680" y="3675888"/>
            <a:ext cx="777240" cy="228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10012680" y="3721608"/>
            <a:ext cx="7772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670" b="1" dirty="0">
                <a:solidFill>
                  <a:srgbClr val="2563A8"/>
                </a:solidFill>
                <a:latin typeface="Arial"/>
              </a:rPr>
              <a:t>UNDERSTAND</a:t>
            </a:r>
            <a:endParaRPr lang="en-US" sz="670"/>
          </a:p>
        </p:txBody>
      </p:sp>
      <p:sp>
        <p:nvSpPr>
          <p:cNvPr id="82" name="Shape 82"/>
          <p:cNvSpPr/>
          <p:nvPr/>
        </p:nvSpPr>
        <p:spPr>
          <a:xfrm>
            <a:off x="10908792" y="4178808"/>
            <a:ext cx="457200" cy="228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10908792" y="422452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670" b="1" dirty="0">
                <a:solidFill>
                  <a:srgbClr val="B65F00"/>
                </a:solidFill>
                <a:latin typeface="Arial"/>
              </a:rPr>
              <a:t>PLAN</a:t>
            </a:r>
            <a:endParaRPr lang="en-US" sz="670"/>
          </a:p>
        </p:txBody>
      </p:sp>
      <p:sp>
        <p:nvSpPr>
          <p:cNvPr id="84" name="Shape 84"/>
          <p:cNvSpPr/>
          <p:nvPr/>
        </p:nvSpPr>
        <p:spPr>
          <a:xfrm>
            <a:off x="10076688" y="4828032"/>
            <a:ext cx="429768" cy="228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10076688" y="4873752"/>
            <a:ext cx="42976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670" b="1" dirty="0">
                <a:solidFill>
                  <a:srgbClr val="168653"/>
                </a:solidFill>
                <a:latin typeface="Arial"/>
              </a:rPr>
              <a:t>ACT</a:t>
            </a:r>
            <a:endParaRPr lang="en-US" sz="670"/>
          </a:p>
        </p:txBody>
      </p:sp>
      <p:sp>
        <p:nvSpPr>
          <p:cNvPr id="86" name="Shape 86"/>
          <p:cNvSpPr/>
          <p:nvPr/>
        </p:nvSpPr>
        <p:spPr>
          <a:xfrm>
            <a:off x="9217152" y="4178808"/>
            <a:ext cx="585216" cy="228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</p:sp>
      <p:sp>
        <p:nvSpPr>
          <p:cNvPr id="87" name="Text 87"/>
          <p:cNvSpPr txBox="1"/>
          <p:nvPr/>
        </p:nvSpPr>
        <p:spPr>
          <a:xfrm>
            <a:off x="9217152" y="4224528"/>
            <a:ext cx="585216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670" b="1" dirty="0">
                <a:solidFill>
                  <a:srgbClr val="7651A8"/>
                </a:solidFill>
                <a:latin typeface="Arial"/>
              </a:rPr>
              <a:t>OBSERVE</a:t>
            </a:r>
            <a:endParaRPr lang="en-US" sz="670"/>
          </a:p>
        </p:txBody>
      </p:sp>
      <p:cxnSp>
        <p:nvCxnSpPr>
          <p:cNvPr id="88" name="Connector 88"/>
          <p:cNvCxnSpPr/>
          <p:nvPr/>
        </p:nvCxnSpPr>
        <p:spPr>
          <a:xfrm>
            <a:off x="10771632" y="3803904"/>
            <a:ext cx="347472" cy="356616"/>
          </a:xfrm>
          <a:prstGeom prst="line">
            <a:avLst/>
          </a:prstGeom>
          <a:ln w="13970">
            <a:solidFill>
              <a:srgbClr val="7F8EA3"/>
            </a:solidFill>
            <a:tailEnd type="triangle"/>
            <a:headEnd type="none"/>
          </a:ln>
        </p:spPr>
      </p:cxnSp>
      <p:cxnSp>
        <p:nvCxnSpPr>
          <p:cNvPr id="89" name="Connector 89"/>
          <p:cNvCxnSpPr/>
          <p:nvPr/>
        </p:nvCxnSpPr>
        <p:spPr>
          <a:xfrm>
            <a:off x="11109960" y="4416552"/>
            <a:ext cx="-539496" cy="429768"/>
          </a:xfrm>
          <a:prstGeom prst="line">
            <a:avLst/>
          </a:prstGeom>
          <a:ln w="13970">
            <a:solidFill>
              <a:srgbClr val="7F8EA3"/>
            </a:solidFill>
            <a:tailEnd type="triangle"/>
            <a:headEnd type="none"/>
          </a:ln>
        </p:spPr>
      </p:cxnSp>
      <p:cxnSp>
        <p:nvCxnSpPr>
          <p:cNvPr id="90" name="Connector 90"/>
          <p:cNvCxnSpPr/>
          <p:nvPr/>
        </p:nvCxnSpPr>
        <p:spPr>
          <a:xfrm>
            <a:off x="10040112" y="4846320"/>
            <a:ext cx="-530352" cy="-420624"/>
          </a:xfrm>
          <a:prstGeom prst="line">
            <a:avLst/>
          </a:prstGeom>
          <a:ln w="13970">
            <a:solidFill>
              <a:srgbClr val="7F8EA3"/>
            </a:solidFill>
            <a:tailEnd type="triangle"/>
            <a:headEnd type="none"/>
          </a:ln>
        </p:spPr>
      </p:cxnSp>
      <p:cxnSp>
        <p:nvCxnSpPr>
          <p:cNvPr id="91" name="Connector 91"/>
          <p:cNvCxnSpPr/>
          <p:nvPr/>
        </p:nvCxnSpPr>
        <p:spPr>
          <a:xfrm>
            <a:off x="9509760" y="4160520"/>
            <a:ext cx="475488" cy="-356616"/>
          </a:xfrm>
          <a:prstGeom prst="line">
            <a:avLst/>
          </a:prstGeom>
          <a:ln w="13970">
            <a:solidFill>
              <a:srgbClr val="7F8EA3"/>
            </a:solidFill>
            <a:tailEnd type="triangle"/>
            <a:headEnd type="none"/>
          </a:ln>
        </p:spPr>
      </p:cxnSp>
      <p:sp>
        <p:nvSpPr>
          <p:cNvPr id="92" name="Shape 92"/>
          <p:cNvSpPr/>
          <p:nvPr/>
        </p:nvSpPr>
        <p:spPr>
          <a:xfrm>
            <a:off x="365760" y="5577840"/>
            <a:ext cx="11457432" cy="868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</p:sp>
      <p:sp>
        <p:nvSpPr>
          <p:cNvPr id="93" name="Text 93"/>
          <p:cNvSpPr txBox="1"/>
          <p:nvPr/>
        </p:nvSpPr>
        <p:spPr>
          <a:xfrm>
            <a:off x="603504" y="5769864"/>
            <a:ext cx="11887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40" b="1" dirty="0">
                <a:solidFill>
                  <a:srgbClr val="53C7ED"/>
                </a:solidFill>
                <a:latin typeface="Arial"/>
              </a:rPr>
              <a:t>THE TRANSITION</a:t>
            </a:r>
            <a:endParaRPr lang="en-US" sz="840"/>
          </a:p>
        </p:txBody>
      </p:sp>
      <p:sp>
        <p:nvSpPr>
          <p:cNvPr id="94" name="Text 94"/>
          <p:cNvSpPr txBox="1"/>
          <p:nvPr/>
        </p:nvSpPr>
        <p:spPr>
          <a:xfrm>
            <a:off x="603504" y="6016752"/>
            <a:ext cx="53492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</a:rPr>
              <a:t>Model intelligence determines what AI can reason about.</a:t>
            </a:r>
            <a:endParaRPr lang="en-US" sz="1350"/>
          </a:p>
        </p:txBody>
      </p:sp>
      <p:sp>
        <p:nvSpPr>
          <p:cNvPr id="95" name="Text 95"/>
          <p:cNvSpPr txBox="1"/>
          <p:nvPr/>
        </p:nvSpPr>
        <p:spPr>
          <a:xfrm>
            <a:off x="6446520" y="6016752"/>
            <a:ext cx="4937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50" b="1" dirty="0">
                <a:solidFill>
                  <a:srgbClr val="53D89A"/>
                </a:solidFill>
                <a:latin typeface="Arial"/>
              </a:rPr>
              <a:t>Tools + runtime determine what it can do.</a:t>
            </a:r>
            <a:endParaRPr lang="en-US" sz="1350"/>
          </a:p>
        </p:txBody>
      </p:sp>
      <p:sp>
        <p:nvSpPr>
          <p:cNvPr id="96" name="Text 96"/>
          <p:cNvSpPr txBox="1"/>
          <p:nvPr/>
        </p:nvSpPr>
        <p:spPr>
          <a:xfrm>
            <a:off x="603504" y="6254496"/>
            <a:ext cx="107899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40" b="0" dirty="0">
                <a:solidFill>
                  <a:srgbClr val="A8B4C7"/>
                </a:solidFill>
                <a:latin typeface="Arial"/>
              </a:rPr>
              <a:t>This is the bridge from conversational AI to systems that can complete work across software, devices, and real-world workflows.</a:t>
            </a:r>
            <a:endParaRPr lang="en-US" sz="7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