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56032"/>
            <a:ext cx="8778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500" b="1" dirty="0">
                <a:solidFill>
                  <a:srgbClr val="F7FAFC"/>
                </a:solidFill>
                <a:latin typeface="Arial"/>
              </a:rPr>
              <a:t>Fraud Block Agent | End-to-End Design</a:t>
            </a:r>
            <a:endParaRPr lang="en-US" sz="2500"/>
          </a:p>
        </p:txBody>
      </p:sp>
      <p:sp>
        <p:nvSpPr>
          <p:cNvPr id="3" name="Text 3"/>
          <p:cNvSpPr txBox="1"/>
          <p:nvPr/>
        </p:nvSpPr>
        <p:spPr>
          <a:xfrm>
            <a:off x="457200" y="71323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DeepSeek interprets every customer message; deterministic controls protect decisions and actions.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9555480" y="347472"/>
            <a:ext cx="2157984" cy="256032"/>
          </a:xfrm>
          <a:prstGeom prst="round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9555480" y="352044"/>
            <a:ext cx="2157984" cy="2423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09111F"/>
                </a:solidFill>
                <a:latin typeface="Arial"/>
              </a:rPr>
              <a:t>BEGINNER-FRIENDLY  •  REPRODUCIBLE</a:t>
            </a:r>
            <a:endParaRPr lang="en-US" sz="850"/>
          </a:p>
        </p:txBody>
      </p:sp>
      <p:cxnSp>
        <p:nvCxnSpPr>
          <p:cNvPr id="6" name="Connector 6"/>
          <p:cNvCxnSpPr/>
          <p:nvPr/>
        </p:nvCxnSpPr>
        <p:spPr>
          <a:xfrm>
            <a:off x="457200" y="1051560"/>
            <a:ext cx="11265408" cy="0"/>
          </a:xfrm>
          <a:prstGeom prst="line">
            <a:avLst/>
          </a:prstGeom>
          <a:ln w="12700">
            <a:solidFill>
              <a:srgbClr val="2A3A53"/>
            </a:solidFill>
            <a:tailEnd type="none"/>
            <a:headEnd type="none"/>
          </a:ln>
        </p:spPr>
      </p:cxnSp>
      <p:sp>
        <p:nvSpPr>
          <p:cNvPr id="7" name="Shape 7"/>
          <p:cNvSpPr/>
          <p:nvPr/>
        </p:nvSpPr>
        <p:spPr>
          <a:xfrm>
            <a:off x="457200" y="1298448"/>
            <a:ext cx="1325880" cy="3493008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8" name="Circle 8"/>
          <p:cNvSpPr/>
          <p:nvPr/>
        </p:nvSpPr>
        <p:spPr>
          <a:xfrm>
            <a:off x="850392" y="1600200"/>
            <a:ext cx="530352" cy="530352"/>
          </a:xfrm>
          <a:prstGeom prst="ellipse">
            <a:avLst/>
          </a:prstGeom>
          <a:solidFill>
            <a:srgbClr val="5B8CFF"/>
          </a:solidFill>
          <a:ln>
            <a:solidFill>
              <a:srgbClr val="5B8CFF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850392" y="161848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700" b="1" dirty="0">
                <a:solidFill>
                  <a:srgbClr val="F7FAFC"/>
                </a:solidFill>
                <a:latin typeface="Arial"/>
              </a:rPr>
              <a:t>C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621792" y="2249424"/>
            <a:ext cx="9875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00" b="1" dirty="0">
                <a:solidFill>
                  <a:srgbClr val="35C2E3"/>
                </a:solidFill>
                <a:latin typeface="Arial"/>
              </a:rPr>
              <a:t>CUSTOMER</a:t>
            </a:r>
            <a:endParaRPr lang="en-US" sz="900"/>
          </a:p>
        </p:txBody>
      </p:sp>
      <p:sp>
        <p:nvSpPr>
          <p:cNvPr id="11" name="Text 11"/>
          <p:cNvSpPr txBox="1"/>
          <p:nvPr/>
        </p:nvSpPr>
        <p:spPr>
          <a:xfrm>
            <a:off x="603504" y="2633472"/>
            <a:ext cx="102412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200" b="1" dirty="0">
                <a:solidFill>
                  <a:srgbClr val="F7FAFC"/>
                </a:solidFill>
                <a:latin typeface="Arial"/>
              </a:rPr>
              <a:t>Streamlit chat</a:t>
            </a:r>
            <a:endParaRPr lang="en-US" sz="1200"/>
          </a:p>
          <a:p>
            <a:pPr algn="ctr"/>
            <a:r>
              <a:rPr lang="en-US" sz="1200" b="1" dirty="0">
                <a:solidFill>
                  <a:srgbClr val="F7FAFC"/>
                </a:solidFill>
                <a:latin typeface="Arial"/>
              </a:rPr>
              <a:t>CLI explorer</a:t>
            </a:r>
            <a:endParaRPr lang="en-US" sz="1200"/>
          </a:p>
        </p:txBody>
      </p:sp>
      <p:sp>
        <p:nvSpPr>
          <p:cNvPr id="12" name="Text 12"/>
          <p:cNvSpPr txBox="1"/>
          <p:nvPr/>
        </p:nvSpPr>
        <p:spPr>
          <a:xfrm>
            <a:off x="612648" y="3529584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50" b="0" dirty="0">
                <a:solidFill>
                  <a:srgbClr val="A8B4C7"/>
                </a:solidFill>
                <a:latin typeface="Arial"/>
              </a:rPr>
              <a:t>Free-form</a:t>
            </a:r>
            <a:endParaRPr lang="en-US" sz="950"/>
          </a:p>
          <a:p>
            <a:pPr algn="ctr"/>
            <a:r>
              <a:rPr lang="en-US" sz="950" b="0" dirty="0">
                <a:solidFill>
                  <a:srgbClr val="A8B4C7"/>
                </a:solidFill>
                <a:latin typeface="Arial"/>
              </a:rPr>
              <a:t>natural language</a:t>
            </a:r>
            <a:endParaRPr lang="en-US" sz="950"/>
          </a:p>
        </p:txBody>
      </p:sp>
      <p:sp>
        <p:nvSpPr>
          <p:cNvPr id="13" name="Text 13"/>
          <p:cNvSpPr txBox="1"/>
          <p:nvPr/>
        </p:nvSpPr>
        <p:spPr>
          <a:xfrm>
            <a:off x="612648" y="4261104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39D98A"/>
                </a:solidFill>
                <a:latin typeface="Arial"/>
              </a:rPr>
              <a:t>Every turn → LLM</a:t>
            </a:r>
            <a:endParaRPr lang="en-US" sz="850"/>
          </a:p>
        </p:txBody>
      </p:sp>
      <p:cxnSp>
        <p:nvCxnSpPr>
          <p:cNvPr id="14" name="Connector 14"/>
          <p:cNvCxnSpPr/>
          <p:nvPr/>
        </p:nvCxnSpPr>
        <p:spPr>
          <a:xfrm>
            <a:off x="1783080" y="2999232"/>
            <a:ext cx="246888" cy="0"/>
          </a:xfrm>
          <a:prstGeom prst="line">
            <a:avLst/>
          </a:prstGeom>
          <a:ln w="27940">
            <a:solidFill>
              <a:srgbClr val="35C2E3"/>
            </a:solidFill>
            <a:tailEnd type="triangle"/>
            <a:headEnd type="none"/>
          </a:ln>
        </p:spPr>
      </p:cxnSp>
      <p:sp>
        <p:nvSpPr>
          <p:cNvPr id="15" name="Shape 15"/>
          <p:cNvSpPr/>
          <p:nvPr/>
        </p:nvSpPr>
        <p:spPr>
          <a:xfrm>
            <a:off x="2057400" y="1298448"/>
            <a:ext cx="1993392" cy="3493008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2286000" y="1517904"/>
            <a:ext cx="1078992" cy="256032"/>
          </a:xfrm>
          <a:prstGeom prst="roundRect">
            <a:avLst/>
          </a:prstGeom>
          <a:solidFill>
            <a:srgbClr val="35C2E3"/>
          </a:solidFill>
          <a:ln w="12700">
            <a:solidFill>
              <a:srgbClr val="35C2E3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2286000" y="1522476"/>
            <a:ext cx="1078992" cy="2423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09111F"/>
                </a:solidFill>
                <a:latin typeface="Arial"/>
              </a:rPr>
              <a:t>01  UNDERSTAND</a:t>
            </a:r>
            <a:endParaRPr lang="en-US" sz="850"/>
          </a:p>
        </p:txBody>
      </p:sp>
      <p:sp>
        <p:nvSpPr>
          <p:cNvPr id="18" name="Text 18"/>
          <p:cNvSpPr txBox="1"/>
          <p:nvPr/>
        </p:nvSpPr>
        <p:spPr>
          <a:xfrm>
            <a:off x="2286000" y="1920240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 dirty="0">
                <a:solidFill>
                  <a:srgbClr val="F7FAFC"/>
                </a:solidFill>
                <a:latin typeface="Arial"/>
              </a:rPr>
              <a:t>DeepSeek API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2286000" y="2331720"/>
            <a:ext cx="152704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Interprets intent</a:t>
            </a:r>
            <a:endParaRPr lang="en-US" sz="1050"/>
          </a:p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Writes human response</a:t>
            </a:r>
            <a:endParaRPr lang="en-US" sz="1050"/>
          </a:p>
          <a:p>
            <a:pPr algn="l"/>
            <a:r>
              <a:rPr lang="en-US" sz="1050" b="0" dirty="0">
                <a:solidFill>
                  <a:srgbClr val="A8B4C7"/>
                </a:solidFill>
                <a:latin typeface="Arial"/>
              </a:rPr>
              <a:t>Emits structured JSON</a:t>
            </a:r>
            <a:endParaRPr lang="en-US" sz="1050"/>
          </a:p>
        </p:txBody>
      </p:sp>
      <p:cxnSp>
        <p:nvCxnSpPr>
          <p:cNvPr id="20" name="Connector 20"/>
          <p:cNvCxnSpPr/>
          <p:nvPr/>
        </p:nvCxnSpPr>
        <p:spPr>
          <a:xfrm>
            <a:off x="2286000" y="3218688"/>
            <a:ext cx="1508760" cy="0"/>
          </a:xfrm>
          <a:prstGeom prst="line">
            <a:avLst/>
          </a:prstGeom>
          <a:ln w="12700">
            <a:solidFill>
              <a:srgbClr val="2A3A53"/>
            </a:solidFill>
            <a:tailEnd type="none"/>
            <a:headEnd type="none"/>
          </a:ln>
        </p:spPr>
      </p:cxnSp>
      <p:sp>
        <p:nvSpPr>
          <p:cNvPr id="21" name="Text 21"/>
          <p:cNvSpPr txBox="1"/>
          <p:nvPr/>
        </p:nvSpPr>
        <p:spPr>
          <a:xfrm>
            <a:off x="2286000" y="3383280"/>
            <a:ext cx="152704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F7FAFC"/>
                </a:solidFill>
                <a:latin typeface="Arial"/>
              </a:rPr>
              <a:t>Handles topic switches</a:t>
            </a:r>
            <a:endParaRPr lang="en-US" sz="1050"/>
          </a:p>
          <a:p>
            <a:pPr algn="l"/>
            <a:r>
              <a:rPr lang="en-US" sz="1050" b="1" dirty="0">
                <a:solidFill>
                  <a:srgbClr val="F7FAFC"/>
                </a:solidFill>
                <a:latin typeface="Arial"/>
              </a:rPr>
              <a:t>and natural replies</a:t>
            </a:r>
            <a:endParaRPr lang="en-US" sz="1050"/>
          </a:p>
        </p:txBody>
      </p:sp>
      <p:sp>
        <p:nvSpPr>
          <p:cNvPr id="22" name="Shape 22"/>
          <p:cNvSpPr/>
          <p:nvPr/>
        </p:nvSpPr>
        <p:spPr>
          <a:xfrm>
            <a:off x="2286000" y="4160520"/>
            <a:ext cx="1517904" cy="384048"/>
          </a:xfrm>
          <a:prstGeom prst="roundRect">
            <a:avLst/>
          </a:prstGeom>
          <a:solidFill>
            <a:srgbClr val="102D37"/>
          </a:solidFill>
          <a:ln w="12700">
            <a:solidFill>
              <a:srgbClr val="1E5966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2340864" y="4206240"/>
            <a:ext cx="1408176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00" b="1" dirty="0">
                <a:solidFill>
                  <a:srgbClr val="35C2E3"/>
                </a:solidFill>
                <a:latin typeface="Arial"/>
              </a:rPr>
              <a:t>≤ 3 clarification turns</a:t>
            </a:r>
            <a:endParaRPr lang="en-US" sz="900"/>
          </a:p>
        </p:txBody>
      </p:sp>
      <p:cxnSp>
        <p:nvCxnSpPr>
          <p:cNvPr id="24" name="Connector 24"/>
          <p:cNvCxnSpPr/>
          <p:nvPr/>
        </p:nvCxnSpPr>
        <p:spPr>
          <a:xfrm>
            <a:off x="4050792" y="2999232"/>
            <a:ext cx="246888" cy="0"/>
          </a:xfrm>
          <a:prstGeom prst="line">
            <a:avLst/>
          </a:prstGeom>
          <a:ln w="27940">
            <a:solidFill>
              <a:srgbClr val="35C2E3"/>
            </a:solidFill>
            <a:tailEnd type="triangle"/>
            <a:headEnd type="none"/>
          </a:ln>
        </p:spPr>
      </p:cxnSp>
      <p:sp>
        <p:nvSpPr>
          <p:cNvPr id="25" name="Shape 25"/>
          <p:cNvSpPr/>
          <p:nvPr/>
        </p:nvSpPr>
        <p:spPr>
          <a:xfrm>
            <a:off x="4325112" y="1298448"/>
            <a:ext cx="2084832" cy="3493008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26" name="Shape 26"/>
          <p:cNvSpPr/>
          <p:nvPr/>
        </p:nvSpPr>
        <p:spPr>
          <a:xfrm>
            <a:off x="4553712" y="1517904"/>
            <a:ext cx="841248" cy="256032"/>
          </a:xfrm>
          <a:prstGeom prst="roundRect">
            <a:avLst/>
          </a:prstGeom>
          <a:solidFill>
            <a:srgbClr val="5B8CFF"/>
          </a:solidFill>
          <a:ln w="12700">
            <a:solidFill>
              <a:srgbClr val="5B8CFF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4553712" y="1522476"/>
            <a:ext cx="841248" cy="2423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09111F"/>
                </a:solidFill>
                <a:latin typeface="Arial"/>
              </a:rPr>
              <a:t>02  ROUTE</a:t>
            </a:r>
            <a:endParaRPr lang="en-US" sz="850"/>
          </a:p>
        </p:txBody>
      </p:sp>
      <p:sp>
        <p:nvSpPr>
          <p:cNvPr id="28" name="Text 28"/>
          <p:cNvSpPr txBox="1"/>
          <p:nvPr/>
        </p:nvSpPr>
        <p:spPr>
          <a:xfrm>
            <a:off x="4553712" y="1901952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400" b="1" dirty="0">
                <a:solidFill>
                  <a:srgbClr val="F7FAFC"/>
                </a:solidFill>
                <a:latin typeface="Arial"/>
              </a:rPr>
              <a:t>Python</a:t>
            </a:r>
            <a:endParaRPr lang="en-US" sz="1400"/>
          </a:p>
          <a:p>
            <a:pPr algn="l"/>
            <a:r>
              <a:rPr lang="en-US" sz="1400" b="1" dirty="0">
                <a:solidFill>
                  <a:srgbClr val="F7FAFC"/>
                </a:solidFill>
                <a:latin typeface="Arial"/>
              </a:rPr>
              <a:t>orchestrator</a:t>
            </a:r>
            <a:endParaRPr lang="en-US" sz="1400"/>
          </a:p>
        </p:txBody>
      </p:sp>
      <p:sp>
        <p:nvSpPr>
          <p:cNvPr id="29" name="Text 29"/>
          <p:cNvSpPr txBox="1"/>
          <p:nvPr/>
        </p:nvSpPr>
        <p:spPr>
          <a:xfrm>
            <a:off x="4553712" y="2450592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A8B4C7"/>
                </a:solidFill>
                <a:latin typeface="Arial"/>
              </a:rPr>
              <a:t>Consumes the JSON instruction</a:t>
            </a:r>
            <a:endParaRPr lang="en-US" sz="920"/>
          </a:p>
        </p:txBody>
      </p:sp>
      <p:sp>
        <p:nvSpPr>
          <p:cNvPr id="30" name="Shape 30"/>
          <p:cNvSpPr/>
          <p:nvPr/>
        </p:nvSpPr>
        <p:spPr>
          <a:xfrm>
            <a:off x="4553712" y="2743200"/>
            <a:ext cx="1627632" cy="429768"/>
          </a:xfrm>
          <a:prstGeom prst="roundRect">
            <a:avLst/>
          </a:prstGeom>
          <a:solidFill>
            <a:srgbClr val="173B31"/>
          </a:solidFill>
          <a:ln w="12700">
            <a:solidFill>
              <a:srgbClr val="28664F"/>
            </a:solidFill>
          </a:ln>
        </p:spPr>
      </p:sp>
      <p:sp>
        <p:nvSpPr>
          <p:cNvPr id="31" name="Circle 31"/>
          <p:cNvSpPr/>
          <p:nvPr/>
        </p:nvSpPr>
        <p:spPr>
          <a:xfrm>
            <a:off x="4681728" y="2862072"/>
            <a:ext cx="164592" cy="164592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4956048" y="2807208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F7FAFC"/>
                </a:solidFill>
                <a:latin typeface="Arial"/>
              </a:rPr>
              <a:t>Remove block</a:t>
            </a:r>
            <a:endParaRPr lang="en-US" sz="1050"/>
          </a:p>
        </p:txBody>
      </p:sp>
      <p:sp>
        <p:nvSpPr>
          <p:cNvPr id="33" name="Shape 33"/>
          <p:cNvSpPr/>
          <p:nvPr/>
        </p:nvSpPr>
        <p:spPr>
          <a:xfrm>
            <a:off x="4553712" y="3300984"/>
            <a:ext cx="1627632" cy="429768"/>
          </a:xfrm>
          <a:prstGeom prst="roundRect">
            <a:avLst/>
          </a:prstGeom>
          <a:solidFill>
            <a:srgbClr val="3A2B1A"/>
          </a:solidFill>
          <a:ln w="12700">
            <a:solidFill>
              <a:srgbClr val="684B25"/>
            </a:solidFill>
          </a:ln>
        </p:spPr>
      </p:sp>
      <p:sp>
        <p:nvSpPr>
          <p:cNvPr id="34" name="Circle 34"/>
          <p:cNvSpPr/>
          <p:nvPr/>
        </p:nvSpPr>
        <p:spPr>
          <a:xfrm>
            <a:off x="4681728" y="3419856"/>
            <a:ext cx="164592" cy="164592"/>
          </a:xfrm>
          <a:prstGeom prst="ellipse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4956048" y="336499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F7FAFC"/>
                </a:solidFill>
                <a:latin typeface="Arial"/>
              </a:rPr>
              <a:t>Suspected fraud</a:t>
            </a:r>
            <a:endParaRPr lang="en-US" sz="1050"/>
          </a:p>
        </p:txBody>
      </p:sp>
      <p:sp>
        <p:nvSpPr>
          <p:cNvPr id="36" name="Shape 36"/>
          <p:cNvSpPr/>
          <p:nvPr/>
        </p:nvSpPr>
        <p:spPr>
          <a:xfrm>
            <a:off x="4553712" y="3858768"/>
            <a:ext cx="1627632" cy="429768"/>
          </a:xfrm>
          <a:prstGeom prst="roundRect">
            <a:avLst/>
          </a:prstGeom>
          <a:solidFill>
            <a:srgbClr val="202B3C"/>
          </a:solidFill>
          <a:ln w="12700">
            <a:solidFill>
              <a:srgbClr val="35455E"/>
            </a:solidFill>
          </a:ln>
        </p:spPr>
      </p:sp>
      <p:sp>
        <p:nvSpPr>
          <p:cNvPr id="37" name="Circle 37"/>
          <p:cNvSpPr/>
          <p:nvPr/>
        </p:nvSpPr>
        <p:spPr>
          <a:xfrm>
            <a:off x="4681728" y="3977640"/>
            <a:ext cx="164592" cy="164592"/>
          </a:xfrm>
          <a:prstGeom prst="ellipse">
            <a:avLst/>
          </a:prstGeom>
          <a:solidFill>
            <a:srgbClr val="A8B4C7"/>
          </a:solidFill>
          <a:ln>
            <a:solidFill>
              <a:srgbClr val="A8B4C7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4956048" y="392277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F7FAFC"/>
                </a:solidFill>
                <a:latin typeface="Arial"/>
              </a:rPr>
              <a:t>Non-fraud</a:t>
            </a:r>
            <a:endParaRPr lang="en-US" sz="1050"/>
          </a:p>
        </p:txBody>
      </p:sp>
      <p:cxnSp>
        <p:nvCxnSpPr>
          <p:cNvPr id="39" name="Connector 39"/>
          <p:cNvCxnSpPr/>
          <p:nvPr/>
        </p:nvCxnSpPr>
        <p:spPr>
          <a:xfrm>
            <a:off x="6409944" y="2999232"/>
            <a:ext cx="246888" cy="0"/>
          </a:xfrm>
          <a:prstGeom prst="line">
            <a:avLst/>
          </a:prstGeom>
          <a:ln w="27940">
            <a:solidFill>
              <a:srgbClr val="39D98A"/>
            </a:solidFill>
            <a:tailEnd type="triangle"/>
            <a:headEnd type="none"/>
          </a:ln>
        </p:spPr>
      </p:cxnSp>
      <p:sp>
        <p:nvSpPr>
          <p:cNvPr id="40" name="Shape 40"/>
          <p:cNvSpPr/>
          <p:nvPr/>
        </p:nvSpPr>
        <p:spPr>
          <a:xfrm>
            <a:off x="6684264" y="1298448"/>
            <a:ext cx="2487168" cy="3493008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912864" y="1517904"/>
            <a:ext cx="694944" cy="256032"/>
          </a:xfrm>
          <a:prstGeom prst="round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912864" y="1522476"/>
            <a:ext cx="694944" cy="2423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09111F"/>
                </a:solidFill>
                <a:latin typeface="Arial"/>
              </a:rPr>
              <a:t>03  ACT</a:t>
            </a:r>
            <a:endParaRPr lang="en-US" sz="850"/>
          </a:p>
        </p:txBody>
      </p:sp>
      <p:sp>
        <p:nvSpPr>
          <p:cNvPr id="43" name="Text 43"/>
          <p:cNvSpPr txBox="1"/>
          <p:nvPr/>
        </p:nvSpPr>
        <p:spPr>
          <a:xfrm>
            <a:off x="6912864" y="1920240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550" b="1" dirty="0">
                <a:solidFill>
                  <a:srgbClr val="F7FAFC"/>
                </a:solidFill>
                <a:latin typeface="Arial"/>
              </a:rPr>
              <a:t>Protected removal path</a:t>
            </a:r>
            <a:endParaRPr lang="en-US" sz="1550"/>
          </a:p>
        </p:txBody>
      </p:sp>
      <p:sp>
        <p:nvSpPr>
          <p:cNvPr id="44" name="Circle 44"/>
          <p:cNvSpPr/>
          <p:nvPr/>
        </p:nvSpPr>
        <p:spPr>
          <a:xfrm>
            <a:off x="6922008" y="2350008"/>
            <a:ext cx="219456" cy="219456"/>
          </a:xfrm>
          <a:prstGeom prst="ellipse">
            <a:avLst/>
          </a:prstGeom>
          <a:solidFill>
            <a:srgbClr val="173B31"/>
          </a:solidFill>
          <a:ln>
            <a:solidFill>
              <a:srgbClr val="28664F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6922008" y="235458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39D98A"/>
                </a:solidFill>
                <a:latin typeface="Arial"/>
              </a:rPr>
              <a:t>1</a:t>
            </a:r>
            <a:endParaRPr lang="en-US" sz="850"/>
          </a:p>
        </p:txBody>
      </p:sp>
      <p:sp>
        <p:nvSpPr>
          <p:cNvPr id="46" name="Text 46"/>
          <p:cNvSpPr txBox="1"/>
          <p:nvPr/>
        </p:nvSpPr>
        <p:spPr>
          <a:xfrm>
            <a:off x="7232904" y="23362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1" dirty="0">
                <a:solidFill>
                  <a:srgbClr val="F7FAFC"/>
                </a:solidFill>
                <a:latin typeface="Arial"/>
              </a:rPr>
              <a:t>Authenticate full card + DOB</a:t>
            </a:r>
            <a:endParaRPr lang="en-US" sz="950"/>
          </a:p>
        </p:txBody>
      </p:sp>
      <p:sp>
        <p:nvSpPr>
          <p:cNvPr id="47" name="Circle 47"/>
          <p:cNvSpPr/>
          <p:nvPr/>
        </p:nvSpPr>
        <p:spPr>
          <a:xfrm>
            <a:off x="6922008" y="2715768"/>
            <a:ext cx="219456" cy="219456"/>
          </a:xfrm>
          <a:prstGeom prst="ellipse">
            <a:avLst/>
          </a:prstGeom>
          <a:solidFill>
            <a:srgbClr val="173B31"/>
          </a:solidFill>
          <a:ln>
            <a:solidFill>
              <a:srgbClr val="28664F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6922008" y="272034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39D98A"/>
                </a:solidFill>
                <a:latin typeface="Arial"/>
              </a:rPr>
              <a:t>2</a:t>
            </a:r>
            <a:endParaRPr lang="en-US" sz="850"/>
          </a:p>
        </p:txBody>
      </p:sp>
      <p:sp>
        <p:nvSpPr>
          <p:cNvPr id="49" name="Text 49"/>
          <p:cNvSpPr txBox="1"/>
          <p:nvPr/>
        </p:nvSpPr>
        <p:spPr>
          <a:xfrm>
            <a:off x="7232904" y="270205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0" dirty="0">
                <a:solidFill>
                  <a:srgbClr val="F7FAFC"/>
                </a:solidFill>
                <a:latin typeface="Arial"/>
              </a:rPr>
              <a:t>Match customer and card</a:t>
            </a:r>
            <a:endParaRPr lang="en-US" sz="950"/>
          </a:p>
        </p:txBody>
      </p:sp>
      <p:sp>
        <p:nvSpPr>
          <p:cNvPr id="50" name="Circle 50"/>
          <p:cNvSpPr/>
          <p:nvPr/>
        </p:nvSpPr>
        <p:spPr>
          <a:xfrm>
            <a:off x="6922008" y="3081528"/>
            <a:ext cx="219456" cy="219456"/>
          </a:xfrm>
          <a:prstGeom prst="ellipse">
            <a:avLst/>
          </a:prstGeom>
          <a:solidFill>
            <a:srgbClr val="173B31"/>
          </a:solidFill>
          <a:ln>
            <a:solidFill>
              <a:srgbClr val="28664F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6922008" y="308610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39D98A"/>
                </a:solidFill>
                <a:latin typeface="Arial"/>
              </a:rPr>
              <a:t>3</a:t>
            </a:r>
            <a:endParaRPr lang="en-US" sz="850"/>
          </a:p>
        </p:txBody>
      </p:sp>
      <p:sp>
        <p:nvSpPr>
          <p:cNvPr id="52" name="Text 52"/>
          <p:cNvSpPr txBox="1"/>
          <p:nvPr/>
        </p:nvSpPr>
        <p:spPr>
          <a:xfrm>
            <a:off x="7232904" y="306781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1" dirty="0">
                <a:solidFill>
                  <a:srgbClr val="F7FAFC"/>
                </a:solidFill>
                <a:latin typeface="Arial"/>
              </a:rPr>
              <a:t>Confirm latest transaction only</a:t>
            </a:r>
            <a:endParaRPr lang="en-US" sz="950"/>
          </a:p>
        </p:txBody>
      </p:sp>
      <p:sp>
        <p:nvSpPr>
          <p:cNvPr id="53" name="Circle 53"/>
          <p:cNvSpPr/>
          <p:nvPr/>
        </p:nvSpPr>
        <p:spPr>
          <a:xfrm>
            <a:off x="6922008" y="3447288"/>
            <a:ext cx="219456" cy="219456"/>
          </a:xfrm>
          <a:prstGeom prst="ellipse">
            <a:avLst/>
          </a:prstGeom>
          <a:solidFill>
            <a:srgbClr val="173B31"/>
          </a:solidFill>
          <a:ln>
            <a:solidFill>
              <a:srgbClr val="28664F"/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6922008" y="345186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39D98A"/>
                </a:solidFill>
                <a:latin typeface="Arial"/>
              </a:rPr>
              <a:t>4</a:t>
            </a:r>
            <a:endParaRPr lang="en-US" sz="850"/>
          </a:p>
        </p:txBody>
      </p:sp>
      <p:sp>
        <p:nvSpPr>
          <p:cNvPr id="55" name="Text 55"/>
          <p:cNvSpPr txBox="1"/>
          <p:nvPr/>
        </p:nvSpPr>
        <p:spPr>
          <a:xfrm>
            <a:off x="7232904" y="343357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0" dirty="0">
                <a:solidFill>
                  <a:srgbClr val="F7FAFC"/>
                </a:solidFill>
                <a:latin typeface="Arial"/>
              </a:rPr>
              <a:t>Check removal eligibility</a:t>
            </a:r>
            <a:endParaRPr lang="en-US" sz="950"/>
          </a:p>
        </p:txBody>
      </p:sp>
      <p:sp>
        <p:nvSpPr>
          <p:cNvPr id="56" name="Circle 56"/>
          <p:cNvSpPr/>
          <p:nvPr/>
        </p:nvSpPr>
        <p:spPr>
          <a:xfrm>
            <a:off x="6922008" y="3813048"/>
            <a:ext cx="219456" cy="219456"/>
          </a:xfrm>
          <a:prstGeom prst="ellipse">
            <a:avLst/>
          </a:prstGeom>
          <a:solidFill>
            <a:srgbClr val="173B31"/>
          </a:solidFill>
          <a:ln>
            <a:solidFill>
              <a:srgbClr val="28664F"/>
            </a:solidFill>
          </a:ln>
        </p:spPr>
      </p:sp>
      <p:sp>
        <p:nvSpPr>
          <p:cNvPr id="57" name="Text 57"/>
          <p:cNvSpPr txBox="1"/>
          <p:nvPr/>
        </p:nvSpPr>
        <p:spPr>
          <a:xfrm>
            <a:off x="6922008" y="381762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39D98A"/>
                </a:solidFill>
                <a:latin typeface="Arial"/>
              </a:rPr>
              <a:t>5</a:t>
            </a:r>
            <a:endParaRPr lang="en-US" sz="850"/>
          </a:p>
        </p:txBody>
      </p:sp>
      <p:sp>
        <p:nvSpPr>
          <p:cNvPr id="58" name="Text 58"/>
          <p:cNvSpPr txBox="1"/>
          <p:nvPr/>
        </p:nvSpPr>
        <p:spPr>
          <a:xfrm>
            <a:off x="7232904" y="379933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0" dirty="0">
                <a:solidFill>
                  <a:srgbClr val="F7FAFC"/>
                </a:solidFill>
                <a:latin typeface="Arial"/>
              </a:rPr>
              <a:t>Remove fraud block</a:t>
            </a:r>
            <a:endParaRPr lang="en-US" sz="950"/>
          </a:p>
        </p:txBody>
      </p:sp>
      <p:sp>
        <p:nvSpPr>
          <p:cNvPr id="59" name="Circle 59"/>
          <p:cNvSpPr/>
          <p:nvPr/>
        </p:nvSpPr>
        <p:spPr>
          <a:xfrm>
            <a:off x="6922008" y="4178808"/>
            <a:ext cx="219456" cy="219456"/>
          </a:xfrm>
          <a:prstGeom prst="ellipse">
            <a:avLst/>
          </a:prstGeom>
          <a:solidFill>
            <a:srgbClr val="173B31"/>
          </a:solidFill>
          <a:ln>
            <a:solidFill>
              <a:srgbClr val="28664F"/>
            </a:solidFill>
          </a:ln>
        </p:spPr>
      </p:sp>
      <p:sp>
        <p:nvSpPr>
          <p:cNvPr id="60" name="Text 60"/>
          <p:cNvSpPr txBox="1"/>
          <p:nvPr/>
        </p:nvSpPr>
        <p:spPr>
          <a:xfrm>
            <a:off x="6922008" y="418338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39D98A"/>
                </a:solidFill>
                <a:latin typeface="Arial"/>
              </a:rPr>
              <a:t>6</a:t>
            </a:r>
            <a:endParaRPr lang="en-US" sz="850"/>
          </a:p>
        </p:txBody>
      </p:sp>
      <p:sp>
        <p:nvSpPr>
          <p:cNvPr id="61" name="Text 61"/>
          <p:cNvSpPr txBox="1"/>
          <p:nvPr/>
        </p:nvSpPr>
        <p:spPr>
          <a:xfrm>
            <a:off x="7232904" y="41650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1" dirty="0">
                <a:solidFill>
                  <a:srgbClr val="F7FAFC"/>
                </a:solidFill>
                <a:latin typeface="Arial"/>
              </a:rPr>
              <a:t>Verify final card status</a:t>
            </a:r>
            <a:endParaRPr lang="en-US" sz="950"/>
          </a:p>
        </p:txBody>
      </p:sp>
      <p:sp>
        <p:nvSpPr>
          <p:cNvPr id="62" name="Shape 62"/>
          <p:cNvSpPr/>
          <p:nvPr/>
        </p:nvSpPr>
        <p:spPr>
          <a:xfrm>
            <a:off x="9409176" y="1298448"/>
            <a:ext cx="2313432" cy="1636776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335071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9646920" y="1536192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00" b="1" dirty="0">
                <a:solidFill>
                  <a:srgbClr val="35C2E3"/>
                </a:solidFill>
                <a:latin typeface="Arial"/>
              </a:rPr>
              <a:t>SAFETY BOUNDARY</a:t>
            </a:r>
            <a:endParaRPr lang="en-US" sz="900"/>
          </a:p>
        </p:txBody>
      </p:sp>
      <p:sp>
        <p:nvSpPr>
          <p:cNvPr id="64" name="Text 64"/>
          <p:cNvSpPr txBox="1"/>
          <p:nvPr/>
        </p:nvSpPr>
        <p:spPr>
          <a:xfrm>
            <a:off x="9646920" y="188366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50" b="1" dirty="0">
                <a:solidFill>
                  <a:srgbClr val="F7FAFC"/>
                </a:solidFill>
                <a:latin typeface="Arial"/>
              </a:rPr>
              <a:t>LLM does not approve</a:t>
            </a:r>
            <a:endParaRPr lang="en-US" sz="1250"/>
          </a:p>
          <a:p>
            <a:pPr algn="l"/>
            <a:r>
              <a:rPr lang="en-US" sz="1250" b="1" dirty="0">
                <a:solidFill>
                  <a:srgbClr val="F7FAFC"/>
                </a:solidFill>
                <a:latin typeface="Arial"/>
              </a:rPr>
              <a:t>or execute bank actions</a:t>
            </a:r>
            <a:endParaRPr lang="en-US" sz="1250"/>
          </a:p>
        </p:txBody>
      </p:sp>
      <p:sp>
        <p:nvSpPr>
          <p:cNvPr id="65" name="Text 65"/>
          <p:cNvSpPr txBox="1"/>
          <p:nvPr/>
        </p:nvSpPr>
        <p:spPr>
          <a:xfrm>
            <a:off x="9646920" y="236829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20" b="0" dirty="0">
                <a:solidFill>
                  <a:srgbClr val="A8B4C7"/>
                </a:solidFill>
                <a:latin typeface="Arial"/>
              </a:rPr>
              <a:t>Tools enforce identity, ownership,</a:t>
            </a:r>
            <a:endParaRPr lang="en-US" sz="920"/>
          </a:p>
          <a:p>
            <a:pPr algn="l"/>
            <a:r>
              <a:rPr lang="en-US" sz="920" b="0" dirty="0">
                <a:solidFill>
                  <a:srgbClr val="A8B4C7"/>
                </a:solidFill>
                <a:latin typeface="Arial"/>
              </a:rPr>
              <a:t>eligibility and final-state checks.</a:t>
            </a:r>
            <a:endParaRPr lang="en-US" sz="920"/>
          </a:p>
        </p:txBody>
      </p:sp>
      <p:sp>
        <p:nvSpPr>
          <p:cNvPr id="66" name="Shape 66"/>
          <p:cNvSpPr/>
          <p:nvPr/>
        </p:nvSpPr>
        <p:spPr>
          <a:xfrm>
            <a:off x="9409176" y="3145536"/>
            <a:ext cx="2313432" cy="1645920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335071"/>
            </a:solidFill>
          </a:ln>
        </p:spPr>
      </p:sp>
      <p:sp>
        <p:nvSpPr>
          <p:cNvPr id="67" name="Text 67"/>
          <p:cNvSpPr txBox="1"/>
          <p:nvPr/>
        </p:nvSpPr>
        <p:spPr>
          <a:xfrm>
            <a:off x="9646920" y="3383280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00" b="1" dirty="0">
                <a:solidFill>
                  <a:srgbClr val="39D98A"/>
                </a:solidFill>
                <a:latin typeface="Arial"/>
              </a:rPr>
              <a:t>EVALUATION HARNESS</a:t>
            </a:r>
            <a:endParaRPr lang="en-US" sz="900"/>
          </a:p>
        </p:txBody>
      </p:sp>
      <p:sp>
        <p:nvSpPr>
          <p:cNvPr id="68" name="Text 68"/>
          <p:cNvSpPr txBox="1"/>
          <p:nvPr/>
        </p:nvSpPr>
        <p:spPr>
          <a:xfrm>
            <a:off x="9646920" y="37307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250" b="1" dirty="0">
                <a:solidFill>
                  <a:srgbClr val="F7FAFC"/>
                </a:solidFill>
                <a:latin typeface="Arial"/>
              </a:rPr>
              <a:t>10 deterministic scenarios</a:t>
            </a:r>
            <a:endParaRPr lang="en-US" sz="1250"/>
          </a:p>
        </p:txBody>
      </p:sp>
      <p:sp>
        <p:nvSpPr>
          <p:cNvPr id="69" name="Text 69"/>
          <p:cNvSpPr txBox="1"/>
          <p:nvPr/>
        </p:nvSpPr>
        <p:spPr>
          <a:xfrm>
            <a:off x="9646920" y="408736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0" dirty="0">
                <a:solidFill>
                  <a:srgbClr val="A8B4C7"/>
                </a:solidFill>
                <a:latin typeface="Arial"/>
              </a:rPr>
              <a:t>Outcome  •  trajectory</a:t>
            </a:r>
            <a:endParaRPr lang="en-US" sz="950"/>
          </a:p>
          <a:p>
            <a:pPr algn="l"/>
            <a:r>
              <a:rPr lang="en-US" sz="950" b="0" dirty="0">
                <a:solidFill>
                  <a:srgbClr val="A8B4C7"/>
                </a:solidFill>
                <a:latin typeface="Arial"/>
              </a:rPr>
              <a:t>Safety gates  •  efficiency</a:t>
            </a:r>
            <a:endParaRPr lang="en-US" sz="950"/>
          </a:p>
        </p:txBody>
      </p:sp>
      <p:sp>
        <p:nvSpPr>
          <p:cNvPr id="70" name="Text 70"/>
          <p:cNvSpPr txBox="1"/>
          <p:nvPr/>
        </p:nvSpPr>
        <p:spPr>
          <a:xfrm>
            <a:off x="9646920" y="455371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FFB454"/>
                </a:solidFill>
                <a:latin typeface="Arial"/>
              </a:rPr>
              <a:t>Catches hidden workflow failures</a:t>
            </a:r>
            <a:endParaRPr lang="en-US" sz="850"/>
          </a:p>
        </p:txBody>
      </p:sp>
      <p:sp>
        <p:nvSpPr>
          <p:cNvPr id="71" name="Text 71"/>
          <p:cNvSpPr txBox="1"/>
          <p:nvPr/>
        </p:nvSpPr>
        <p:spPr>
          <a:xfrm>
            <a:off x="457200" y="5074920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A8B4C7"/>
                </a:solidFill>
                <a:latin typeface="Arial"/>
              </a:rPr>
              <a:t>ROUTING OUTCOMES</a:t>
            </a:r>
            <a:endParaRPr lang="en-US" sz="850"/>
          </a:p>
        </p:txBody>
      </p:sp>
      <p:sp>
        <p:nvSpPr>
          <p:cNvPr id="72" name="Shape 72"/>
          <p:cNvSpPr/>
          <p:nvPr/>
        </p:nvSpPr>
        <p:spPr>
          <a:xfrm>
            <a:off x="457200" y="5376672"/>
            <a:ext cx="3493008" cy="7315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73" name="Shape 73"/>
          <p:cNvSpPr/>
          <p:nvPr/>
        </p:nvSpPr>
        <p:spPr>
          <a:xfrm>
            <a:off x="457200" y="5376672"/>
            <a:ext cx="73152" cy="73152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</a:ln>
        </p:spPr>
      </p:sp>
      <p:sp>
        <p:nvSpPr>
          <p:cNvPr id="74" name="Text 74"/>
          <p:cNvSpPr txBox="1"/>
          <p:nvPr/>
        </p:nvSpPr>
        <p:spPr>
          <a:xfrm>
            <a:off x="658368" y="5513832"/>
            <a:ext cx="312724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70" b="1" dirty="0">
                <a:solidFill>
                  <a:srgbClr val="39D98A"/>
                </a:solidFill>
                <a:latin typeface="Arial"/>
              </a:rPr>
              <a:t>BLOCK REMOVAL</a:t>
            </a:r>
            <a:endParaRPr lang="en-US" sz="870"/>
          </a:p>
        </p:txBody>
      </p:sp>
      <p:sp>
        <p:nvSpPr>
          <p:cNvPr id="75" name="Text 75"/>
          <p:cNvSpPr txBox="1"/>
          <p:nvPr/>
        </p:nvSpPr>
        <p:spPr>
          <a:xfrm>
            <a:off x="658368" y="5742432"/>
            <a:ext cx="31272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70" b="0" dirty="0">
                <a:solidFill>
                  <a:srgbClr val="F7FAFC"/>
                </a:solidFill>
                <a:latin typeface="Arial"/>
              </a:rPr>
              <a:t>Authenticate → verify latest transaction → remove → confirm active</a:t>
            </a:r>
            <a:endParaRPr lang="en-US" sz="870"/>
          </a:p>
        </p:txBody>
      </p:sp>
      <p:sp>
        <p:nvSpPr>
          <p:cNvPr id="76" name="Shape 76"/>
          <p:cNvSpPr/>
          <p:nvPr/>
        </p:nvSpPr>
        <p:spPr>
          <a:xfrm>
            <a:off x="4114800" y="5376672"/>
            <a:ext cx="3456432" cy="7315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77" name="Shape 77"/>
          <p:cNvSpPr/>
          <p:nvPr/>
        </p:nvSpPr>
        <p:spPr>
          <a:xfrm>
            <a:off x="4114800" y="5376672"/>
            <a:ext cx="73152" cy="7315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4315968" y="5513832"/>
            <a:ext cx="309067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70" b="1" dirty="0">
                <a:solidFill>
                  <a:srgbClr val="FFB454"/>
                </a:solidFill>
                <a:latin typeface="Arial"/>
              </a:rPr>
              <a:t>SUSPECTED FRAUD</a:t>
            </a:r>
            <a:endParaRPr lang="en-US" sz="870"/>
          </a:p>
        </p:txBody>
      </p:sp>
      <p:sp>
        <p:nvSpPr>
          <p:cNvPr id="79" name="Text 79"/>
          <p:cNvSpPr txBox="1"/>
          <p:nvPr/>
        </p:nvSpPr>
        <p:spPr>
          <a:xfrm>
            <a:off x="4315968" y="57424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70" b="0" dirty="0">
                <a:solidFill>
                  <a:srgbClr val="F7FAFC"/>
                </a:solidFill>
                <a:latin typeface="Arial"/>
              </a:rPr>
              <a:t>Immediate specialist transfer; no authentication or account disclosure</a:t>
            </a:r>
            <a:endParaRPr lang="en-US" sz="870"/>
          </a:p>
        </p:txBody>
      </p:sp>
      <p:sp>
        <p:nvSpPr>
          <p:cNvPr id="80" name="Shape 80"/>
          <p:cNvSpPr/>
          <p:nvPr/>
        </p:nvSpPr>
        <p:spPr>
          <a:xfrm>
            <a:off x="7726680" y="5376672"/>
            <a:ext cx="3995928" cy="731520"/>
          </a:xfrm>
          <a:prstGeom prst="roundRect">
            <a:avLst/>
          </a:prstGeom>
          <a:solidFill>
            <a:srgbClr val="111D2E"/>
          </a:solidFill>
          <a:ln w="12700">
            <a:solidFill>
              <a:srgbClr val="2A3A53"/>
            </a:solidFill>
          </a:ln>
        </p:spPr>
      </p:sp>
      <p:sp>
        <p:nvSpPr>
          <p:cNvPr id="81" name="Shape 81"/>
          <p:cNvSpPr/>
          <p:nvPr/>
        </p:nvSpPr>
        <p:spPr>
          <a:xfrm>
            <a:off x="7726680" y="5376672"/>
            <a:ext cx="73152" cy="731520"/>
          </a:xfrm>
          <a:prstGeom prst="rect">
            <a:avLst/>
          </a:prstGeom>
          <a:solidFill>
            <a:srgbClr val="A8B4C7"/>
          </a:solidFill>
          <a:ln w="12700">
            <a:solidFill>
              <a:srgbClr val="A8B4C7"/>
            </a:solidFill>
          </a:ln>
        </p:spPr>
      </p:sp>
      <p:sp>
        <p:nvSpPr>
          <p:cNvPr id="82" name="Text 82"/>
          <p:cNvSpPr txBox="1"/>
          <p:nvPr/>
        </p:nvSpPr>
        <p:spPr>
          <a:xfrm>
            <a:off x="7927848" y="5513832"/>
            <a:ext cx="363016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70" b="1" dirty="0">
                <a:solidFill>
                  <a:srgbClr val="A8B4C7"/>
                </a:solidFill>
                <a:latin typeface="Arial"/>
              </a:rPr>
              <a:t>NON-FRAUD</a:t>
            </a:r>
            <a:endParaRPr lang="en-US" sz="870"/>
          </a:p>
        </p:txBody>
      </p:sp>
      <p:sp>
        <p:nvSpPr>
          <p:cNvPr id="83" name="Text 83"/>
          <p:cNvSpPr txBox="1"/>
          <p:nvPr/>
        </p:nvSpPr>
        <p:spPr>
          <a:xfrm>
            <a:off x="7927848" y="5742432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70" b="0" dirty="0">
                <a:solidFill>
                  <a:srgbClr val="F7FAFC"/>
                </a:solidFill>
                <a:latin typeface="Arial"/>
              </a:rPr>
              <a:t>Polite boundary + team transfer offer; decline → one closing message</a:t>
            </a:r>
            <a:endParaRPr lang="en-US" sz="870"/>
          </a:p>
        </p:txBody>
      </p:sp>
      <p:sp>
        <p:nvSpPr>
          <p:cNvPr id="84" name="Shape 84"/>
          <p:cNvSpPr/>
          <p:nvPr/>
        </p:nvSpPr>
        <p:spPr>
          <a:xfrm>
            <a:off x="457200" y="6327648"/>
            <a:ext cx="11265408" cy="310896"/>
          </a:xfrm>
          <a:prstGeom prst="roundRect">
            <a:avLst/>
          </a:prstGeom>
          <a:solidFill>
            <a:srgbClr val="102D37"/>
          </a:solidFill>
          <a:ln w="12700">
            <a:solidFill>
              <a:srgbClr val="1E5966"/>
            </a:solidFill>
          </a:ln>
        </p:spPr>
      </p:sp>
      <p:sp>
        <p:nvSpPr>
          <p:cNvPr id="85" name="Text 85"/>
          <p:cNvSpPr txBox="1"/>
          <p:nvPr/>
        </p:nvSpPr>
        <p:spPr>
          <a:xfrm>
            <a:off x="658368" y="6355080"/>
            <a:ext cx="1088136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00" b="1" dirty="0">
                <a:solidFill>
                  <a:srgbClr val="35C2E3"/>
                </a:solidFill>
                <a:latin typeface="Arial"/>
              </a:rPr>
              <a:t>DESIGN PRINCIPLE   LLM = understand &amp; converse     |     Code + tools = verify, decide &amp; act     |     Two runnable scripts = explore + evaluate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Agent">
  <a:themeElements>
    <a:clrScheme name="Fraud Agent">
      <a:dk1>
        <a:srgbClr val="09111F"/>
      </a:dk1>
      <a:lt1>
        <a:srgbClr val="F7FAFC"/>
      </a:lt1>
      <a:dk2>
        <a:srgbClr val="111D2E"/>
      </a:dk2>
      <a:lt2>
        <a:srgbClr val="A8B4C7"/>
      </a:lt2>
      <a:accent1>
        <a:srgbClr val="35C2E3"/>
      </a:accent1>
      <a:accent2>
        <a:srgbClr val="5B8CFF"/>
      </a:accent2>
      <a:accent3>
        <a:srgbClr val="39D98A"/>
      </a:accent3>
      <a:accent4>
        <a:srgbClr val="FFB454"/>
      </a:accent4>
      <a:accent5>
        <a:srgbClr val="FF6B6B"/>
      </a:accent5>
      <a:accent6>
        <a:srgbClr val="A8B4C7"/>
      </a:accent6>
      <a:hlink>
        <a:srgbClr val="35C2E3"/>
      </a:hlink>
      <a:folHlink>
        <a:srgbClr val="5B8C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Block Agent | End-to-End Design</dc:title>
  <dc:subject>Agentic system architecture</dc:subject>
  <dc:creator>OpenAI Codex</dc:creator>
  <cp:lastModifiedBy>OpenAI Codex</cp:lastModifiedBy>
  <dcterms:created xsi:type="dcterms:W3CDTF">2026-08-06T00:00:00Z</dcterms:created>
  <dcterms:modified xsi:type="dcterms:W3CDTF">2026-08-06T00:00:00Z</dcterms:modified>
</cp:coreProperties>
</file>