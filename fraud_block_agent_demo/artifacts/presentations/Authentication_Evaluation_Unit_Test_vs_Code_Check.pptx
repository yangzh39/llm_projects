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presProps" Target="presProps.xml"/>
<Relationship Id="rId4" Type="http://schemas.openxmlformats.org/officeDocument/2006/relationships/viewProps" Target="viewProps.xml"/>
<Relationship Id="rId5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aud Block Agent Desig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93776" y="22860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2100" b="1" dirty="0">
                <a:solidFill>
                  <a:srgbClr val="172033"/>
                </a:solidFill>
                <a:latin typeface="Arial"/>
              </a:rPr>
              <a:t>Authentication Evaluation — Unit Test vs. Deterministic Code Check</a:t>
            </a:r>
            <a:endParaRPr lang="en-US" sz="2100"/>
          </a:p>
        </p:txBody>
      </p:sp>
      <p:sp>
        <p:nvSpPr>
          <p:cNvPr id="3" name="Text 3"/>
          <p:cNvSpPr txBox="1"/>
          <p:nvPr/>
        </p:nvSpPr>
        <p:spPr>
          <a:xfrm>
            <a:off x="493776" y="640080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70" b="0" dirty="0">
                <a:solidFill>
                  <a:srgbClr val="5F6B7A"/>
                </a:solidFill>
                <a:latin typeface="Arial"/>
              </a:rPr>
              <a:t>The same fictional customer and expected outcome are examined at two different levels of the system.</a:t>
            </a:r>
            <a:endParaRPr lang="en-US" sz="970"/>
          </a:p>
        </p:txBody>
      </p:sp>
      <p:cxnSp>
        <p:nvCxnSpPr>
          <p:cNvPr id="4" name="Connector 4"/>
          <p:cNvCxnSpPr/>
          <p:nvPr/>
        </p:nvCxnSpPr>
        <p:spPr>
          <a:xfrm>
            <a:off x="493776" y="932688"/>
            <a:ext cx="11201400" cy="0"/>
          </a:xfrm>
          <a:prstGeom prst="line">
            <a:avLst/>
          </a:prstGeom>
          <a:ln w="12700">
            <a:solidFill>
              <a:srgbClr val="D8DEE8"/>
            </a:solidFill>
            <a:tailEnd type="none"/>
            <a:headEnd type="none"/>
          </a:ln>
        </p:spPr>
      </p:cxnSp>
      <p:sp>
        <p:nvSpPr>
          <p:cNvPr id="5" name="Shape 5"/>
          <p:cNvSpPr/>
          <p:nvPr/>
        </p:nvSpPr>
        <p:spPr>
          <a:xfrm>
            <a:off x="493776" y="1124712"/>
            <a:ext cx="11201400" cy="804672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B9C9DA"/>
            </a:solidFill>
          </a:ln>
        </p:spPr>
      </p:sp>
      <p:sp>
        <p:nvSpPr>
          <p:cNvPr id="6" name="Shape 6"/>
          <p:cNvSpPr/>
          <p:nvPr/>
        </p:nvSpPr>
        <p:spPr>
          <a:xfrm>
            <a:off x="493776" y="1124712"/>
            <a:ext cx="73152" cy="804672"/>
          </a:xfrm>
          <a:prstGeom prst="rect">
            <a:avLst/>
          </a:prstGeom>
          <a:solidFill>
            <a:srgbClr val="20A7D3"/>
          </a:solidFill>
          <a:ln w="12700">
            <a:solidFill>
              <a:srgbClr val="20A7D3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04088" y="123444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50" b="1" dirty="0">
                <a:solidFill>
                  <a:srgbClr val="087EA4"/>
                </a:solidFill>
                <a:latin typeface="Arial"/>
              </a:rPr>
              <a:t>SHARED SCENARIO</a:t>
            </a:r>
            <a:endParaRPr lang="en-US" sz="1050"/>
          </a:p>
        </p:txBody>
      </p:sp>
      <p:sp>
        <p:nvSpPr>
          <p:cNvPr id="8" name="Text 8"/>
          <p:cNvSpPr txBox="1"/>
          <p:nvPr/>
        </p:nvSpPr>
        <p:spPr>
          <a:xfrm>
            <a:off x="704088" y="1554480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50" b="1" dirty="0">
                <a:solidFill>
                  <a:srgbClr val="172033"/>
                </a:solidFill>
                <a:latin typeface="Courier New"/>
              </a:rPr>
              <a:t>Card number: 4111111111111111</a:t>
            </a:r>
            <a:endParaRPr lang="en-US" sz="950"/>
          </a:p>
        </p:txBody>
      </p:sp>
      <p:sp>
        <p:nvSpPr>
          <p:cNvPr id="9" name="Text 9"/>
          <p:cNvSpPr txBox="1"/>
          <p:nvPr/>
        </p:nvSpPr>
        <p:spPr>
          <a:xfrm>
            <a:off x="3538728" y="155448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50" b="1" dirty="0">
                <a:solidFill>
                  <a:srgbClr val="172033"/>
                </a:solidFill>
                <a:latin typeface="Courier New"/>
              </a:rPr>
              <a:t>DOB: 1990-01-15</a:t>
            </a:r>
            <a:endParaRPr lang="en-US" sz="950"/>
          </a:p>
        </p:txBody>
      </p:sp>
      <p:sp>
        <p:nvSpPr>
          <p:cNvPr id="10" name="Text 10"/>
          <p:cNvSpPr txBox="1"/>
          <p:nvPr/>
        </p:nvSpPr>
        <p:spPr>
          <a:xfrm>
            <a:off x="5623560" y="155448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50" b="1" dirty="0">
                <a:solidFill>
                  <a:srgbClr val="172033"/>
                </a:solidFill>
                <a:latin typeface="Courier New"/>
              </a:rPr>
              <a:t>Expected customer: CUST-001</a:t>
            </a:r>
            <a:endParaRPr lang="en-US" sz="950"/>
          </a:p>
        </p:txBody>
      </p:sp>
      <p:sp>
        <p:nvSpPr>
          <p:cNvPr id="11" name="Text 11"/>
          <p:cNvSpPr txBox="1"/>
          <p:nvPr/>
        </p:nvSpPr>
        <p:spPr>
          <a:xfrm>
            <a:off x="8531352" y="1554480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30" b="1" dirty="0">
                <a:solidFill>
                  <a:srgbClr val="168653"/>
                </a:solidFill>
                <a:latin typeface="Courier New"/>
              </a:rPr>
              <a:t>Expected: Authentication succeeds</a:t>
            </a:r>
            <a:endParaRPr lang="en-US" sz="1030"/>
          </a:p>
        </p:txBody>
      </p:sp>
      <p:sp>
        <p:nvSpPr>
          <p:cNvPr id="12" name="Shape 12"/>
          <p:cNvSpPr/>
          <p:nvPr/>
        </p:nvSpPr>
        <p:spPr>
          <a:xfrm>
            <a:off x="493776" y="2139696"/>
            <a:ext cx="5029200" cy="3712464"/>
          </a:xfrm>
          <a:prstGeom prst="roundRect">
            <a:avLst/>
          </a:prstGeom>
          <a:solidFill>
            <a:srgbClr val="F8FAFF"/>
          </a:solidFill>
          <a:ln w="12700">
            <a:solidFill>
              <a:srgbClr val="4B79B5"/>
            </a:solidFill>
          </a:ln>
        </p:spPr>
      </p:sp>
      <p:sp>
        <p:nvSpPr>
          <p:cNvPr id="13" name="Shape 13"/>
          <p:cNvSpPr/>
          <p:nvPr/>
        </p:nvSpPr>
        <p:spPr>
          <a:xfrm>
            <a:off x="493776" y="2139696"/>
            <a:ext cx="5029200" cy="484632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E8F1FB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704088" y="22585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500" b="1" dirty="0">
                <a:solidFill>
                  <a:srgbClr val="2563A8"/>
                </a:solidFill>
                <a:latin typeface="Arial"/>
              </a:rPr>
              <a:t>UNIT TEST</a:t>
            </a:r>
            <a:endParaRPr lang="en-US" sz="1500"/>
          </a:p>
        </p:txBody>
      </p:sp>
      <p:sp>
        <p:nvSpPr>
          <p:cNvPr id="15" name="Text 15"/>
          <p:cNvSpPr txBox="1"/>
          <p:nvPr/>
        </p:nvSpPr>
        <p:spPr>
          <a:xfrm>
            <a:off x="2029968" y="2286000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20" b="0" dirty="0">
                <a:solidFill>
                  <a:srgbClr val="5F6B7A"/>
                </a:solidFill>
                <a:latin typeface="Arial"/>
              </a:rPr>
              <a:t>Isolated component</a:t>
            </a:r>
            <a:endParaRPr lang="en-US" sz="920"/>
          </a:p>
        </p:txBody>
      </p:sp>
      <p:sp>
        <p:nvSpPr>
          <p:cNvPr id="16" name="Shape 16"/>
          <p:cNvSpPr/>
          <p:nvPr/>
        </p:nvSpPr>
        <p:spPr>
          <a:xfrm>
            <a:off x="667512" y="2779776"/>
            <a:ext cx="4681728" cy="2423160"/>
          </a:xfrm>
          <a:prstGeom prst="roundRect">
            <a:avLst/>
          </a:prstGeom>
          <a:solidFill>
            <a:srgbClr val="0C1017"/>
          </a:solidFill>
          <a:ln w="12700">
            <a:solidFill>
              <a:srgbClr val="293348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841248" y="2926080"/>
            <a:ext cx="43159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900" b="1" dirty="0">
                <a:solidFill>
                  <a:srgbClr val="C792EA"/>
                </a:solidFill>
                <a:latin typeface="Courier New"/>
              </a:rPr>
              <a:t>def test_authentication_with_valid_credentials():</a:t>
            </a:r>
            <a:endParaRPr lang="en-US" sz="900"/>
          </a:p>
        </p:txBody>
      </p:sp>
      <p:sp>
        <p:nvSpPr>
          <p:cNvPr id="18" name="Text 18"/>
          <p:cNvSpPr txBox="1"/>
          <p:nvPr/>
        </p:nvSpPr>
        <p:spPr>
          <a:xfrm>
            <a:off x="841248" y="3150108"/>
            <a:ext cx="43159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900" b="0" dirty="0">
                <a:solidFill>
                  <a:srgbClr val="F5F7FA"/>
                </a:solidFill>
                <a:latin typeface="Courier New"/>
              </a:rPr>
              <a:t/>
            </a:r>
            <a:endParaRPr lang="en-US" sz="900"/>
          </a:p>
        </p:txBody>
      </p:sp>
      <p:sp>
        <p:nvSpPr>
          <p:cNvPr id="19" name="Text 19"/>
          <p:cNvSpPr txBox="1"/>
          <p:nvPr/>
        </p:nvSpPr>
        <p:spPr>
          <a:xfrm>
            <a:off x="841248" y="3374136"/>
            <a:ext cx="43159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900" b="1" dirty="0">
                <a:solidFill>
                  <a:srgbClr val="F5F7FA"/>
                </a:solidFill>
                <a:latin typeface="Courier New"/>
              </a:rPr>
              <a:t>    result = authenticate_customer(</a:t>
            </a:r>
            <a:endParaRPr lang="en-US" sz="900"/>
          </a:p>
        </p:txBody>
      </p:sp>
      <p:sp>
        <p:nvSpPr>
          <p:cNvPr id="20" name="Text 20"/>
          <p:cNvSpPr txBox="1"/>
          <p:nvPr/>
        </p:nvSpPr>
        <p:spPr>
          <a:xfrm>
            <a:off x="841248" y="3598164"/>
            <a:ext cx="43159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900" b="1" dirty="0">
                <a:solidFill>
                  <a:srgbClr val="C3E88D"/>
                </a:solidFill>
                <a:latin typeface="Courier New"/>
              </a:rPr>
              <a:t>        card_number="4111111111111111",</a:t>
            </a:r>
            <a:endParaRPr lang="en-US" sz="900"/>
          </a:p>
        </p:txBody>
      </p:sp>
      <p:sp>
        <p:nvSpPr>
          <p:cNvPr id="21" name="Text 21"/>
          <p:cNvSpPr txBox="1"/>
          <p:nvPr/>
        </p:nvSpPr>
        <p:spPr>
          <a:xfrm>
            <a:off x="841248" y="3822192"/>
            <a:ext cx="43159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900" b="1" dirty="0">
                <a:solidFill>
                  <a:srgbClr val="C3E88D"/>
                </a:solidFill>
                <a:latin typeface="Courier New"/>
              </a:rPr>
              <a:t>        date_of_birth="1990-01-15",</a:t>
            </a:r>
            <a:endParaRPr lang="en-US" sz="900"/>
          </a:p>
        </p:txBody>
      </p:sp>
      <p:sp>
        <p:nvSpPr>
          <p:cNvPr id="22" name="Text 22"/>
          <p:cNvSpPr txBox="1"/>
          <p:nvPr/>
        </p:nvSpPr>
        <p:spPr>
          <a:xfrm>
            <a:off x="841248" y="4046220"/>
            <a:ext cx="43159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900" b="1" dirty="0">
                <a:solidFill>
                  <a:srgbClr val="F5F7FA"/>
                </a:solidFill>
                <a:latin typeface="Courier New"/>
              </a:rPr>
              <a:t>    )</a:t>
            </a:r>
            <a:endParaRPr lang="en-US" sz="900"/>
          </a:p>
        </p:txBody>
      </p:sp>
      <p:sp>
        <p:nvSpPr>
          <p:cNvPr id="23" name="Text 23"/>
          <p:cNvSpPr txBox="1"/>
          <p:nvPr/>
        </p:nvSpPr>
        <p:spPr>
          <a:xfrm>
            <a:off x="841248" y="4270248"/>
            <a:ext cx="43159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900" b="0" dirty="0">
                <a:solidFill>
                  <a:srgbClr val="F5F7FA"/>
                </a:solidFill>
                <a:latin typeface="Courier New"/>
              </a:rPr>
              <a:t/>
            </a:r>
            <a:endParaRPr lang="en-US" sz="900"/>
          </a:p>
        </p:txBody>
      </p:sp>
      <p:sp>
        <p:nvSpPr>
          <p:cNvPr id="24" name="Text 24"/>
          <p:cNvSpPr txBox="1"/>
          <p:nvPr/>
        </p:nvSpPr>
        <p:spPr>
          <a:xfrm>
            <a:off x="841248" y="4494276"/>
            <a:ext cx="43159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900" b="1" dirty="0">
                <a:solidFill>
                  <a:srgbClr val="C792EA"/>
                </a:solidFill>
                <a:latin typeface="Courier New"/>
              </a:rPr>
              <a:t>    assert result["success"] is True</a:t>
            </a:r>
            <a:endParaRPr lang="en-US" sz="900"/>
          </a:p>
        </p:txBody>
      </p:sp>
      <p:sp>
        <p:nvSpPr>
          <p:cNvPr id="25" name="Text 25"/>
          <p:cNvSpPr txBox="1"/>
          <p:nvPr/>
        </p:nvSpPr>
        <p:spPr>
          <a:xfrm>
            <a:off x="841248" y="4718304"/>
            <a:ext cx="43159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900" b="1" dirty="0">
                <a:solidFill>
                  <a:srgbClr val="C792EA"/>
                </a:solidFill>
                <a:latin typeface="Courier New"/>
              </a:rPr>
              <a:t>    assert result["customer_id"] == "CUST-001"</a:t>
            </a:r>
            <a:endParaRPr lang="en-US" sz="900"/>
          </a:p>
        </p:txBody>
      </p:sp>
      <p:sp>
        <p:nvSpPr>
          <p:cNvPr id="26" name="Text 26"/>
          <p:cNvSpPr txBox="1"/>
          <p:nvPr/>
        </p:nvSpPr>
        <p:spPr>
          <a:xfrm>
            <a:off x="841248" y="4942332"/>
            <a:ext cx="43159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900" b="1" dirty="0">
                <a:solidFill>
                  <a:srgbClr val="C792EA"/>
                </a:solidFill>
                <a:latin typeface="Courier New"/>
              </a:rPr>
              <a:t>    assert result["card_id"] == "CARD-001"</a:t>
            </a:r>
            <a:endParaRPr lang="en-US" sz="900"/>
          </a:p>
        </p:txBody>
      </p:sp>
      <p:sp>
        <p:nvSpPr>
          <p:cNvPr id="27" name="Text 27"/>
          <p:cNvSpPr txBox="1"/>
          <p:nvPr/>
        </p:nvSpPr>
        <p:spPr>
          <a:xfrm>
            <a:off x="704088" y="533095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70" b="1" dirty="0">
                <a:solidFill>
                  <a:srgbClr val="172033"/>
                </a:solidFill>
                <a:latin typeface="Arial"/>
              </a:rPr>
              <a:t>Evidence source:</a:t>
            </a:r>
            <a:endParaRPr lang="en-US" sz="970"/>
          </a:p>
        </p:txBody>
      </p:sp>
      <p:sp>
        <p:nvSpPr>
          <p:cNvPr id="28" name="Text 28"/>
          <p:cNvSpPr txBox="1"/>
          <p:nvPr/>
        </p:nvSpPr>
        <p:spPr>
          <a:xfrm>
            <a:off x="1874520" y="5330952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70" b="0" dirty="0">
                <a:solidFill>
                  <a:srgbClr val="5F6B7A"/>
                </a:solidFill>
                <a:latin typeface="Arial"/>
              </a:rPr>
              <a:t>direct function return</a:t>
            </a:r>
            <a:endParaRPr lang="en-US" sz="970"/>
          </a:p>
        </p:txBody>
      </p:sp>
      <p:sp>
        <p:nvSpPr>
          <p:cNvPr id="29" name="Text 29"/>
          <p:cNvSpPr txBox="1"/>
          <p:nvPr/>
        </p:nvSpPr>
        <p:spPr>
          <a:xfrm>
            <a:off x="704088" y="5577840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70" b="1" dirty="0">
                <a:solidFill>
                  <a:srgbClr val="172033"/>
                </a:solidFill>
                <a:latin typeface="Arial"/>
              </a:rPr>
              <a:t>Proves:</a:t>
            </a:r>
            <a:endParaRPr lang="en-US" sz="970"/>
          </a:p>
        </p:txBody>
      </p:sp>
      <p:sp>
        <p:nvSpPr>
          <p:cNvPr id="30" name="Text 30"/>
          <p:cNvSpPr txBox="1"/>
          <p:nvPr/>
        </p:nvSpPr>
        <p:spPr>
          <a:xfrm>
            <a:off x="1261872" y="5577840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20" b="0" dirty="0">
                <a:solidFill>
                  <a:srgbClr val="5F6B7A"/>
                </a:solidFill>
                <a:latin typeface="Arial"/>
              </a:rPr>
              <a:t>the authentication function works when called correctly</a:t>
            </a:r>
            <a:endParaRPr lang="en-US" sz="920"/>
          </a:p>
        </p:txBody>
      </p:sp>
      <p:sp>
        <p:nvSpPr>
          <p:cNvPr id="31" name="Shape 31"/>
          <p:cNvSpPr/>
          <p:nvPr/>
        </p:nvSpPr>
        <p:spPr>
          <a:xfrm>
            <a:off x="5715000" y="2139696"/>
            <a:ext cx="5980176" cy="3712464"/>
          </a:xfrm>
          <a:prstGeom prst="roundRect">
            <a:avLst/>
          </a:prstGeom>
          <a:solidFill>
            <a:srgbClr val="F7FCF9"/>
          </a:solidFill>
          <a:ln w="12700">
            <a:solidFill>
              <a:srgbClr val="2F9A67"/>
            </a:solidFill>
          </a:ln>
        </p:spPr>
      </p:sp>
      <p:sp>
        <p:nvSpPr>
          <p:cNvPr id="32" name="Shape 32"/>
          <p:cNvSpPr/>
          <p:nvPr/>
        </p:nvSpPr>
        <p:spPr>
          <a:xfrm>
            <a:off x="5715000" y="2139696"/>
            <a:ext cx="5980176" cy="484632"/>
          </a:xfrm>
          <a:prstGeom prst="roundRect">
            <a:avLst/>
          </a:prstGeom>
          <a:solidFill>
            <a:srgbClr val="E6F6ED"/>
          </a:solidFill>
          <a:ln w="12700">
            <a:solidFill>
              <a:srgbClr val="E6F6ED"/>
            </a:solidFill>
          </a:ln>
        </p:spPr>
      </p:sp>
      <p:sp>
        <p:nvSpPr>
          <p:cNvPr id="33" name="Text 33"/>
          <p:cNvSpPr txBox="1"/>
          <p:nvPr/>
        </p:nvSpPr>
        <p:spPr>
          <a:xfrm>
            <a:off x="5925312" y="2258568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420" b="1" dirty="0">
                <a:solidFill>
                  <a:srgbClr val="168653"/>
                </a:solidFill>
                <a:latin typeface="Arial"/>
              </a:rPr>
              <a:t>DETERMINISTIC CODE CHECK</a:t>
            </a:r>
            <a:endParaRPr lang="en-US" sz="1420"/>
          </a:p>
        </p:txBody>
      </p:sp>
      <p:sp>
        <p:nvSpPr>
          <p:cNvPr id="34" name="Text 34"/>
          <p:cNvSpPr txBox="1"/>
          <p:nvPr/>
        </p:nvSpPr>
        <p:spPr>
          <a:xfrm>
            <a:off x="8897112" y="2286000"/>
            <a:ext cx="18745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20" b="0" dirty="0">
                <a:solidFill>
                  <a:srgbClr val="5F6B7A"/>
                </a:solidFill>
                <a:latin typeface="Arial"/>
              </a:rPr>
              <a:t>Complete agent session</a:t>
            </a:r>
            <a:endParaRPr lang="en-US" sz="920"/>
          </a:p>
        </p:txBody>
      </p:sp>
      <p:sp>
        <p:nvSpPr>
          <p:cNvPr id="35" name="Shape 35"/>
          <p:cNvSpPr/>
          <p:nvPr/>
        </p:nvSpPr>
        <p:spPr>
          <a:xfrm>
            <a:off x="5888736" y="2779776"/>
            <a:ext cx="5632704" cy="2423160"/>
          </a:xfrm>
          <a:prstGeom prst="roundRect">
            <a:avLst/>
          </a:prstGeom>
          <a:solidFill>
            <a:srgbClr val="0C1017"/>
          </a:solidFill>
          <a:ln w="12700">
            <a:solidFill>
              <a:srgbClr val="293348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6044184" y="2889504"/>
            <a:ext cx="527608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790" b="0" dirty="0">
                <a:solidFill>
                  <a:srgbClr val="8390A5"/>
                </a:solidFill>
                <a:latin typeface="Courier New"/>
              </a:rPr>
              <a:t># Run the complete customer scenario</a:t>
            </a:r>
            <a:endParaRPr lang="en-US" sz="790"/>
          </a:p>
        </p:txBody>
      </p:sp>
      <p:sp>
        <p:nvSpPr>
          <p:cNvPr id="37" name="Text 37"/>
          <p:cNvSpPr txBox="1"/>
          <p:nvPr/>
        </p:nvSpPr>
        <p:spPr>
          <a:xfrm>
            <a:off x="6044184" y="3076956"/>
            <a:ext cx="527608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790" b="1" dirty="0">
                <a:solidFill>
                  <a:srgbClr val="F5F7FA"/>
                </a:solidFill>
                <a:latin typeface="Courier New"/>
              </a:rPr>
              <a:t>trace = run_agent_scenario(successful_block_removal)</a:t>
            </a:r>
            <a:endParaRPr lang="en-US" sz="790"/>
          </a:p>
        </p:txBody>
      </p:sp>
      <p:sp>
        <p:nvSpPr>
          <p:cNvPr id="38" name="Text 38"/>
          <p:cNvSpPr txBox="1"/>
          <p:nvPr/>
        </p:nvSpPr>
        <p:spPr>
          <a:xfrm>
            <a:off x="6044184" y="3264408"/>
            <a:ext cx="527608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790" b="0" dirty="0">
                <a:solidFill>
                  <a:srgbClr val="F5F7FA"/>
                </a:solidFill>
                <a:latin typeface="Courier New"/>
              </a:rPr>
              <a:t/>
            </a:r>
            <a:endParaRPr lang="en-US" sz="790"/>
          </a:p>
        </p:txBody>
      </p:sp>
      <p:sp>
        <p:nvSpPr>
          <p:cNvPr id="39" name="Text 39"/>
          <p:cNvSpPr txBox="1"/>
          <p:nvPr/>
        </p:nvSpPr>
        <p:spPr>
          <a:xfrm>
            <a:off x="6044184" y="3451860"/>
            <a:ext cx="527608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790" b="1" dirty="0">
                <a:solidFill>
                  <a:srgbClr val="C3E88D"/>
                </a:solidFill>
                <a:latin typeface="Courier New"/>
              </a:rPr>
              <a:t>expected = {"authentication_succeeded": True,</a:t>
            </a:r>
            <a:endParaRPr lang="en-US" sz="790"/>
          </a:p>
        </p:txBody>
      </p:sp>
      <p:sp>
        <p:nvSpPr>
          <p:cNvPr id="40" name="Text 40"/>
          <p:cNvSpPr txBox="1"/>
          <p:nvPr/>
        </p:nvSpPr>
        <p:spPr>
          <a:xfrm>
            <a:off x="6044184" y="3639312"/>
            <a:ext cx="527608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790" b="1" dirty="0">
                <a:solidFill>
                  <a:srgbClr val="C3E88D"/>
                </a:solidFill>
                <a:latin typeface="Courier New"/>
              </a:rPr>
              <a:t>            "customer_id": "CUST-001", "card_id": "CARD-001"}</a:t>
            </a:r>
            <a:endParaRPr lang="en-US" sz="790"/>
          </a:p>
        </p:txBody>
      </p:sp>
      <p:sp>
        <p:nvSpPr>
          <p:cNvPr id="41" name="Text 41"/>
          <p:cNvSpPr txBox="1"/>
          <p:nvPr/>
        </p:nvSpPr>
        <p:spPr>
          <a:xfrm>
            <a:off x="6044184" y="3826764"/>
            <a:ext cx="527608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790" b="0" dirty="0">
                <a:solidFill>
                  <a:srgbClr val="F5F7FA"/>
                </a:solidFill>
                <a:latin typeface="Courier New"/>
              </a:rPr>
              <a:t/>
            </a:r>
            <a:endParaRPr lang="en-US" sz="790"/>
          </a:p>
        </p:txBody>
      </p:sp>
      <p:sp>
        <p:nvSpPr>
          <p:cNvPr id="42" name="Text 42"/>
          <p:cNvSpPr txBox="1"/>
          <p:nvPr/>
        </p:nvSpPr>
        <p:spPr>
          <a:xfrm>
            <a:off x="6044184" y="4014216"/>
            <a:ext cx="527608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790" b="1" dirty="0">
                <a:solidFill>
                  <a:srgbClr val="F5F7FA"/>
                </a:solidFill>
                <a:latin typeface="Courier New"/>
              </a:rPr>
              <a:t>actual = {"authentication_succeeded": trace.authentication_succeeded,</a:t>
            </a:r>
            <a:endParaRPr lang="en-US" sz="790"/>
          </a:p>
        </p:txBody>
      </p:sp>
      <p:sp>
        <p:nvSpPr>
          <p:cNvPr id="43" name="Text 43"/>
          <p:cNvSpPr txBox="1"/>
          <p:nvPr/>
        </p:nvSpPr>
        <p:spPr>
          <a:xfrm>
            <a:off x="6044184" y="4201668"/>
            <a:ext cx="527608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790" b="1" dirty="0">
                <a:solidFill>
                  <a:srgbClr val="F5F7FA"/>
                </a:solidFill>
                <a:latin typeface="Courier New"/>
              </a:rPr>
              <a:t>          "customer_id": trace.authenticated_customer_id,</a:t>
            </a:r>
            <a:endParaRPr lang="en-US" sz="790"/>
          </a:p>
        </p:txBody>
      </p:sp>
      <p:sp>
        <p:nvSpPr>
          <p:cNvPr id="44" name="Text 44"/>
          <p:cNvSpPr txBox="1"/>
          <p:nvPr/>
        </p:nvSpPr>
        <p:spPr>
          <a:xfrm>
            <a:off x="6044184" y="4389120"/>
            <a:ext cx="527608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790" b="1" dirty="0">
                <a:solidFill>
                  <a:srgbClr val="F5F7FA"/>
                </a:solidFill>
                <a:latin typeface="Courier New"/>
              </a:rPr>
              <a:t>          "card_id": trace.selected_card_id}</a:t>
            </a:r>
            <a:endParaRPr lang="en-US" sz="790"/>
          </a:p>
        </p:txBody>
      </p:sp>
      <p:sp>
        <p:nvSpPr>
          <p:cNvPr id="45" name="Text 45"/>
          <p:cNvSpPr txBox="1"/>
          <p:nvPr/>
        </p:nvSpPr>
        <p:spPr>
          <a:xfrm>
            <a:off x="6044184" y="4576572"/>
            <a:ext cx="527608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790" b="0" dirty="0">
                <a:solidFill>
                  <a:srgbClr val="F5F7FA"/>
                </a:solidFill>
                <a:latin typeface="Courier New"/>
              </a:rPr>
              <a:t/>
            </a:r>
            <a:endParaRPr lang="en-US" sz="790"/>
          </a:p>
        </p:txBody>
      </p:sp>
      <p:sp>
        <p:nvSpPr>
          <p:cNvPr id="46" name="Text 46"/>
          <p:cNvSpPr txBox="1"/>
          <p:nvPr/>
        </p:nvSpPr>
        <p:spPr>
          <a:xfrm>
            <a:off x="6044184" y="4764024"/>
            <a:ext cx="527608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790" b="1" dirty="0">
                <a:solidFill>
                  <a:srgbClr val="C792EA"/>
                </a:solidFill>
                <a:latin typeface="Courier New"/>
              </a:rPr>
              <a:t>assert actual == expected</a:t>
            </a:r>
            <a:endParaRPr lang="en-US" sz="790"/>
          </a:p>
        </p:txBody>
      </p:sp>
      <p:sp>
        <p:nvSpPr>
          <p:cNvPr id="47" name="Text 47"/>
          <p:cNvSpPr txBox="1"/>
          <p:nvPr/>
        </p:nvSpPr>
        <p:spPr>
          <a:xfrm>
            <a:off x="6044184" y="4951476"/>
            <a:ext cx="527608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790" b="0" dirty="0">
                <a:solidFill>
                  <a:srgbClr val="8390A5"/>
                </a:solidFill>
                <a:latin typeface="Courier New"/>
              </a:rPr>
              <a:t># PASS only when every extracted value matches</a:t>
            </a:r>
            <a:endParaRPr lang="en-US" sz="790"/>
          </a:p>
        </p:txBody>
      </p:sp>
      <p:sp>
        <p:nvSpPr>
          <p:cNvPr id="48" name="Text 48"/>
          <p:cNvSpPr txBox="1"/>
          <p:nvPr/>
        </p:nvSpPr>
        <p:spPr>
          <a:xfrm>
            <a:off x="5925312" y="533095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70" b="1" dirty="0">
                <a:solidFill>
                  <a:srgbClr val="172033"/>
                </a:solidFill>
                <a:latin typeface="Arial"/>
              </a:rPr>
              <a:t>Evidence source:</a:t>
            </a:r>
            <a:endParaRPr lang="en-US" sz="970"/>
          </a:p>
        </p:txBody>
      </p:sp>
      <p:sp>
        <p:nvSpPr>
          <p:cNvPr id="49" name="Text 49"/>
          <p:cNvSpPr txBox="1"/>
          <p:nvPr/>
        </p:nvSpPr>
        <p:spPr>
          <a:xfrm>
            <a:off x="7095744" y="5330952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70" b="0" dirty="0">
                <a:solidFill>
                  <a:srgbClr val="5F6B7A"/>
                </a:solidFill>
                <a:latin typeface="Arial"/>
              </a:rPr>
              <a:t>structured trace from the complete run</a:t>
            </a:r>
            <a:endParaRPr lang="en-US" sz="970"/>
          </a:p>
        </p:txBody>
      </p:sp>
      <p:sp>
        <p:nvSpPr>
          <p:cNvPr id="50" name="Text 50"/>
          <p:cNvSpPr txBox="1"/>
          <p:nvPr/>
        </p:nvSpPr>
        <p:spPr>
          <a:xfrm>
            <a:off x="5925312" y="5577840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70" b="1" dirty="0">
                <a:solidFill>
                  <a:srgbClr val="172033"/>
                </a:solidFill>
                <a:latin typeface="Arial"/>
              </a:rPr>
              <a:t>Proves:</a:t>
            </a:r>
            <a:endParaRPr lang="en-US" sz="970"/>
          </a:p>
        </p:txBody>
      </p:sp>
      <p:sp>
        <p:nvSpPr>
          <p:cNvPr id="51" name="Text 51"/>
          <p:cNvSpPr txBox="1"/>
          <p:nvPr/>
        </p:nvSpPr>
        <p:spPr>
          <a:xfrm>
            <a:off x="6483096" y="5577840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20" b="0" dirty="0">
                <a:solidFill>
                  <a:srgbClr val="5F6B7A"/>
                </a:solidFill>
                <a:latin typeface="Arial"/>
              </a:rPr>
              <a:t>the workflow reached authentication and produced the expected result</a:t>
            </a:r>
            <a:endParaRPr lang="en-US" sz="920"/>
          </a:p>
        </p:txBody>
      </p:sp>
      <p:sp>
        <p:nvSpPr>
          <p:cNvPr id="52" name="Shape 52"/>
          <p:cNvSpPr/>
          <p:nvPr/>
        </p:nvSpPr>
        <p:spPr>
          <a:xfrm>
            <a:off x="493776" y="6062472"/>
            <a:ext cx="11201400" cy="539496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E58A1F"/>
            </a:solidFill>
          </a:ln>
        </p:spPr>
      </p:sp>
      <p:sp>
        <p:nvSpPr>
          <p:cNvPr id="53" name="Text 53"/>
          <p:cNvSpPr txBox="1"/>
          <p:nvPr/>
        </p:nvSpPr>
        <p:spPr>
          <a:xfrm>
            <a:off x="694944" y="617220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20" b="1" dirty="0">
                <a:solidFill>
                  <a:srgbClr val="B65F00"/>
                </a:solidFill>
                <a:latin typeface="Arial"/>
              </a:rPr>
              <a:t>KEY DIFFERENCE</a:t>
            </a:r>
            <a:endParaRPr lang="en-US" sz="1020"/>
          </a:p>
        </p:txBody>
      </p:sp>
      <p:sp>
        <p:nvSpPr>
          <p:cNvPr id="54" name="Text 54"/>
          <p:cNvSpPr txBox="1"/>
          <p:nvPr/>
        </p:nvSpPr>
        <p:spPr>
          <a:xfrm>
            <a:off x="694944" y="6382512"/>
            <a:ext cx="10744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40" b="0" dirty="0">
                <a:solidFill>
                  <a:srgbClr val="172033"/>
                </a:solidFill>
                <a:latin typeface="Arial"/>
              </a:rPr>
              <a:t>A unit test validates the component directly; a code check validates that the complete agent reached and used that component correctly.</a:t>
            </a:r>
            <a:endParaRPr lang="en-US" sz="104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ud Agent">
  <a:themeElements>
    <a:clrScheme name="Fraud Agent">
      <a:dk1>
        <a:srgbClr val="09111F"/>
      </a:dk1>
      <a:lt1>
        <a:srgbClr val="F7FAFC"/>
      </a:lt1>
      <a:dk2>
        <a:srgbClr val="111D2E"/>
      </a:dk2>
      <a:lt2>
        <a:srgbClr val="A8B4C7"/>
      </a:lt2>
      <a:accent1>
        <a:srgbClr val="35C2E3"/>
      </a:accent1>
      <a:accent2>
        <a:srgbClr val="5B8CFF"/>
      </a:accent2>
      <a:accent3>
        <a:srgbClr val="39D98A"/>
      </a:accent3>
      <a:accent4>
        <a:srgbClr val="FFB454"/>
      </a:accent4>
      <a:accent5>
        <a:srgbClr val="FF6B6B"/>
      </a:accent5>
      <a:accent6>
        <a:srgbClr val="A8B4C7"/>
      </a:accent6>
      <a:hlink>
        <a:srgbClr val="35C2E3"/>
      </a:hlink>
      <a:folHlink>
        <a:srgbClr val="5B8CF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mple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Block Agent | End-to-End Design</dc:title>
  <dc:subject>Agentic system architecture</dc:subject>
  <dc:creator>OpenAI Codex</dc:creator>
  <cp:lastModifiedBy>OpenAI Codex</cp:lastModifiedBy>
  <dcterms:created xsi:type="dcterms:W3CDTF">2026-08-06T00:00:00Z</dcterms:created>
  <dcterms:modified xsi:type="dcterms:W3CDTF">2026-08-06T00:00:00Z</dcterms:modified>
</cp:coreProperties>
</file>