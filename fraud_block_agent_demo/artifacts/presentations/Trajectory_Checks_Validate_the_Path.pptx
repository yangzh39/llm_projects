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presProps" Target="presProps.xml"/>
<Relationship Id="rId4" Type="http://schemas.openxmlformats.org/officeDocument/2006/relationships/viewProps" Target="viewProps.xml"/>
<Relationship Id="rId5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ud Block Agent Desig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93776" y="22860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100" b="1" dirty="0">
                <a:solidFill>
                  <a:srgbClr val="172033"/>
                </a:solidFill>
                <a:latin typeface="Arial"/>
              </a:rPr>
              <a:t>Trajectory Checks — Validate the Path, Not Just the Outcome</a:t>
            </a:r>
            <a:endParaRPr lang="en-US" sz="2100"/>
          </a:p>
        </p:txBody>
      </p:sp>
      <p:sp>
        <p:nvSpPr>
          <p:cNvPr id="3" name="Text 3"/>
          <p:cNvSpPr txBox="1"/>
          <p:nvPr/>
        </p:nvSpPr>
        <p:spPr>
          <a:xfrm>
            <a:off x="493776" y="640080"/>
            <a:ext cx="1088136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70" b="0" dirty="0">
                <a:solidFill>
                  <a:srgbClr val="5F6B7A"/>
                </a:solidFill>
                <a:latin typeface="Arial"/>
              </a:rPr>
              <a:t>Trajectory evaluation covers the agent’s intermediate actions; execution order is one important dimension.</a:t>
            </a:r>
            <a:endParaRPr lang="en-US" sz="970"/>
          </a:p>
        </p:txBody>
      </p:sp>
      <p:cxnSp>
        <p:nvCxnSpPr>
          <p:cNvPr id="4" name="Connector 4"/>
          <p:cNvCxnSpPr/>
          <p:nvPr/>
        </p:nvCxnSpPr>
        <p:spPr>
          <a:xfrm>
            <a:off x="493776" y="932688"/>
            <a:ext cx="11201400" cy="0"/>
          </a:xfrm>
          <a:prstGeom prst="line">
            <a:avLst/>
          </a:prstGeom>
          <a:ln w="12700">
            <a:solidFill>
              <a:srgbClr val="D8DEE8"/>
            </a:solidFill>
            <a:tailEnd type="none"/>
            <a:headEnd type="none"/>
          </a:ln>
        </p:spPr>
      </p:cxnSp>
      <p:sp>
        <p:nvSpPr>
          <p:cNvPr id="5" name="Shape 5"/>
          <p:cNvSpPr/>
          <p:nvPr/>
        </p:nvSpPr>
        <p:spPr>
          <a:xfrm>
            <a:off x="493776" y="1115568"/>
            <a:ext cx="7013448" cy="795528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B9C9DA"/>
            </a:solidFill>
          </a:ln>
        </p:spPr>
      </p:sp>
      <p:sp>
        <p:nvSpPr>
          <p:cNvPr id="6" name="Shape 6"/>
          <p:cNvSpPr/>
          <p:nvPr/>
        </p:nvSpPr>
        <p:spPr>
          <a:xfrm>
            <a:off x="493776" y="1115568"/>
            <a:ext cx="73152" cy="795528"/>
          </a:xfrm>
          <a:prstGeom prst="rect">
            <a:avLst/>
          </a:prstGeom>
          <a:solidFill>
            <a:srgbClr val="20A7D3"/>
          </a:solidFill>
          <a:ln w="12700">
            <a:solidFill>
              <a:srgbClr val="20A7D3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04088" y="124358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50" b="1" dirty="0">
                <a:solidFill>
                  <a:srgbClr val="087EA4"/>
                </a:solidFill>
                <a:latin typeface="Arial"/>
              </a:rPr>
              <a:t>DEFINITION</a:t>
            </a:r>
            <a:endParaRPr lang="en-US" sz="1050"/>
          </a:p>
        </p:txBody>
      </p:sp>
      <p:sp>
        <p:nvSpPr>
          <p:cNvPr id="8" name="Text 8"/>
          <p:cNvSpPr txBox="1"/>
          <p:nvPr/>
        </p:nvSpPr>
        <p:spPr>
          <a:xfrm>
            <a:off x="704088" y="1481328"/>
            <a:ext cx="6446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080" b="0" dirty="0">
                <a:solidFill>
                  <a:srgbClr val="172033"/>
                </a:solidFill>
                <a:latin typeface="Arial"/>
              </a:rPr>
              <a:t>Evaluates the intermediate decisions, actions, tool use, evidence, and state</a:t>
            </a:r>
            <a:endParaRPr lang="en-US" sz="1080"/>
          </a:p>
          <a:p>
            <a:pPr algn="l"/>
            <a:r>
              <a:rPr lang="en-US" sz="1080" b="0" dirty="0">
                <a:solidFill>
                  <a:srgbClr val="172033"/>
                </a:solidFill>
                <a:latin typeface="Arial"/>
              </a:rPr>
              <a:t>transitions an agent followed to reach an outcome.</a:t>
            </a:r>
            <a:endParaRPr lang="en-US" sz="1080"/>
          </a:p>
        </p:txBody>
      </p:sp>
      <p:sp>
        <p:nvSpPr>
          <p:cNvPr id="9" name="Shape 9"/>
          <p:cNvSpPr/>
          <p:nvPr/>
        </p:nvSpPr>
        <p:spPr>
          <a:xfrm>
            <a:off x="7680960" y="1115568"/>
            <a:ext cx="4014216" cy="795528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E4B26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7891272" y="1243584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50" b="1" dirty="0">
                <a:solidFill>
                  <a:srgbClr val="B65F00"/>
                </a:solidFill>
                <a:latin typeface="Arial"/>
              </a:rPr>
              <a:t>BEST PRACTICE</a:t>
            </a:r>
            <a:endParaRPr lang="en-US" sz="1050"/>
          </a:p>
        </p:txBody>
      </p:sp>
      <p:sp>
        <p:nvSpPr>
          <p:cNvPr id="11" name="Text 11"/>
          <p:cNvSpPr txBox="1"/>
          <p:nvPr/>
        </p:nvSpPr>
        <p:spPr>
          <a:xfrm>
            <a:off x="7891272" y="1481328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00" b="0" dirty="0">
                <a:solidFill>
                  <a:srgbClr val="172033"/>
                </a:solidFill>
                <a:latin typeface="Arial"/>
              </a:rPr>
              <a:t>Enforce business-critical dependencies.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7891272" y="1682496"/>
            <a:ext cx="352044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20" b="0" dirty="0">
                <a:solidFill>
                  <a:srgbClr val="5F6B7A"/>
                </a:solidFill>
                <a:latin typeface="Arial"/>
              </a:rPr>
              <a:t>Allow alternative paths when exact order is unnecessary.</a:t>
            </a:r>
            <a:endParaRPr lang="en-US" sz="920"/>
          </a:p>
        </p:txBody>
      </p:sp>
      <p:sp>
        <p:nvSpPr>
          <p:cNvPr id="13" name="Text 13"/>
          <p:cNvSpPr txBox="1"/>
          <p:nvPr/>
        </p:nvSpPr>
        <p:spPr>
          <a:xfrm>
            <a:off x="493776" y="2066544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150" b="1" dirty="0">
                <a:solidFill>
                  <a:srgbClr val="172033"/>
                </a:solidFill>
                <a:latin typeface="Arial"/>
              </a:rPr>
              <a:t>What trajectory checks can evaluate</a:t>
            </a:r>
            <a:endParaRPr lang="en-US" sz="1150"/>
          </a:p>
        </p:txBody>
      </p:sp>
      <p:sp>
        <p:nvSpPr>
          <p:cNvPr id="14" name="Shape 14"/>
          <p:cNvSpPr/>
          <p:nvPr/>
        </p:nvSpPr>
        <p:spPr>
          <a:xfrm>
            <a:off x="493776" y="2331720"/>
            <a:ext cx="1764792" cy="594360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AAC3E4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630936" y="2432304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10" b="1" dirty="0">
                <a:solidFill>
                  <a:srgbClr val="2563A8"/>
                </a:solidFill>
                <a:latin typeface="Arial"/>
              </a:rPr>
              <a:t>Required steps</a:t>
            </a:r>
            <a:endParaRPr lang="en-US" sz="910"/>
          </a:p>
        </p:txBody>
      </p:sp>
      <p:sp>
        <p:nvSpPr>
          <p:cNvPr id="16" name="Text 16"/>
          <p:cNvSpPr txBox="1"/>
          <p:nvPr/>
        </p:nvSpPr>
        <p:spPr>
          <a:xfrm>
            <a:off x="630936" y="2688336"/>
            <a:ext cx="153619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80" b="0" dirty="0">
                <a:solidFill>
                  <a:srgbClr val="5F6B7A"/>
                </a:solidFill>
                <a:latin typeface="Arial"/>
              </a:rPr>
              <a:t>Did mandatory actions occur?</a:t>
            </a:r>
            <a:endParaRPr lang="en-US" sz="780"/>
          </a:p>
        </p:txBody>
      </p:sp>
      <p:sp>
        <p:nvSpPr>
          <p:cNvPr id="17" name="Shape 17"/>
          <p:cNvSpPr/>
          <p:nvPr/>
        </p:nvSpPr>
        <p:spPr>
          <a:xfrm>
            <a:off x="2386584" y="2331720"/>
            <a:ext cx="1764792" cy="594360"/>
          </a:xfrm>
          <a:prstGeom prst="roundRect">
            <a:avLst/>
          </a:prstGeom>
          <a:solidFill>
            <a:srgbClr val="FFF8F8"/>
          </a:solidFill>
          <a:ln w="12700">
            <a:solidFill>
              <a:srgbClr val="E5B0B0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2523744" y="2432304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10" b="1" dirty="0">
                <a:solidFill>
                  <a:srgbClr val="C83B3B"/>
                </a:solidFill>
                <a:latin typeface="Arial"/>
              </a:rPr>
              <a:t>Prohibited steps</a:t>
            </a:r>
            <a:endParaRPr lang="en-US" sz="910"/>
          </a:p>
        </p:txBody>
      </p:sp>
      <p:sp>
        <p:nvSpPr>
          <p:cNvPr id="19" name="Text 19"/>
          <p:cNvSpPr txBox="1"/>
          <p:nvPr/>
        </p:nvSpPr>
        <p:spPr>
          <a:xfrm>
            <a:off x="2523744" y="2688336"/>
            <a:ext cx="153619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80" b="0" dirty="0">
                <a:solidFill>
                  <a:srgbClr val="5F6B7A"/>
                </a:solidFill>
                <a:latin typeface="Arial"/>
              </a:rPr>
              <a:t>Were forbidden actions avoided?</a:t>
            </a:r>
            <a:endParaRPr lang="en-US" sz="780"/>
          </a:p>
        </p:txBody>
      </p:sp>
      <p:sp>
        <p:nvSpPr>
          <p:cNvPr id="20" name="Shape 20"/>
          <p:cNvSpPr/>
          <p:nvPr/>
        </p:nvSpPr>
        <p:spPr>
          <a:xfrm>
            <a:off x="4279392" y="2331720"/>
            <a:ext cx="1764792" cy="59436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E4B264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4416552" y="2432304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10" b="1" dirty="0">
                <a:solidFill>
                  <a:srgbClr val="B65F00"/>
                </a:solidFill>
                <a:latin typeface="Arial"/>
              </a:rPr>
              <a:t>Order &amp; dependencies</a:t>
            </a:r>
            <a:endParaRPr lang="en-US" sz="910"/>
          </a:p>
        </p:txBody>
      </p:sp>
      <p:sp>
        <p:nvSpPr>
          <p:cNvPr id="22" name="Text 22"/>
          <p:cNvSpPr txBox="1"/>
          <p:nvPr/>
        </p:nvSpPr>
        <p:spPr>
          <a:xfrm>
            <a:off x="4416552" y="2688336"/>
            <a:ext cx="153619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80" b="0" dirty="0">
                <a:solidFill>
                  <a:srgbClr val="5F6B7A"/>
                </a:solidFill>
                <a:latin typeface="Arial"/>
              </a:rPr>
              <a:t>Did prerequisites happen first?</a:t>
            </a:r>
            <a:endParaRPr lang="en-US" sz="780"/>
          </a:p>
        </p:txBody>
      </p:sp>
      <p:sp>
        <p:nvSpPr>
          <p:cNvPr id="23" name="Shape 23"/>
          <p:cNvSpPr/>
          <p:nvPr/>
        </p:nvSpPr>
        <p:spPr>
          <a:xfrm>
            <a:off x="6172200" y="2331720"/>
            <a:ext cx="1764792" cy="594360"/>
          </a:xfrm>
          <a:prstGeom prst="roundRect">
            <a:avLst/>
          </a:prstGeom>
          <a:solidFill>
            <a:srgbClr val="F7FCF9"/>
          </a:solidFill>
          <a:ln w="12700">
            <a:solidFill>
              <a:srgbClr val="A9D8BE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6309360" y="2432304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10" b="1" dirty="0">
                <a:solidFill>
                  <a:srgbClr val="168653"/>
                </a:solidFill>
                <a:latin typeface="Arial"/>
              </a:rPr>
              <a:t>Tool selection</a:t>
            </a:r>
            <a:endParaRPr lang="en-US" sz="910"/>
          </a:p>
        </p:txBody>
      </p:sp>
      <p:sp>
        <p:nvSpPr>
          <p:cNvPr id="25" name="Text 25"/>
          <p:cNvSpPr txBox="1"/>
          <p:nvPr/>
        </p:nvSpPr>
        <p:spPr>
          <a:xfrm>
            <a:off x="6309360" y="2688336"/>
            <a:ext cx="153619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80" b="0" dirty="0">
                <a:solidFill>
                  <a:srgbClr val="5F6B7A"/>
                </a:solidFill>
                <a:latin typeface="Arial"/>
              </a:rPr>
              <a:t>Were appropriate tools used?</a:t>
            </a:r>
            <a:endParaRPr lang="en-US" sz="780"/>
          </a:p>
        </p:txBody>
      </p:sp>
      <p:sp>
        <p:nvSpPr>
          <p:cNvPr id="26" name="Shape 26"/>
          <p:cNvSpPr/>
          <p:nvPr/>
        </p:nvSpPr>
        <p:spPr>
          <a:xfrm>
            <a:off x="8055864" y="2331720"/>
            <a:ext cx="1764792" cy="594360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B9C9DA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8193024" y="2432304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10" b="1" dirty="0">
                <a:solidFill>
                  <a:srgbClr val="087EA4"/>
                </a:solidFill>
                <a:latin typeface="Arial"/>
              </a:rPr>
              <a:t>Arguments &amp; evidence</a:t>
            </a:r>
            <a:endParaRPr lang="en-US" sz="910"/>
          </a:p>
        </p:txBody>
      </p:sp>
      <p:sp>
        <p:nvSpPr>
          <p:cNvPr id="28" name="Text 28"/>
          <p:cNvSpPr txBox="1"/>
          <p:nvPr/>
        </p:nvSpPr>
        <p:spPr>
          <a:xfrm>
            <a:off x="8193024" y="2688336"/>
            <a:ext cx="153619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80" b="0" dirty="0">
                <a:solidFill>
                  <a:srgbClr val="5F6B7A"/>
                </a:solidFill>
                <a:latin typeface="Arial"/>
              </a:rPr>
              <a:t>Were the correct inputs used?</a:t>
            </a:r>
            <a:endParaRPr lang="en-US" sz="780"/>
          </a:p>
        </p:txBody>
      </p:sp>
      <p:sp>
        <p:nvSpPr>
          <p:cNvPr id="29" name="Shape 29"/>
          <p:cNvSpPr/>
          <p:nvPr/>
        </p:nvSpPr>
        <p:spPr>
          <a:xfrm>
            <a:off x="9948672" y="2331720"/>
            <a:ext cx="1764792" cy="594360"/>
          </a:xfrm>
          <a:prstGeom prst="roundRect">
            <a:avLst/>
          </a:prstGeom>
          <a:solidFill>
            <a:srgbClr val="F7F7FA"/>
          </a:solidFill>
          <a:ln w="12700">
            <a:solidFill>
              <a:srgbClr val="C7CCD5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10085832" y="2432304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10" b="1" dirty="0">
                <a:solidFill>
                  <a:srgbClr val="172033"/>
                </a:solidFill>
                <a:latin typeface="Arial"/>
              </a:rPr>
              <a:t>Efficiency</a:t>
            </a:r>
            <a:endParaRPr lang="en-US" sz="910"/>
          </a:p>
        </p:txBody>
      </p:sp>
      <p:sp>
        <p:nvSpPr>
          <p:cNvPr id="31" name="Text 31"/>
          <p:cNvSpPr txBox="1"/>
          <p:nvPr/>
        </p:nvSpPr>
        <p:spPr>
          <a:xfrm>
            <a:off x="10085832" y="2688336"/>
            <a:ext cx="153619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80" b="0" dirty="0">
                <a:solidFill>
                  <a:srgbClr val="5F6B7A"/>
                </a:solidFill>
                <a:latin typeface="Arial"/>
              </a:rPr>
              <a:t>Were calls or loops unnecessary?</a:t>
            </a:r>
            <a:endParaRPr lang="en-US" sz="780"/>
          </a:p>
        </p:txBody>
      </p:sp>
      <p:sp>
        <p:nvSpPr>
          <p:cNvPr id="32" name="Shape 32"/>
          <p:cNvSpPr/>
          <p:nvPr/>
        </p:nvSpPr>
        <p:spPr>
          <a:xfrm>
            <a:off x="493776" y="3118104"/>
            <a:ext cx="11201400" cy="55778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3DF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667512" y="3218688"/>
            <a:ext cx="18288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00" b="1" dirty="0">
                <a:solidFill>
                  <a:srgbClr val="172033"/>
                </a:solidFill>
                <a:latin typeface="Arial"/>
              </a:rPr>
              <a:t>SEQUENCING EXAMPLE</a:t>
            </a:r>
            <a:endParaRPr lang="en-US" sz="1000"/>
          </a:p>
        </p:txBody>
      </p:sp>
      <p:sp>
        <p:nvSpPr>
          <p:cNvPr id="34" name="Text 34"/>
          <p:cNvSpPr txBox="1"/>
          <p:nvPr/>
        </p:nvSpPr>
        <p:spPr>
          <a:xfrm>
            <a:off x="667512" y="3438144"/>
            <a:ext cx="6080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80" b="0" dirty="0">
                <a:solidFill>
                  <a:srgbClr val="172033"/>
                </a:solidFill>
                <a:latin typeface="Courier New"/>
              </a:rPr>
              <a:t>CUST-002  •  CARD-002  •  Expected final status: active  •  Actual final status: active</a:t>
            </a:r>
            <a:endParaRPr lang="en-US" sz="880"/>
          </a:p>
        </p:txBody>
      </p:sp>
      <p:sp>
        <p:nvSpPr>
          <p:cNvPr id="35" name="Text 35"/>
          <p:cNvSpPr txBox="1"/>
          <p:nvPr/>
        </p:nvSpPr>
        <p:spPr>
          <a:xfrm>
            <a:off x="6830568" y="3438144"/>
            <a:ext cx="44988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10" b="1" dirty="0">
                <a:solidFill>
                  <a:srgbClr val="C83B3B"/>
                </a:solidFill>
                <a:latin typeface="Arial"/>
              </a:rPr>
              <a:t>Rule: recognize transaction before approval and removal</a:t>
            </a:r>
            <a:endParaRPr lang="en-US" sz="910"/>
          </a:p>
        </p:txBody>
      </p:sp>
      <p:sp>
        <p:nvSpPr>
          <p:cNvPr id="36" name="Shape 36"/>
          <p:cNvSpPr/>
          <p:nvPr/>
        </p:nvSpPr>
        <p:spPr>
          <a:xfrm>
            <a:off x="493776" y="3886200"/>
            <a:ext cx="3392424" cy="2093976"/>
          </a:xfrm>
          <a:prstGeom prst="roundRect">
            <a:avLst/>
          </a:prstGeom>
          <a:solidFill>
            <a:srgbClr val="F7FCF9"/>
          </a:solidFill>
          <a:ln w="12700">
            <a:solidFill>
              <a:srgbClr val="2F9A67"/>
            </a:solidFill>
          </a:ln>
        </p:spPr>
      </p:sp>
      <p:sp>
        <p:nvSpPr>
          <p:cNvPr id="37" name="Shape 37"/>
          <p:cNvSpPr/>
          <p:nvPr/>
        </p:nvSpPr>
        <p:spPr>
          <a:xfrm>
            <a:off x="493776" y="3886200"/>
            <a:ext cx="3392424" cy="402336"/>
          </a:xfrm>
          <a:prstGeom prst="roundRect">
            <a:avLst/>
          </a:prstGeom>
          <a:solidFill>
            <a:srgbClr val="E6F6ED"/>
          </a:solidFill>
          <a:ln w="12700">
            <a:solidFill>
              <a:srgbClr val="E6F6ED"/>
            </a:solidFill>
          </a:ln>
        </p:spPr>
      </p:sp>
      <p:sp>
        <p:nvSpPr>
          <p:cNvPr id="38" name="Text 38"/>
          <p:cNvSpPr txBox="1"/>
          <p:nvPr/>
        </p:nvSpPr>
        <p:spPr>
          <a:xfrm>
            <a:off x="667512" y="4014216"/>
            <a:ext cx="2651760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200" b="1" dirty="0">
                <a:solidFill>
                  <a:srgbClr val="168653"/>
                </a:solidFill>
                <a:latin typeface="Arial"/>
              </a:rPr>
              <a:t>EXPECTED TRAJECTORY</a:t>
            </a:r>
            <a:endParaRPr lang="en-US" sz="1200"/>
          </a:p>
        </p:txBody>
      </p:sp>
      <p:sp>
        <p:nvSpPr>
          <p:cNvPr id="39" name="Text 39"/>
          <p:cNvSpPr txBox="1"/>
          <p:nvPr/>
        </p:nvSpPr>
        <p:spPr>
          <a:xfrm>
            <a:off x="694944" y="4389120"/>
            <a:ext cx="2907792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80" b="0" dirty="0">
                <a:solidFill>
                  <a:srgbClr val="172033"/>
                </a:solidFill>
                <a:latin typeface="Courier New"/>
              </a:rPr>
              <a:t>1  authentication_success</a:t>
            </a:r>
            <a:endParaRPr lang="en-US" sz="880"/>
          </a:p>
        </p:txBody>
      </p:sp>
      <p:sp>
        <p:nvSpPr>
          <p:cNvPr id="40" name="Text 40"/>
          <p:cNvSpPr txBox="1"/>
          <p:nvPr/>
        </p:nvSpPr>
        <p:spPr>
          <a:xfrm>
            <a:off x="694944" y="4608576"/>
            <a:ext cx="2907792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80" b="0" dirty="0">
                <a:solidFill>
                  <a:srgbClr val="172033"/>
                </a:solidFill>
                <a:latin typeface="Courier New"/>
              </a:rPr>
              <a:t>2  ownership_verified</a:t>
            </a:r>
            <a:endParaRPr lang="en-US" sz="880"/>
          </a:p>
        </p:txBody>
      </p:sp>
      <p:sp>
        <p:nvSpPr>
          <p:cNvPr id="41" name="Text 41"/>
          <p:cNvSpPr txBox="1"/>
          <p:nvPr/>
        </p:nvSpPr>
        <p:spPr>
          <a:xfrm>
            <a:off x="694944" y="4828032"/>
            <a:ext cx="2907792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80" b="0" dirty="0">
                <a:solidFill>
                  <a:srgbClr val="172033"/>
                </a:solidFill>
                <a:latin typeface="Courier New"/>
              </a:rPr>
              <a:t>3  transaction_retrieved</a:t>
            </a:r>
            <a:endParaRPr lang="en-US" sz="880"/>
          </a:p>
        </p:txBody>
      </p:sp>
      <p:sp>
        <p:nvSpPr>
          <p:cNvPr id="42" name="Text 42"/>
          <p:cNvSpPr txBox="1"/>
          <p:nvPr/>
        </p:nvSpPr>
        <p:spPr>
          <a:xfrm>
            <a:off x="694944" y="5047488"/>
            <a:ext cx="2907792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80" b="1" dirty="0">
                <a:solidFill>
                  <a:srgbClr val="168653"/>
                </a:solidFill>
                <a:latin typeface="Courier New"/>
              </a:rPr>
              <a:t>4  transaction_recognized</a:t>
            </a:r>
            <a:endParaRPr lang="en-US" sz="880"/>
          </a:p>
        </p:txBody>
      </p:sp>
      <p:sp>
        <p:nvSpPr>
          <p:cNvPr id="43" name="Text 43"/>
          <p:cNvSpPr txBox="1"/>
          <p:nvPr/>
        </p:nvSpPr>
        <p:spPr>
          <a:xfrm>
            <a:off x="694944" y="5266944"/>
            <a:ext cx="2907792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80" b="0" dirty="0">
                <a:solidFill>
                  <a:srgbClr val="172033"/>
                </a:solidFill>
                <a:latin typeface="Courier New"/>
              </a:rPr>
              <a:t>5  eligibility_approved</a:t>
            </a:r>
            <a:endParaRPr lang="en-US" sz="880"/>
          </a:p>
        </p:txBody>
      </p:sp>
      <p:sp>
        <p:nvSpPr>
          <p:cNvPr id="44" name="Text 44"/>
          <p:cNvSpPr txBox="1"/>
          <p:nvPr/>
        </p:nvSpPr>
        <p:spPr>
          <a:xfrm>
            <a:off x="694944" y="5486400"/>
            <a:ext cx="2907792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80" b="0" dirty="0">
                <a:solidFill>
                  <a:srgbClr val="172033"/>
                </a:solidFill>
                <a:latin typeface="Courier New"/>
              </a:rPr>
              <a:t>6  block_removed</a:t>
            </a:r>
            <a:endParaRPr lang="en-US" sz="880"/>
          </a:p>
        </p:txBody>
      </p:sp>
      <p:sp>
        <p:nvSpPr>
          <p:cNvPr id="45" name="Text 45"/>
          <p:cNvSpPr txBox="1"/>
          <p:nvPr/>
        </p:nvSpPr>
        <p:spPr>
          <a:xfrm>
            <a:off x="694944" y="5705856"/>
            <a:ext cx="2907792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80" b="0" dirty="0">
                <a:solidFill>
                  <a:srgbClr val="172033"/>
                </a:solidFill>
                <a:latin typeface="Courier New"/>
              </a:rPr>
              <a:t>7  final_state_verified</a:t>
            </a:r>
            <a:endParaRPr lang="en-US" sz="880"/>
          </a:p>
        </p:txBody>
      </p:sp>
      <p:sp>
        <p:nvSpPr>
          <p:cNvPr id="46" name="Shape 46"/>
          <p:cNvSpPr/>
          <p:nvPr/>
        </p:nvSpPr>
        <p:spPr>
          <a:xfrm>
            <a:off x="4041648" y="3886200"/>
            <a:ext cx="3968496" cy="2093976"/>
          </a:xfrm>
          <a:prstGeom prst="roundRect">
            <a:avLst/>
          </a:prstGeom>
          <a:solidFill>
            <a:srgbClr val="FFF8F8"/>
          </a:solidFill>
          <a:ln w="12700">
            <a:solidFill>
              <a:srgbClr val="CF5A5A"/>
            </a:solidFill>
          </a:ln>
        </p:spPr>
      </p:sp>
      <p:sp>
        <p:nvSpPr>
          <p:cNvPr id="47" name="Shape 47"/>
          <p:cNvSpPr/>
          <p:nvPr/>
        </p:nvSpPr>
        <p:spPr>
          <a:xfrm>
            <a:off x="4041648" y="3886200"/>
            <a:ext cx="3968496" cy="402336"/>
          </a:xfrm>
          <a:prstGeom prst="roundRect">
            <a:avLst/>
          </a:prstGeom>
          <a:solidFill>
            <a:srgbClr val="FDEAEA"/>
          </a:solidFill>
          <a:ln w="12700">
            <a:solidFill>
              <a:srgbClr val="FDEAEA"/>
            </a:solidFill>
          </a:ln>
        </p:spPr>
      </p:sp>
      <p:sp>
        <p:nvSpPr>
          <p:cNvPr id="48" name="Text 48"/>
          <p:cNvSpPr txBox="1"/>
          <p:nvPr/>
        </p:nvSpPr>
        <p:spPr>
          <a:xfrm>
            <a:off x="4215384" y="4014216"/>
            <a:ext cx="3337560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140" b="1" dirty="0">
                <a:solidFill>
                  <a:srgbClr val="C83B3B"/>
                </a:solidFill>
                <a:latin typeface="Arial"/>
              </a:rPr>
              <a:t>FAULTY RECORDED TRAJECTORY</a:t>
            </a:r>
            <a:endParaRPr lang="en-US" sz="1140"/>
          </a:p>
        </p:txBody>
      </p:sp>
      <p:sp>
        <p:nvSpPr>
          <p:cNvPr id="49" name="Shape 49"/>
          <p:cNvSpPr/>
          <p:nvPr/>
        </p:nvSpPr>
        <p:spPr>
          <a:xfrm>
            <a:off x="4178808" y="5029200"/>
            <a:ext cx="3611880" cy="393192"/>
          </a:xfrm>
          <a:prstGeom prst="roundRect">
            <a:avLst/>
          </a:prstGeom>
          <a:solidFill>
            <a:srgbClr val="FFE2E2"/>
          </a:solidFill>
          <a:ln w="12700">
            <a:solidFill>
              <a:srgbClr val="FFE2E2"/>
            </a:solidFill>
          </a:ln>
        </p:spPr>
      </p:sp>
      <p:sp>
        <p:nvSpPr>
          <p:cNvPr id="50" name="Text 50"/>
          <p:cNvSpPr txBox="1"/>
          <p:nvPr/>
        </p:nvSpPr>
        <p:spPr>
          <a:xfrm>
            <a:off x="4242816" y="4389120"/>
            <a:ext cx="352044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0" dirty="0">
                <a:solidFill>
                  <a:srgbClr val="172033"/>
                </a:solidFill>
                <a:latin typeface="Courier New"/>
              </a:rPr>
              <a:t>1  authentication_success</a:t>
            </a:r>
            <a:endParaRPr lang="en-US" sz="850"/>
          </a:p>
        </p:txBody>
      </p:sp>
      <p:sp>
        <p:nvSpPr>
          <p:cNvPr id="51" name="Text 51"/>
          <p:cNvSpPr txBox="1"/>
          <p:nvPr/>
        </p:nvSpPr>
        <p:spPr>
          <a:xfrm>
            <a:off x="4242816" y="4608576"/>
            <a:ext cx="352044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0" dirty="0">
                <a:solidFill>
                  <a:srgbClr val="172033"/>
                </a:solidFill>
                <a:latin typeface="Courier New"/>
              </a:rPr>
              <a:t>2  ownership_verified</a:t>
            </a:r>
            <a:endParaRPr lang="en-US" sz="850"/>
          </a:p>
        </p:txBody>
      </p:sp>
      <p:sp>
        <p:nvSpPr>
          <p:cNvPr id="52" name="Text 52"/>
          <p:cNvSpPr txBox="1"/>
          <p:nvPr/>
        </p:nvSpPr>
        <p:spPr>
          <a:xfrm>
            <a:off x="4242816" y="4828032"/>
            <a:ext cx="352044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0" dirty="0">
                <a:solidFill>
                  <a:srgbClr val="172033"/>
                </a:solidFill>
                <a:latin typeface="Courier New"/>
              </a:rPr>
              <a:t>3  transaction_retrieved</a:t>
            </a:r>
            <a:endParaRPr lang="en-US" sz="850"/>
          </a:p>
        </p:txBody>
      </p:sp>
      <p:sp>
        <p:nvSpPr>
          <p:cNvPr id="53" name="Text 53"/>
          <p:cNvSpPr txBox="1"/>
          <p:nvPr/>
        </p:nvSpPr>
        <p:spPr>
          <a:xfrm>
            <a:off x="4242816" y="5047488"/>
            <a:ext cx="352044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1" dirty="0">
                <a:solidFill>
                  <a:srgbClr val="C83B3B"/>
                </a:solidFill>
                <a:latin typeface="Courier New"/>
              </a:rPr>
              <a:t>4  eligibility_approved  ← TOO EARLY</a:t>
            </a:r>
            <a:endParaRPr lang="en-US" sz="850"/>
          </a:p>
        </p:txBody>
      </p:sp>
      <p:sp>
        <p:nvSpPr>
          <p:cNvPr id="54" name="Text 54"/>
          <p:cNvSpPr txBox="1"/>
          <p:nvPr/>
        </p:nvSpPr>
        <p:spPr>
          <a:xfrm>
            <a:off x="4242816" y="5266944"/>
            <a:ext cx="352044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1" dirty="0">
                <a:solidFill>
                  <a:srgbClr val="C83B3B"/>
                </a:solidFill>
                <a:latin typeface="Courier New"/>
              </a:rPr>
              <a:t>5  block_removed         ← TOO EARLY</a:t>
            </a:r>
            <a:endParaRPr lang="en-US" sz="850"/>
          </a:p>
        </p:txBody>
      </p:sp>
      <p:sp>
        <p:nvSpPr>
          <p:cNvPr id="55" name="Text 55"/>
          <p:cNvSpPr txBox="1"/>
          <p:nvPr/>
        </p:nvSpPr>
        <p:spPr>
          <a:xfrm>
            <a:off x="4242816" y="5486400"/>
            <a:ext cx="352044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0" dirty="0">
                <a:solidFill>
                  <a:srgbClr val="172033"/>
                </a:solidFill>
                <a:latin typeface="Courier New"/>
              </a:rPr>
              <a:t>6  transaction_recognized</a:t>
            </a:r>
            <a:endParaRPr lang="en-US" sz="850"/>
          </a:p>
        </p:txBody>
      </p:sp>
      <p:sp>
        <p:nvSpPr>
          <p:cNvPr id="56" name="Text 56"/>
          <p:cNvSpPr txBox="1"/>
          <p:nvPr/>
        </p:nvSpPr>
        <p:spPr>
          <a:xfrm>
            <a:off x="4242816" y="5705856"/>
            <a:ext cx="352044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0" dirty="0">
                <a:solidFill>
                  <a:srgbClr val="172033"/>
                </a:solidFill>
                <a:latin typeface="Courier New"/>
              </a:rPr>
              <a:t>7  final_state_verified</a:t>
            </a:r>
            <a:endParaRPr lang="en-US" sz="850"/>
          </a:p>
        </p:txBody>
      </p:sp>
      <p:sp>
        <p:nvSpPr>
          <p:cNvPr id="57" name="Shape 57"/>
          <p:cNvSpPr/>
          <p:nvPr/>
        </p:nvSpPr>
        <p:spPr>
          <a:xfrm>
            <a:off x="8156448" y="3886200"/>
            <a:ext cx="3538728" cy="2093976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AAC3E4"/>
            </a:solidFill>
          </a:ln>
        </p:spPr>
      </p:sp>
      <p:sp>
        <p:nvSpPr>
          <p:cNvPr id="58" name="Text 58"/>
          <p:cNvSpPr txBox="1"/>
          <p:nvPr/>
        </p:nvSpPr>
        <p:spPr>
          <a:xfrm>
            <a:off x="8339328" y="4014216"/>
            <a:ext cx="2560320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180" b="1" dirty="0">
                <a:solidFill>
                  <a:srgbClr val="2563A8"/>
                </a:solidFill>
                <a:latin typeface="Arial"/>
              </a:rPr>
              <a:t>EVALUATION RESULT</a:t>
            </a:r>
            <a:endParaRPr lang="en-US" sz="1180"/>
          </a:p>
        </p:txBody>
      </p:sp>
      <p:cxnSp>
        <p:nvCxnSpPr>
          <p:cNvPr id="59" name="Connector 59"/>
          <p:cNvCxnSpPr/>
          <p:nvPr/>
        </p:nvCxnSpPr>
        <p:spPr>
          <a:xfrm>
            <a:off x="8339328" y="4279392"/>
            <a:ext cx="3163824" cy="0"/>
          </a:xfrm>
          <a:prstGeom prst="line">
            <a:avLst/>
          </a:prstGeom>
          <a:ln w="10160">
            <a:solidFill>
              <a:srgbClr val="D8DEE8"/>
            </a:solidFill>
            <a:tailEnd type="none"/>
            <a:headEnd type="none"/>
          </a:ln>
        </p:spPr>
      </p:cxnSp>
      <p:sp>
        <p:nvSpPr>
          <p:cNvPr id="60" name="Text 60"/>
          <p:cNvSpPr txBox="1"/>
          <p:nvPr/>
        </p:nvSpPr>
        <p:spPr>
          <a:xfrm>
            <a:off x="8339328" y="4471416"/>
            <a:ext cx="155448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50" b="1" dirty="0">
                <a:solidFill>
                  <a:srgbClr val="172033"/>
                </a:solidFill>
                <a:latin typeface="Arial"/>
              </a:rPr>
              <a:t>Outcome check</a:t>
            </a:r>
            <a:endParaRPr lang="en-US" sz="950"/>
          </a:p>
        </p:txBody>
      </p:sp>
      <p:sp>
        <p:nvSpPr>
          <p:cNvPr id="61" name="Text 61"/>
          <p:cNvSpPr txBox="1"/>
          <p:nvPr/>
        </p:nvSpPr>
        <p:spPr>
          <a:xfrm>
            <a:off x="8339328" y="4700016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80" b="0" dirty="0">
                <a:solidFill>
                  <a:srgbClr val="5F6B7A"/>
                </a:solidFill>
                <a:latin typeface="Courier New"/>
              </a:rPr>
              <a:t>active == active</a:t>
            </a:r>
            <a:endParaRPr lang="en-US" sz="880"/>
          </a:p>
        </p:txBody>
      </p:sp>
      <p:sp>
        <p:nvSpPr>
          <p:cNvPr id="62" name="Shape 62"/>
          <p:cNvSpPr/>
          <p:nvPr/>
        </p:nvSpPr>
        <p:spPr>
          <a:xfrm>
            <a:off x="10716768" y="4416552"/>
            <a:ext cx="795528" cy="365760"/>
          </a:xfrm>
          <a:prstGeom prst="roundRect">
            <a:avLst/>
          </a:prstGeom>
          <a:solidFill>
            <a:srgbClr val="E1F5E9"/>
          </a:solidFill>
          <a:ln w="12700">
            <a:solidFill>
              <a:srgbClr val="2F9A67"/>
            </a:solidFill>
          </a:ln>
        </p:spPr>
      </p:sp>
      <p:sp>
        <p:nvSpPr>
          <p:cNvPr id="63" name="Text 63"/>
          <p:cNvSpPr txBox="1"/>
          <p:nvPr/>
        </p:nvSpPr>
        <p:spPr>
          <a:xfrm>
            <a:off x="10716768" y="4507992"/>
            <a:ext cx="79552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050" b="1" dirty="0">
                <a:solidFill>
                  <a:srgbClr val="168653"/>
                </a:solidFill>
                <a:latin typeface="Arial"/>
              </a:rPr>
              <a:t>PASS</a:t>
            </a:r>
            <a:endParaRPr lang="en-US" sz="1050"/>
          </a:p>
        </p:txBody>
      </p:sp>
      <p:sp>
        <p:nvSpPr>
          <p:cNvPr id="64" name="Text 64"/>
          <p:cNvSpPr txBox="1"/>
          <p:nvPr/>
        </p:nvSpPr>
        <p:spPr>
          <a:xfrm>
            <a:off x="8339328" y="5020056"/>
            <a:ext cx="173736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50" b="1" dirty="0">
                <a:solidFill>
                  <a:srgbClr val="172033"/>
                </a:solidFill>
                <a:latin typeface="Arial"/>
              </a:rPr>
              <a:t>Sequencing check</a:t>
            </a:r>
            <a:endParaRPr lang="en-US" sz="950"/>
          </a:p>
        </p:txBody>
      </p:sp>
      <p:sp>
        <p:nvSpPr>
          <p:cNvPr id="65" name="Text 65"/>
          <p:cNvSpPr txBox="1"/>
          <p:nvPr/>
        </p:nvSpPr>
        <p:spPr>
          <a:xfrm>
            <a:off x="8339328" y="5248656"/>
            <a:ext cx="208483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0" dirty="0">
                <a:solidFill>
                  <a:srgbClr val="5F6B7A"/>
                </a:solidFill>
                <a:latin typeface="Courier New"/>
              </a:rPr>
              <a:t>recognition before approval</a:t>
            </a:r>
            <a:endParaRPr lang="en-US" sz="850"/>
          </a:p>
        </p:txBody>
      </p:sp>
      <p:sp>
        <p:nvSpPr>
          <p:cNvPr id="66" name="Text 66"/>
          <p:cNvSpPr txBox="1"/>
          <p:nvPr/>
        </p:nvSpPr>
        <p:spPr>
          <a:xfrm>
            <a:off x="8339328" y="5440680"/>
            <a:ext cx="2240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10" b="0" dirty="0">
                <a:solidFill>
                  <a:srgbClr val="C83B3B"/>
                </a:solidFill>
                <a:latin typeface="Courier New"/>
              </a:rPr>
              <a:t>position 6 &lt; position 4 = false</a:t>
            </a:r>
            <a:endParaRPr lang="en-US" sz="810"/>
          </a:p>
        </p:txBody>
      </p:sp>
      <p:sp>
        <p:nvSpPr>
          <p:cNvPr id="67" name="Shape 67"/>
          <p:cNvSpPr/>
          <p:nvPr/>
        </p:nvSpPr>
        <p:spPr>
          <a:xfrm>
            <a:off x="10716768" y="5138928"/>
            <a:ext cx="795528" cy="365760"/>
          </a:xfrm>
          <a:prstGeom prst="roundRect">
            <a:avLst/>
          </a:prstGeom>
          <a:solidFill>
            <a:srgbClr val="FDE5E5"/>
          </a:solidFill>
          <a:ln w="12700">
            <a:solidFill>
              <a:srgbClr val="CF5A5A"/>
            </a:solidFill>
          </a:ln>
        </p:spPr>
      </p:sp>
      <p:sp>
        <p:nvSpPr>
          <p:cNvPr id="68" name="Text 68"/>
          <p:cNvSpPr txBox="1"/>
          <p:nvPr/>
        </p:nvSpPr>
        <p:spPr>
          <a:xfrm>
            <a:off x="10716768" y="5230368"/>
            <a:ext cx="79552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050" b="1" dirty="0">
                <a:solidFill>
                  <a:srgbClr val="C83B3B"/>
                </a:solidFill>
                <a:latin typeface="Arial"/>
              </a:rPr>
              <a:t>FAIL</a:t>
            </a:r>
            <a:endParaRPr lang="en-US" sz="1050"/>
          </a:p>
        </p:txBody>
      </p:sp>
      <p:sp>
        <p:nvSpPr>
          <p:cNvPr id="69" name="Text 69"/>
          <p:cNvSpPr txBox="1"/>
          <p:nvPr/>
        </p:nvSpPr>
        <p:spPr>
          <a:xfrm>
            <a:off x="8339328" y="5669280"/>
            <a:ext cx="278892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60" b="1" dirty="0">
                <a:solidFill>
                  <a:srgbClr val="C83B3B"/>
                </a:solidFill>
                <a:latin typeface="Arial"/>
              </a:rPr>
              <a:t>Overall trajectory result: FAIL</a:t>
            </a:r>
            <a:endParaRPr lang="en-US" sz="960"/>
          </a:p>
        </p:txBody>
      </p:sp>
      <p:sp>
        <p:nvSpPr>
          <p:cNvPr id="70" name="Shape 70"/>
          <p:cNvSpPr/>
          <p:nvPr/>
        </p:nvSpPr>
        <p:spPr>
          <a:xfrm>
            <a:off x="493776" y="6153912"/>
            <a:ext cx="11201400" cy="475488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E58A1F"/>
            </a:solidFill>
          </a:ln>
        </p:spPr>
      </p:sp>
      <p:sp>
        <p:nvSpPr>
          <p:cNvPr id="71" name="Text 71"/>
          <p:cNvSpPr txBox="1"/>
          <p:nvPr/>
        </p:nvSpPr>
        <p:spPr>
          <a:xfrm>
            <a:off x="685800" y="6236208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80" b="1" dirty="0">
                <a:solidFill>
                  <a:srgbClr val="B65F00"/>
                </a:solidFill>
                <a:latin typeface="Arial"/>
              </a:rPr>
              <a:t>KEY TAKEAWAY</a:t>
            </a:r>
            <a:endParaRPr lang="en-US" sz="980"/>
          </a:p>
        </p:txBody>
      </p:sp>
      <p:sp>
        <p:nvSpPr>
          <p:cNvPr id="72" name="Text 72"/>
          <p:cNvSpPr txBox="1"/>
          <p:nvPr/>
        </p:nvSpPr>
        <p:spPr>
          <a:xfrm>
            <a:off x="685800" y="6428232"/>
            <a:ext cx="10698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90" b="0" dirty="0">
                <a:solidFill>
                  <a:srgbClr val="172033"/>
                </a:solidFill>
                <a:latin typeface="Arial"/>
              </a:rPr>
              <a:t>A correct final state is insufficient when a protected action occurred before its required evidence was established.</a:t>
            </a:r>
            <a:endParaRPr lang="en-US" sz="99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ud Agent">
  <a:themeElements>
    <a:clrScheme name="Fraud Agent">
      <a:dk1>
        <a:srgbClr val="09111F"/>
      </a:dk1>
      <a:lt1>
        <a:srgbClr val="F7FAFC"/>
      </a:lt1>
      <a:dk2>
        <a:srgbClr val="111D2E"/>
      </a:dk2>
      <a:lt2>
        <a:srgbClr val="A8B4C7"/>
      </a:lt2>
      <a:accent1>
        <a:srgbClr val="35C2E3"/>
      </a:accent1>
      <a:accent2>
        <a:srgbClr val="5B8CFF"/>
      </a:accent2>
      <a:accent3>
        <a:srgbClr val="39D98A"/>
      </a:accent3>
      <a:accent4>
        <a:srgbClr val="FFB454"/>
      </a:accent4>
      <a:accent5>
        <a:srgbClr val="FF6B6B"/>
      </a:accent5>
      <a:accent6>
        <a:srgbClr val="A8B4C7"/>
      </a:accent6>
      <a:hlink>
        <a:srgbClr val="35C2E3"/>
      </a:hlink>
      <a:folHlink>
        <a:srgbClr val="5B8CF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Block Agent | End-to-End Design</dc:title>
  <dc:subject>Agentic system architecture</dc:subject>
  <dc:creator>OpenAI Codex</dc:creator>
  <cp:lastModifiedBy>OpenAI Codex</cp:lastModifiedBy>
  <dcterms:created xsi:type="dcterms:W3CDTF">2026-08-06T00:00:00Z</dcterms:created>
  <dcterms:modified xsi:type="dcterms:W3CDTF">2026-08-06T00:00:00Z</dcterms:modified>
</cp:coreProperties>
</file>