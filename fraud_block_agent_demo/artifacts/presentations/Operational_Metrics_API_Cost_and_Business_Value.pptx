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93776" y="219456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100" b="1" dirty="0">
                <a:solidFill>
                  <a:srgbClr val="172033"/>
                </a:solidFill>
                <a:latin typeface="Arial"/>
              </a:rPr>
              <a:t>Operational Metrics — API Cost and Business Value</a:t>
            </a:r>
            <a:endParaRPr lang="en-US" sz="2100"/>
          </a:p>
        </p:txBody>
      </p:sp>
      <p:sp>
        <p:nvSpPr>
          <p:cNvPr id="3" name="Text 3"/>
          <p:cNvSpPr txBox="1"/>
          <p:nvPr/>
        </p:nvSpPr>
        <p:spPr>
          <a:xfrm>
            <a:off x="493776" y="640080"/>
            <a:ext cx="110642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60" b="0" dirty="0">
                <a:solidFill>
                  <a:srgbClr val="5F6B7A"/>
                </a:solidFill>
                <a:latin typeface="Arial"/>
              </a:rPr>
              <a:t>Estimate direct model expense, then monitor whether that spending produces safe and contained customer outcomes.</a:t>
            </a:r>
            <a:endParaRPr lang="en-US" sz="960"/>
          </a:p>
        </p:txBody>
      </p:sp>
      <p:cxnSp>
        <p:nvCxnSpPr>
          <p:cNvPr id="4" name="Connector 4"/>
          <p:cNvCxnSpPr/>
          <p:nvPr/>
        </p:nvCxnSpPr>
        <p:spPr>
          <a:xfrm>
            <a:off x="493776" y="932688"/>
            <a:ext cx="11201400" cy="0"/>
          </a:xfrm>
          <a:prstGeom prst="line">
            <a:avLst/>
          </a:prstGeom>
          <a:ln w="12700">
            <a:solidFill>
              <a:srgbClr val="D8DEE8"/>
            </a:solidFill>
            <a:tailEnd type="none"/>
            <a:headEnd type="none"/>
          </a:ln>
        </p:spPr>
      </p:cxnSp>
      <p:sp>
        <p:nvSpPr>
          <p:cNvPr id="5" name="Shape 5"/>
          <p:cNvSpPr/>
          <p:nvPr/>
        </p:nvSpPr>
        <p:spPr>
          <a:xfrm>
            <a:off x="493776" y="1115568"/>
            <a:ext cx="6858000" cy="749808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B9C9DA"/>
            </a:solidFill>
          </a:ln>
        </p:spPr>
      </p:sp>
      <p:sp>
        <p:nvSpPr>
          <p:cNvPr id="6" name="Shape 6"/>
          <p:cNvSpPr/>
          <p:nvPr/>
        </p:nvSpPr>
        <p:spPr>
          <a:xfrm>
            <a:off x="493776" y="1115568"/>
            <a:ext cx="73152" cy="749808"/>
          </a:xfrm>
          <a:prstGeom prst="rect">
            <a:avLst/>
          </a:prstGeom>
          <a:solidFill>
            <a:srgbClr val="20A7D3"/>
          </a:solidFill>
          <a:ln w="12700">
            <a:solidFill>
              <a:srgbClr val="20A7D3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04088" y="124358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1" dirty="0">
                <a:solidFill>
                  <a:srgbClr val="087EA4"/>
                </a:solidFill>
                <a:latin typeface="Arial"/>
              </a:rPr>
              <a:t>DEFINITION</a:t>
            </a:r>
            <a:endParaRPr lang="en-US" sz="1020"/>
          </a:p>
        </p:txBody>
      </p:sp>
      <p:sp>
        <p:nvSpPr>
          <p:cNvPr id="8" name="Text 8"/>
          <p:cNvSpPr txBox="1"/>
          <p:nvPr/>
        </p:nvSpPr>
        <p:spPr>
          <a:xfrm>
            <a:off x="704088" y="1481328"/>
            <a:ext cx="621792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40" b="0" dirty="0">
                <a:solidFill>
                  <a:srgbClr val="172033"/>
                </a:solidFill>
                <a:latin typeface="Arial"/>
              </a:rPr>
              <a:t>API cost is the direct model-inference expense attributed to serving a session.</a:t>
            </a:r>
            <a:endParaRPr lang="en-US" sz="1040"/>
          </a:p>
        </p:txBody>
      </p:sp>
      <p:sp>
        <p:nvSpPr>
          <p:cNvPr id="9" name="Text 9"/>
          <p:cNvSpPr txBox="1"/>
          <p:nvPr/>
        </p:nvSpPr>
        <p:spPr>
          <a:xfrm>
            <a:off x="704088" y="1682496"/>
            <a:ext cx="621792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90" b="0" dirty="0">
                <a:solidFill>
                  <a:srgbClr val="5F6B7A"/>
                </a:solidFill>
                <a:latin typeface="Arial"/>
              </a:rPr>
              <a:t>It is one operational metric—not the system’s total cost of ownership.</a:t>
            </a:r>
            <a:endParaRPr lang="en-US" sz="890"/>
          </a:p>
        </p:txBody>
      </p:sp>
      <p:sp>
        <p:nvSpPr>
          <p:cNvPr id="10" name="Shape 10"/>
          <p:cNvSpPr/>
          <p:nvPr/>
        </p:nvSpPr>
        <p:spPr>
          <a:xfrm>
            <a:off x="7525512" y="1115568"/>
            <a:ext cx="4169664" cy="74980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4B264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744968" y="124358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1" dirty="0">
                <a:solidFill>
                  <a:srgbClr val="B65F00"/>
                </a:solidFill>
                <a:latin typeface="Arial"/>
              </a:rPr>
              <a:t>BUSINESS LENS</a:t>
            </a:r>
            <a:endParaRPr lang="en-US" sz="1020"/>
          </a:p>
        </p:txBody>
      </p:sp>
      <p:sp>
        <p:nvSpPr>
          <p:cNvPr id="12" name="Text 12"/>
          <p:cNvSpPr txBox="1"/>
          <p:nvPr/>
        </p:nvSpPr>
        <p:spPr>
          <a:xfrm>
            <a:off x="7744968" y="1481328"/>
            <a:ext cx="35661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0" dirty="0">
                <a:solidFill>
                  <a:srgbClr val="172033"/>
                </a:solidFill>
                <a:latin typeface="Arial"/>
              </a:rPr>
              <a:t>Measure cost per successful, safe resolution.</a:t>
            </a:r>
            <a:endParaRPr lang="en-US" sz="1020"/>
          </a:p>
        </p:txBody>
      </p:sp>
      <p:sp>
        <p:nvSpPr>
          <p:cNvPr id="13" name="Text 13"/>
          <p:cNvSpPr txBox="1"/>
          <p:nvPr/>
        </p:nvSpPr>
        <p:spPr>
          <a:xfrm>
            <a:off x="7744968" y="1682496"/>
            <a:ext cx="35661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5F6B7A"/>
                </a:solidFill>
                <a:latin typeface="Arial"/>
              </a:rPr>
              <a:t>Low API spend has value only when the workflow contains the call.</a:t>
            </a:r>
            <a:endParaRPr lang="en-US" sz="880"/>
          </a:p>
        </p:txBody>
      </p:sp>
      <p:sp>
        <p:nvSpPr>
          <p:cNvPr id="14" name="Text 14"/>
          <p:cNvSpPr txBox="1"/>
          <p:nvPr/>
        </p:nvSpPr>
        <p:spPr>
          <a:xfrm>
            <a:off x="493776" y="2011680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40" b="1" dirty="0">
                <a:solidFill>
                  <a:srgbClr val="2563A8"/>
                </a:solidFill>
                <a:latin typeface="Arial"/>
              </a:rPr>
              <a:t>ANNUAL API-COST FUNNEL</a:t>
            </a:r>
            <a:endParaRPr lang="en-US" sz="1240"/>
          </a:p>
        </p:txBody>
      </p:sp>
      <p:sp>
        <p:nvSpPr>
          <p:cNvPr id="15" name="Text 15"/>
          <p:cNvSpPr txBox="1"/>
          <p:nvPr/>
        </p:nvSpPr>
        <p:spPr>
          <a:xfrm>
            <a:off x="7616952" y="2011680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40" b="1" dirty="0">
                <a:solidFill>
                  <a:srgbClr val="168653"/>
                </a:solidFill>
                <a:latin typeface="Arial"/>
              </a:rPr>
              <a:t>OTHER OPERATIONAL METRICS</a:t>
            </a:r>
            <a:endParaRPr lang="en-US" sz="1240"/>
          </a:p>
        </p:txBody>
      </p:sp>
      <p:sp>
        <p:nvSpPr>
          <p:cNvPr id="16" name="Shape 16"/>
          <p:cNvSpPr/>
          <p:nvPr/>
        </p:nvSpPr>
        <p:spPr>
          <a:xfrm>
            <a:off x="493776" y="2304288"/>
            <a:ext cx="6665976" cy="47548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4B79B5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694944" y="2404872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1" dirty="0">
                <a:solidFill>
                  <a:srgbClr val="2563A8"/>
                </a:solidFill>
                <a:latin typeface="Arial"/>
              </a:rPr>
              <a:t>500,000 annual connected customer calls</a:t>
            </a:r>
            <a:endParaRPr lang="en-US" sz="1020"/>
          </a:p>
        </p:txBody>
      </p:sp>
      <p:sp>
        <p:nvSpPr>
          <p:cNvPr id="18" name="Text 18"/>
          <p:cNvSpPr txBox="1"/>
          <p:nvPr/>
        </p:nvSpPr>
        <p:spPr>
          <a:xfrm>
            <a:off x="694944" y="2596896"/>
            <a:ext cx="4023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20" b="0" dirty="0">
                <a:solidFill>
                  <a:srgbClr val="5F6B7A"/>
                </a:solidFill>
                <a:latin typeface="Arial"/>
              </a:rPr>
              <a:t>Annual workload entering the fraud-block agent</a:t>
            </a:r>
            <a:endParaRPr lang="en-US" sz="820"/>
          </a:p>
        </p:txBody>
      </p:sp>
      <p:cxnSp>
        <p:nvCxnSpPr>
          <p:cNvPr id="19" name="Connector 19"/>
          <p:cNvCxnSpPr/>
          <p:nvPr/>
        </p:nvCxnSpPr>
        <p:spPr>
          <a:xfrm>
            <a:off x="3822192" y="2779776"/>
            <a:ext cx="0" cy="155448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20" name="Connector 20"/>
          <p:cNvCxnSpPr/>
          <p:nvPr/>
        </p:nvCxnSpPr>
        <p:spPr>
          <a:xfrm>
            <a:off x="2121408" y="2935224"/>
            <a:ext cx="3429000" cy="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21" name="Connector 21"/>
          <p:cNvCxnSpPr/>
          <p:nvPr/>
        </p:nvCxnSpPr>
        <p:spPr>
          <a:xfrm>
            <a:off x="2121408" y="2935224"/>
            <a:ext cx="0" cy="109728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22" name="Connector 22"/>
          <p:cNvCxnSpPr/>
          <p:nvPr/>
        </p:nvCxnSpPr>
        <p:spPr>
          <a:xfrm>
            <a:off x="5550408" y="2935224"/>
            <a:ext cx="0" cy="109728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sp>
        <p:nvSpPr>
          <p:cNvPr id="23" name="Shape 23"/>
          <p:cNvSpPr/>
          <p:nvPr/>
        </p:nvSpPr>
        <p:spPr>
          <a:xfrm>
            <a:off x="493776" y="3044952"/>
            <a:ext cx="3236976" cy="77724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67512" y="3172968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1" dirty="0">
                <a:solidFill>
                  <a:srgbClr val="168653"/>
                </a:solidFill>
                <a:latin typeface="Arial"/>
              </a:rPr>
              <a:t>60% successful block removal</a:t>
            </a:r>
            <a:endParaRPr lang="en-US" sz="1020"/>
          </a:p>
        </p:txBody>
      </p:sp>
      <p:sp>
        <p:nvSpPr>
          <p:cNvPr id="25" name="Text 25"/>
          <p:cNvSpPr txBox="1"/>
          <p:nvPr/>
        </p:nvSpPr>
        <p:spPr>
          <a:xfrm>
            <a:off x="667512" y="3419856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172033"/>
                </a:solidFill>
                <a:latin typeface="Courier New"/>
              </a:rPr>
              <a:t>300,000 sessions × 6 calls</a:t>
            </a:r>
            <a:endParaRPr lang="en-US" sz="920"/>
          </a:p>
        </p:txBody>
      </p:sp>
      <p:sp>
        <p:nvSpPr>
          <p:cNvPr id="26" name="Text 26"/>
          <p:cNvSpPr txBox="1"/>
          <p:nvPr/>
        </p:nvSpPr>
        <p:spPr>
          <a:xfrm>
            <a:off x="667512" y="3657600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68653"/>
                </a:solidFill>
                <a:latin typeface="Courier New"/>
              </a:rPr>
              <a:t>= 1,800,000 API calls</a:t>
            </a:r>
            <a:endParaRPr lang="en-US" sz="970"/>
          </a:p>
        </p:txBody>
      </p:sp>
      <p:sp>
        <p:nvSpPr>
          <p:cNvPr id="27" name="Shape 27"/>
          <p:cNvSpPr/>
          <p:nvPr/>
        </p:nvSpPr>
        <p:spPr>
          <a:xfrm>
            <a:off x="3922776" y="3044952"/>
            <a:ext cx="3236976" cy="777240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CF7A7A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096512" y="3172968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1" dirty="0">
                <a:solidFill>
                  <a:srgbClr val="C83B3B"/>
                </a:solidFill>
                <a:latin typeface="Arial"/>
              </a:rPr>
              <a:t>40% unsuccessful sessions</a:t>
            </a:r>
            <a:endParaRPr lang="en-US" sz="1020"/>
          </a:p>
        </p:txBody>
      </p:sp>
      <p:sp>
        <p:nvSpPr>
          <p:cNvPr id="29" name="Text 29"/>
          <p:cNvSpPr txBox="1"/>
          <p:nvPr/>
        </p:nvSpPr>
        <p:spPr>
          <a:xfrm>
            <a:off x="4096512" y="3419856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172033"/>
                </a:solidFill>
                <a:latin typeface="Courier New"/>
              </a:rPr>
              <a:t>200,000 sessions × 5 calls</a:t>
            </a:r>
            <a:endParaRPr lang="en-US" sz="920"/>
          </a:p>
        </p:txBody>
      </p:sp>
      <p:sp>
        <p:nvSpPr>
          <p:cNvPr id="30" name="Text 30"/>
          <p:cNvSpPr txBox="1"/>
          <p:nvPr/>
        </p:nvSpPr>
        <p:spPr>
          <a:xfrm>
            <a:off x="4096512" y="3657600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C83B3B"/>
                </a:solidFill>
                <a:latin typeface="Courier New"/>
              </a:rPr>
              <a:t>= 1,000,000 API calls</a:t>
            </a:r>
            <a:endParaRPr lang="en-US" sz="970"/>
          </a:p>
        </p:txBody>
      </p:sp>
      <p:cxnSp>
        <p:nvCxnSpPr>
          <p:cNvPr id="31" name="Connector 31"/>
          <p:cNvCxnSpPr/>
          <p:nvPr/>
        </p:nvCxnSpPr>
        <p:spPr>
          <a:xfrm>
            <a:off x="2121408" y="3822192"/>
            <a:ext cx="0" cy="13716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32" name="Connector 32"/>
          <p:cNvCxnSpPr/>
          <p:nvPr/>
        </p:nvCxnSpPr>
        <p:spPr>
          <a:xfrm>
            <a:off x="5550408" y="3822192"/>
            <a:ext cx="0" cy="13716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33" name="Connector 33"/>
          <p:cNvCxnSpPr/>
          <p:nvPr/>
        </p:nvCxnSpPr>
        <p:spPr>
          <a:xfrm>
            <a:off x="2121408" y="3959352"/>
            <a:ext cx="3429000" cy="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34" name="Connector 34"/>
          <p:cNvCxnSpPr/>
          <p:nvPr/>
        </p:nvCxnSpPr>
        <p:spPr>
          <a:xfrm>
            <a:off x="3822192" y="3959352"/>
            <a:ext cx="0" cy="118872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sp>
        <p:nvSpPr>
          <p:cNvPr id="35" name="Shape 35"/>
          <p:cNvSpPr/>
          <p:nvPr/>
        </p:nvSpPr>
        <p:spPr>
          <a:xfrm>
            <a:off x="493776" y="4078224"/>
            <a:ext cx="6665976" cy="62179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3DF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67512" y="4187952"/>
            <a:ext cx="36118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80" b="1" dirty="0">
                <a:solidFill>
                  <a:srgbClr val="172033"/>
                </a:solidFill>
                <a:latin typeface="Arial"/>
              </a:rPr>
              <a:t>2,800,000 annual Claude Fable 5 API calls</a:t>
            </a:r>
            <a:endParaRPr lang="en-US" sz="980"/>
          </a:p>
        </p:txBody>
      </p:sp>
      <p:sp>
        <p:nvSpPr>
          <p:cNvPr id="37" name="Text 37"/>
          <p:cNvSpPr txBox="1"/>
          <p:nvPr/>
        </p:nvSpPr>
        <p:spPr>
          <a:xfrm>
            <a:off x="667512" y="440740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10" b="0" dirty="0">
                <a:solidFill>
                  <a:srgbClr val="5F6B7A"/>
                </a:solidFill>
                <a:latin typeface="Courier New"/>
              </a:rPr>
              <a:t>Per-call proxy: 619.5 input + 106.5 output tokens</a:t>
            </a:r>
            <a:endParaRPr lang="en-US" sz="810"/>
          </a:p>
        </p:txBody>
      </p:sp>
      <p:sp>
        <p:nvSpPr>
          <p:cNvPr id="38" name="Text 38"/>
          <p:cNvSpPr txBox="1"/>
          <p:nvPr/>
        </p:nvSpPr>
        <p:spPr>
          <a:xfrm>
            <a:off x="4608576" y="41879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70" b="0" dirty="0">
                <a:solidFill>
                  <a:srgbClr val="172033"/>
                </a:solidFill>
                <a:latin typeface="Courier New"/>
              </a:rPr>
              <a:t>1.7346B input × $10/MTok = $17,346</a:t>
            </a:r>
            <a:endParaRPr lang="en-US" sz="770"/>
          </a:p>
        </p:txBody>
      </p:sp>
      <p:sp>
        <p:nvSpPr>
          <p:cNvPr id="39" name="Text 39"/>
          <p:cNvSpPr txBox="1"/>
          <p:nvPr/>
        </p:nvSpPr>
        <p:spPr>
          <a:xfrm>
            <a:off x="4608576" y="4407408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70" b="0" dirty="0">
                <a:solidFill>
                  <a:srgbClr val="172033"/>
                </a:solidFill>
                <a:latin typeface="Courier New"/>
              </a:rPr>
              <a:t>298.2M output × $50/MTok = $14,910</a:t>
            </a:r>
            <a:endParaRPr lang="en-US" sz="770"/>
          </a:p>
        </p:txBody>
      </p:sp>
      <p:sp>
        <p:nvSpPr>
          <p:cNvPr id="40" name="Shape 40"/>
          <p:cNvSpPr/>
          <p:nvPr/>
        </p:nvSpPr>
        <p:spPr>
          <a:xfrm>
            <a:off x="493776" y="4855464"/>
            <a:ext cx="2093976" cy="886968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AAC3E4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30936" y="4965192"/>
            <a:ext cx="181965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40" b="1" dirty="0">
                <a:solidFill>
                  <a:srgbClr val="2563A8"/>
                </a:solidFill>
                <a:latin typeface="Arial"/>
              </a:rPr>
              <a:t>ANNUAL MODEL API COST</a:t>
            </a:r>
            <a:endParaRPr lang="en-US" sz="840"/>
          </a:p>
        </p:txBody>
      </p:sp>
      <p:sp>
        <p:nvSpPr>
          <p:cNvPr id="42" name="Text 42"/>
          <p:cNvSpPr txBox="1"/>
          <p:nvPr/>
        </p:nvSpPr>
        <p:spPr>
          <a:xfrm>
            <a:off x="630936" y="5221224"/>
            <a:ext cx="18196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850" b="1" dirty="0">
                <a:solidFill>
                  <a:srgbClr val="172033"/>
                </a:solidFill>
                <a:latin typeface="Arial"/>
              </a:rPr>
              <a:t>$32,256</a:t>
            </a:r>
            <a:endParaRPr lang="en-US" sz="1850"/>
          </a:p>
        </p:txBody>
      </p:sp>
      <p:sp>
        <p:nvSpPr>
          <p:cNvPr id="43" name="Text 43"/>
          <p:cNvSpPr txBox="1"/>
          <p:nvPr/>
        </p:nvSpPr>
        <p:spPr>
          <a:xfrm>
            <a:off x="630936" y="5559552"/>
            <a:ext cx="181965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10" b="0" dirty="0">
                <a:solidFill>
                  <a:srgbClr val="5F6B7A"/>
                </a:solidFill>
                <a:latin typeface="Arial"/>
              </a:rPr>
              <a:t>Successful + unsuccessful traffic</a:t>
            </a:r>
            <a:endParaRPr lang="en-US" sz="710"/>
          </a:p>
        </p:txBody>
      </p:sp>
      <p:sp>
        <p:nvSpPr>
          <p:cNvPr id="44" name="Shape 44"/>
          <p:cNvSpPr/>
          <p:nvPr/>
        </p:nvSpPr>
        <p:spPr>
          <a:xfrm>
            <a:off x="2724912" y="4855464"/>
            <a:ext cx="2093976" cy="886968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A9D8BE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2862072" y="4965192"/>
            <a:ext cx="181965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40" b="1" dirty="0">
                <a:solidFill>
                  <a:srgbClr val="168653"/>
                </a:solidFill>
                <a:latin typeface="Arial"/>
              </a:rPr>
              <a:t>NET MODEL-ONLY SAVINGS</a:t>
            </a:r>
            <a:endParaRPr lang="en-US" sz="840"/>
          </a:p>
        </p:txBody>
      </p:sp>
      <p:sp>
        <p:nvSpPr>
          <p:cNvPr id="46" name="Text 46"/>
          <p:cNvSpPr txBox="1"/>
          <p:nvPr/>
        </p:nvSpPr>
        <p:spPr>
          <a:xfrm>
            <a:off x="2862072" y="5221224"/>
            <a:ext cx="18196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850" b="1" dirty="0">
                <a:solidFill>
                  <a:srgbClr val="168653"/>
                </a:solidFill>
                <a:latin typeface="Arial"/>
              </a:rPr>
              <a:t>$4.17M</a:t>
            </a:r>
            <a:endParaRPr lang="en-US" sz="1850"/>
          </a:p>
        </p:txBody>
      </p:sp>
      <p:sp>
        <p:nvSpPr>
          <p:cNvPr id="47" name="Text 47"/>
          <p:cNvSpPr txBox="1"/>
          <p:nvPr/>
        </p:nvSpPr>
        <p:spPr>
          <a:xfrm>
            <a:off x="2862072" y="5559552"/>
            <a:ext cx="181965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10" b="0" dirty="0">
                <a:solidFill>
                  <a:srgbClr val="5F6B7A"/>
                </a:solidFill>
                <a:latin typeface="Arial"/>
              </a:rPr>
              <a:t>$4.20M avoided human cost − API</a:t>
            </a:r>
            <a:endParaRPr lang="en-US" sz="710"/>
          </a:p>
        </p:txBody>
      </p:sp>
      <p:sp>
        <p:nvSpPr>
          <p:cNvPr id="48" name="Shape 48"/>
          <p:cNvSpPr/>
          <p:nvPr/>
        </p:nvSpPr>
        <p:spPr>
          <a:xfrm>
            <a:off x="4946904" y="4855464"/>
            <a:ext cx="2212848" cy="88696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4B264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5084064" y="4965192"/>
            <a:ext cx="19385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40" b="1" dirty="0">
                <a:solidFill>
                  <a:srgbClr val="B65F00"/>
                </a:solidFill>
                <a:latin typeface="Arial"/>
              </a:rPr>
              <a:t>DIRECT COST ADVANTAGE</a:t>
            </a:r>
            <a:endParaRPr lang="en-US" sz="840"/>
          </a:p>
        </p:txBody>
      </p:sp>
      <p:sp>
        <p:nvSpPr>
          <p:cNvPr id="50" name="Text 50"/>
          <p:cNvSpPr txBox="1"/>
          <p:nvPr/>
        </p:nvSpPr>
        <p:spPr>
          <a:xfrm>
            <a:off x="5084064" y="5221224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850" b="1" dirty="0">
                <a:solidFill>
                  <a:srgbClr val="B65F00"/>
                </a:solidFill>
                <a:latin typeface="Arial"/>
              </a:rPr>
              <a:t>~130×</a:t>
            </a:r>
            <a:endParaRPr lang="en-US" sz="1850"/>
          </a:p>
        </p:txBody>
      </p:sp>
      <p:sp>
        <p:nvSpPr>
          <p:cNvPr id="51" name="Text 51"/>
          <p:cNvSpPr txBox="1"/>
          <p:nvPr/>
        </p:nvSpPr>
        <p:spPr>
          <a:xfrm>
            <a:off x="5084064" y="5559552"/>
            <a:ext cx="193852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10" b="0" dirty="0">
                <a:solidFill>
                  <a:srgbClr val="5F6B7A"/>
                </a:solidFill>
                <a:latin typeface="Arial"/>
              </a:rPr>
              <a:t>$4.20M ÷ $32,256</a:t>
            </a:r>
            <a:endParaRPr lang="en-US" sz="710"/>
          </a:p>
        </p:txBody>
      </p:sp>
      <p:sp>
        <p:nvSpPr>
          <p:cNvPr id="52" name="Shape 52"/>
          <p:cNvSpPr/>
          <p:nvPr/>
        </p:nvSpPr>
        <p:spPr>
          <a:xfrm>
            <a:off x="7434072" y="2304288"/>
            <a:ext cx="4261104" cy="3438144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AAC3E4"/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7616952" y="2459736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72033"/>
                </a:solidFill>
                <a:latin typeface="Arial"/>
              </a:rPr>
              <a:t>Customer outcome</a:t>
            </a:r>
            <a:endParaRPr lang="en-US" sz="970"/>
          </a:p>
        </p:txBody>
      </p:sp>
      <p:sp>
        <p:nvSpPr>
          <p:cNvPr id="54" name="Text 54"/>
          <p:cNvSpPr txBox="1"/>
          <p:nvPr/>
        </p:nvSpPr>
        <p:spPr>
          <a:xfrm>
            <a:off x="7616952" y="2706624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168653"/>
                </a:solidFill>
                <a:latin typeface="Arial"/>
              </a:rPr>
              <a:t>Containment rate</a:t>
            </a:r>
            <a:endParaRPr lang="en-US" sz="800"/>
          </a:p>
        </p:txBody>
      </p:sp>
      <p:sp>
        <p:nvSpPr>
          <p:cNvPr id="55" name="Text 55"/>
          <p:cNvSpPr txBox="1"/>
          <p:nvPr/>
        </p:nvSpPr>
        <p:spPr>
          <a:xfrm>
            <a:off x="9144000" y="2706624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Resolved without human transfer</a:t>
            </a:r>
            <a:endParaRPr lang="en-US" sz="760"/>
          </a:p>
        </p:txBody>
      </p:sp>
      <p:sp>
        <p:nvSpPr>
          <p:cNvPr id="56" name="Text 56"/>
          <p:cNvSpPr txBox="1"/>
          <p:nvPr/>
        </p:nvSpPr>
        <p:spPr>
          <a:xfrm>
            <a:off x="7616952" y="2916936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2563A8"/>
                </a:solidFill>
                <a:latin typeface="Arial"/>
              </a:rPr>
              <a:t>Successful removal rate</a:t>
            </a:r>
            <a:endParaRPr lang="en-US" sz="800"/>
          </a:p>
        </p:txBody>
      </p:sp>
      <p:sp>
        <p:nvSpPr>
          <p:cNvPr id="57" name="Text 57"/>
          <p:cNvSpPr txBox="1"/>
          <p:nvPr/>
        </p:nvSpPr>
        <p:spPr>
          <a:xfrm>
            <a:off x="9144000" y="2916936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Safe automated blocks removed</a:t>
            </a:r>
            <a:endParaRPr lang="en-US" sz="760"/>
          </a:p>
        </p:txBody>
      </p:sp>
      <p:sp>
        <p:nvSpPr>
          <p:cNvPr id="58" name="Text 58"/>
          <p:cNvSpPr txBox="1"/>
          <p:nvPr/>
        </p:nvSpPr>
        <p:spPr>
          <a:xfrm>
            <a:off x="7616952" y="3127248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C83B3B"/>
                </a:solidFill>
                <a:latin typeface="Arial"/>
              </a:rPr>
              <a:t>Drop rate</a:t>
            </a:r>
            <a:endParaRPr lang="en-US" sz="800"/>
          </a:p>
        </p:txBody>
      </p:sp>
      <p:sp>
        <p:nvSpPr>
          <p:cNvPr id="59" name="Text 59"/>
          <p:cNvSpPr txBox="1"/>
          <p:nvPr/>
        </p:nvSpPr>
        <p:spPr>
          <a:xfrm>
            <a:off x="9144000" y="3127248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Customers leaving before resolution</a:t>
            </a:r>
            <a:endParaRPr lang="en-US" sz="760"/>
          </a:p>
        </p:txBody>
      </p:sp>
      <p:cxnSp>
        <p:nvCxnSpPr>
          <p:cNvPr id="60" name="Connector 60"/>
          <p:cNvCxnSpPr/>
          <p:nvPr/>
        </p:nvCxnSpPr>
        <p:spPr>
          <a:xfrm>
            <a:off x="7616952" y="3383280"/>
            <a:ext cx="3886200" cy="0"/>
          </a:xfrm>
          <a:prstGeom prst="line">
            <a:avLst/>
          </a:prstGeom>
          <a:ln w="8890">
            <a:solidFill>
              <a:srgbClr val="D8DEE8"/>
            </a:solidFill>
            <a:tailEnd type="none"/>
            <a:headEnd type="none"/>
          </a:ln>
        </p:spPr>
      </p:cxnSp>
      <p:sp>
        <p:nvSpPr>
          <p:cNvPr id="61" name="Text 61"/>
          <p:cNvSpPr txBox="1"/>
          <p:nvPr/>
        </p:nvSpPr>
        <p:spPr>
          <a:xfrm>
            <a:off x="7616952" y="3529584"/>
            <a:ext cx="201168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72033"/>
                </a:solidFill>
                <a:latin typeface="Arial"/>
              </a:rPr>
              <a:t>Routing and escalation</a:t>
            </a:r>
            <a:endParaRPr lang="en-US" sz="970"/>
          </a:p>
        </p:txBody>
      </p:sp>
      <p:sp>
        <p:nvSpPr>
          <p:cNvPr id="62" name="Text 62"/>
          <p:cNvSpPr txBox="1"/>
          <p:nvPr/>
        </p:nvSpPr>
        <p:spPr>
          <a:xfrm>
            <a:off x="7616952" y="3776472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B65F00"/>
                </a:solidFill>
                <a:latin typeface="Arial"/>
              </a:rPr>
              <a:t>Fraud transfer rate</a:t>
            </a:r>
            <a:endParaRPr lang="en-US" sz="800"/>
          </a:p>
        </p:txBody>
      </p:sp>
      <p:sp>
        <p:nvSpPr>
          <p:cNvPr id="63" name="Text 63"/>
          <p:cNvSpPr txBox="1"/>
          <p:nvPr/>
        </p:nvSpPr>
        <p:spPr>
          <a:xfrm>
            <a:off x="9144000" y="3776472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Suspected fraud sent to specialist</a:t>
            </a:r>
            <a:endParaRPr lang="en-US" sz="760"/>
          </a:p>
        </p:txBody>
      </p:sp>
      <p:sp>
        <p:nvSpPr>
          <p:cNvPr id="64" name="Text 64"/>
          <p:cNvSpPr txBox="1"/>
          <p:nvPr/>
        </p:nvSpPr>
        <p:spPr>
          <a:xfrm>
            <a:off x="7616952" y="3986784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2563A8"/>
                </a:solidFill>
                <a:latin typeface="Arial"/>
              </a:rPr>
              <a:t>Non-fraud transfer rate</a:t>
            </a:r>
            <a:endParaRPr lang="en-US" sz="800"/>
          </a:p>
        </p:txBody>
      </p:sp>
      <p:sp>
        <p:nvSpPr>
          <p:cNvPr id="65" name="Text 65"/>
          <p:cNvSpPr txBox="1"/>
          <p:nvPr/>
        </p:nvSpPr>
        <p:spPr>
          <a:xfrm>
            <a:off x="9144000" y="3986784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Wrong-department demand</a:t>
            </a:r>
            <a:endParaRPr lang="en-US" sz="760"/>
          </a:p>
        </p:txBody>
      </p:sp>
      <p:sp>
        <p:nvSpPr>
          <p:cNvPr id="66" name="Text 66"/>
          <p:cNvSpPr txBox="1"/>
          <p:nvPr/>
        </p:nvSpPr>
        <p:spPr>
          <a:xfrm>
            <a:off x="7616952" y="4197096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C83B3B"/>
                </a:solidFill>
                <a:latin typeface="Arial"/>
              </a:rPr>
              <a:t>Authentication failure</a:t>
            </a:r>
            <a:endParaRPr lang="en-US" sz="800"/>
          </a:p>
        </p:txBody>
      </p:sp>
      <p:sp>
        <p:nvSpPr>
          <p:cNvPr id="67" name="Text 67"/>
          <p:cNvSpPr txBox="1"/>
          <p:nvPr/>
        </p:nvSpPr>
        <p:spPr>
          <a:xfrm>
            <a:off x="9144000" y="4197096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Failed or suspicious verification</a:t>
            </a:r>
            <a:endParaRPr lang="en-US" sz="760"/>
          </a:p>
        </p:txBody>
      </p:sp>
      <p:cxnSp>
        <p:nvCxnSpPr>
          <p:cNvPr id="68" name="Connector 68"/>
          <p:cNvCxnSpPr/>
          <p:nvPr/>
        </p:nvCxnSpPr>
        <p:spPr>
          <a:xfrm>
            <a:off x="7616952" y="4453128"/>
            <a:ext cx="3886200" cy="0"/>
          </a:xfrm>
          <a:prstGeom prst="line">
            <a:avLst/>
          </a:prstGeom>
          <a:ln w="8890">
            <a:solidFill>
              <a:srgbClr val="D8DEE8"/>
            </a:solidFill>
            <a:tailEnd type="none"/>
            <a:headEnd type="none"/>
          </a:ln>
        </p:spPr>
      </p:cxnSp>
      <p:sp>
        <p:nvSpPr>
          <p:cNvPr id="69" name="Text 69"/>
          <p:cNvSpPr txBox="1"/>
          <p:nvPr/>
        </p:nvSpPr>
        <p:spPr>
          <a:xfrm>
            <a:off x="7616952" y="4599432"/>
            <a:ext cx="301752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72033"/>
                </a:solidFill>
                <a:latin typeface="Arial"/>
              </a:rPr>
              <a:t>Efficiency, reliability, and safety</a:t>
            </a:r>
            <a:endParaRPr lang="en-US" sz="970"/>
          </a:p>
        </p:txBody>
      </p:sp>
      <p:sp>
        <p:nvSpPr>
          <p:cNvPr id="70" name="Text 70"/>
          <p:cNvSpPr txBox="1"/>
          <p:nvPr/>
        </p:nvSpPr>
        <p:spPr>
          <a:xfrm>
            <a:off x="7616952" y="4846320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087EA4"/>
                </a:solidFill>
                <a:latin typeface="Arial"/>
              </a:rPr>
              <a:t>Calls / tokens / cost</a:t>
            </a:r>
            <a:endParaRPr lang="en-US" sz="800"/>
          </a:p>
        </p:txBody>
      </p:sp>
      <p:sp>
        <p:nvSpPr>
          <p:cNvPr id="71" name="Text 71"/>
          <p:cNvSpPr txBox="1"/>
          <p:nvPr/>
        </p:nvSpPr>
        <p:spPr>
          <a:xfrm>
            <a:off x="9144000" y="4846320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Per session and successful outcome</a:t>
            </a:r>
            <a:endParaRPr lang="en-US" sz="760"/>
          </a:p>
        </p:txBody>
      </p:sp>
      <p:sp>
        <p:nvSpPr>
          <p:cNvPr id="72" name="Text 72"/>
          <p:cNvSpPr txBox="1"/>
          <p:nvPr/>
        </p:nvSpPr>
        <p:spPr>
          <a:xfrm>
            <a:off x="7616952" y="5056632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2563A8"/>
                </a:solidFill>
                <a:latin typeface="Arial"/>
              </a:rPr>
              <a:t>p50 / p95 latency</a:t>
            </a:r>
            <a:endParaRPr lang="en-US" sz="800"/>
          </a:p>
        </p:txBody>
      </p:sp>
      <p:sp>
        <p:nvSpPr>
          <p:cNvPr id="73" name="Text 73"/>
          <p:cNvSpPr txBox="1"/>
          <p:nvPr/>
        </p:nvSpPr>
        <p:spPr>
          <a:xfrm>
            <a:off x="9144000" y="5056632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Typical and slow customer experience</a:t>
            </a:r>
            <a:endParaRPr lang="en-US" sz="760"/>
          </a:p>
        </p:txBody>
      </p:sp>
      <p:sp>
        <p:nvSpPr>
          <p:cNvPr id="74" name="Text 74"/>
          <p:cNvSpPr txBox="1"/>
          <p:nvPr/>
        </p:nvSpPr>
        <p:spPr>
          <a:xfrm>
            <a:off x="7616952" y="5266944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B65F00"/>
                </a:solidFill>
                <a:latin typeface="Arial"/>
              </a:rPr>
              <a:t>Clarification / retries</a:t>
            </a:r>
            <a:endParaRPr lang="en-US" sz="800"/>
          </a:p>
        </p:txBody>
      </p:sp>
      <p:sp>
        <p:nvSpPr>
          <p:cNvPr id="75" name="Text 75"/>
          <p:cNvSpPr txBox="1"/>
          <p:nvPr/>
        </p:nvSpPr>
        <p:spPr>
          <a:xfrm>
            <a:off x="9144000" y="5266944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Loops, parsing, and tool instability</a:t>
            </a:r>
            <a:endParaRPr lang="en-US" sz="760"/>
          </a:p>
        </p:txBody>
      </p:sp>
      <p:sp>
        <p:nvSpPr>
          <p:cNvPr id="76" name="Text 76"/>
          <p:cNvSpPr txBox="1"/>
          <p:nvPr/>
        </p:nvSpPr>
        <p:spPr>
          <a:xfrm>
            <a:off x="7616952" y="5477256"/>
            <a:ext cx="1527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00" b="1" dirty="0">
                <a:solidFill>
                  <a:srgbClr val="C83B3B"/>
                </a:solidFill>
                <a:latin typeface="Arial"/>
              </a:rPr>
              <a:t>Safety violations</a:t>
            </a:r>
            <a:endParaRPr lang="en-US" sz="800"/>
          </a:p>
        </p:txBody>
      </p:sp>
      <p:sp>
        <p:nvSpPr>
          <p:cNvPr id="77" name="Text 77"/>
          <p:cNvSpPr txBox="1"/>
          <p:nvPr/>
        </p:nvSpPr>
        <p:spPr>
          <a:xfrm>
            <a:off x="9144000" y="5477256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Protected actions without evidence</a:t>
            </a:r>
            <a:endParaRPr lang="en-US" sz="760"/>
          </a:p>
        </p:txBody>
      </p:sp>
      <p:sp>
        <p:nvSpPr>
          <p:cNvPr id="78" name="Shape 78"/>
          <p:cNvSpPr/>
          <p:nvPr/>
        </p:nvSpPr>
        <p:spPr>
          <a:xfrm>
            <a:off x="493776" y="5925312"/>
            <a:ext cx="11201400" cy="704088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8DEE8"/>
            </a:solidFill>
          </a:ln>
        </p:spPr>
      </p:sp>
      <p:sp>
        <p:nvSpPr>
          <p:cNvPr id="79" name="Text 79"/>
          <p:cNvSpPr txBox="1"/>
          <p:nvPr/>
        </p:nvSpPr>
        <p:spPr>
          <a:xfrm>
            <a:off x="630936" y="6025896"/>
            <a:ext cx="19202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10" b="1" dirty="0">
                <a:solidFill>
                  <a:srgbClr val="172033"/>
                </a:solidFill>
                <a:latin typeface="Arial"/>
              </a:rPr>
              <a:t>ASSUMPTIONS AND SOURCE</a:t>
            </a:r>
            <a:endParaRPr lang="en-US" sz="810"/>
          </a:p>
        </p:txBody>
      </p:sp>
      <p:sp>
        <p:nvSpPr>
          <p:cNvPr id="80" name="Text 80"/>
          <p:cNvSpPr txBox="1"/>
          <p:nvPr/>
        </p:nvSpPr>
        <p:spPr>
          <a:xfrm>
            <a:off x="630936" y="6236208"/>
            <a:ext cx="6675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690" b="0" dirty="0">
                <a:solidFill>
                  <a:srgbClr val="5F6B7A"/>
                </a:solidFill>
                <a:latin typeface="Arial"/>
              </a:rPr>
              <a:t>500,000 annual calls; 60% successful at 6 API calls; 40% unsuccessful at 5; $14 avoided human handling per successful call.</a:t>
            </a:r>
            <a:endParaRPr lang="en-US" sz="690"/>
          </a:p>
        </p:txBody>
      </p:sp>
      <p:sp>
        <p:nvSpPr>
          <p:cNvPr id="81" name="Text 81"/>
          <p:cNvSpPr txBox="1"/>
          <p:nvPr/>
        </p:nvSpPr>
        <p:spPr>
          <a:xfrm>
            <a:off x="630936" y="6428232"/>
            <a:ext cx="6766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690" b="0" dirty="0">
                <a:solidFill>
                  <a:srgbClr val="5F6B7A"/>
                </a:solidFill>
                <a:latin typeface="Arial"/>
              </a:rPr>
              <a:t>Token proxy comes from one measured DeepSeek session. Excludes telephony, infrastructure, monitoring, maintenance, and human escalation costs.</a:t>
            </a:r>
            <a:endParaRPr lang="en-US" sz="690"/>
          </a:p>
        </p:txBody>
      </p:sp>
      <p:sp>
        <p:nvSpPr>
          <p:cNvPr id="82" name="Text 82"/>
          <p:cNvSpPr txBox="1"/>
          <p:nvPr/>
        </p:nvSpPr>
        <p:spPr>
          <a:xfrm>
            <a:off x="7635240" y="6236208"/>
            <a:ext cx="3749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00" b="0" dirty="0">
                <a:solidFill>
                  <a:srgbClr val="2563A8"/>
                </a:solidFill>
                <a:latin typeface="Arial"/>
              </a:rPr>
              <a:t>Claude Fable 5: $10/MTok input; $50/MTok output.</a:t>
            </a:r>
            <a:endParaRPr lang="en-US" sz="700"/>
          </a:p>
        </p:txBody>
      </p:sp>
      <p:sp>
        <p:nvSpPr>
          <p:cNvPr id="83" name="Text 83"/>
          <p:cNvSpPr txBox="1"/>
          <p:nvPr/>
        </p:nvSpPr>
        <p:spPr>
          <a:xfrm>
            <a:off x="7635240" y="6428232"/>
            <a:ext cx="3749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00" b="0" dirty="0">
                <a:solidFill>
                  <a:srgbClr val="2563A8"/>
                </a:solidFill>
                <a:latin typeface="Arial"/>
              </a:rPr>
              <a:t>Source: anthropic.com/news/claude-fable-5-mythos-5</a:t>
            </a:r>
            <a:endParaRPr lang="en-US"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